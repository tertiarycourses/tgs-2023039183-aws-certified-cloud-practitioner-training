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031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47688"/>
            <a:ext cx="12191695" cy="21031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48640"/>
            <a:ext cx="7772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12680" y="658368"/>
            <a:ext cx="1600200" cy="749808"/>
          </a:xfrm>
          <a:prstGeom prst="roundRect">
            <a:avLst>
              <a:gd name="adj" fmla="val 6000"/>
            </a:avLst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59568" y="832104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9900"/>
                </a:solidFill>
                <a:latin typeface="Arial"/>
              </a:rPr>
              <a:t>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93392"/>
            <a:ext cx="10698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325F0"/>
                </a:solidFill>
                <a:latin typeface="Arial"/>
              </a:rPr>
              <a:t>COURSE SLIDES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1069848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161B26"/>
                </a:solidFill>
                <a:latin typeface="Arial"/>
              </a:rPr>
              <a:t>AWS Certified Cloud Practitioner Training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4251960"/>
            <a:ext cx="2286000" cy="54864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B6372"/>
                </a:solidFill>
                <a:latin typeface="Arial"/>
              </a:rPr>
              <a:t>WSQ Course Code: TGS-2023039183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8348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|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598932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2325F0"/>
                </a:solidFill>
                <a:latin typeface="Arial"/>
              </a:rPr>
              <a:t>Version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Copyright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(c) 2026 Tertiary Infotech Academy Pte Ltd. All rights reserved.</a:t>
            </a:r>
          </a:p>
          <a:p>
            <a:pPr>
              <a:spcAft>
                <a:spcPts val="700"/>
              </a:spcAft>
              <a:defRPr sz="1800"/>
            </a:pPr>
            <a:r>
              <a:t>No part of this material may be reproduced without written permission.</a:t>
            </a:r>
          </a:p>
          <a:p>
            <a:pPr>
              <a:spcAft>
                <a:spcPts val="700"/>
              </a:spcAft>
              <a:defRPr sz="1800"/>
            </a:pPr>
            <a:r>
              <a:t>TGS Ref No: TGS-2023039183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YOUR TRAINER -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828800"/>
            <a:ext cx="3337560" cy="420624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1828800"/>
            <a:ext cx="3337560" cy="91440"/>
          </a:xfrm>
          <a:prstGeom prst="rect">
            <a:avLst/>
          </a:prstGeom>
          <a:solidFill>
            <a:srgbClr val="5B6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73352" y="2331720"/>
            <a:ext cx="1600200" cy="1600200"/>
          </a:xfrm>
          <a:prstGeom prst="ellipse">
            <a:avLst/>
          </a:prstGeom>
          <a:solidFill>
            <a:srgbClr val="667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3337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800600"/>
            <a:ext cx="28803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General trainer template -
to be completed by the trainer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1828800"/>
            <a:ext cx="7040880" cy="566928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0" y="1828800"/>
            <a:ext cx="73152" cy="566928"/>
          </a:xfrm>
          <a:prstGeom prst="rect">
            <a:avLst/>
          </a:prstGeom>
          <a:solidFill>
            <a:srgbClr val="232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8032" y="1965960"/>
            <a:ext cx="3840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325F0"/>
                </a:solidFill>
                <a:latin typeface="Arial"/>
              </a:rPr>
              <a:t>NAME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8032" y="2240280"/>
            <a:ext cx="4069080" cy="1905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0" y="2560320"/>
            <a:ext cx="7040880" cy="566928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0" y="2560320"/>
            <a:ext cx="73152" cy="566928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28032" y="2697480"/>
            <a:ext cx="3840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EA5A4"/>
                </a:solidFill>
                <a:latin typeface="Arial"/>
              </a:rPr>
              <a:t>TITLE / DESIGNATION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28032" y="2971800"/>
            <a:ext cx="4069080" cy="1905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0" y="3291840"/>
            <a:ext cx="7040880" cy="566928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0" y="3291840"/>
            <a:ext cx="73152" cy="566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28032" y="3429000"/>
            <a:ext cx="3840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7C3AED"/>
                </a:solidFill>
                <a:latin typeface="Arial"/>
              </a:rPr>
              <a:t>QUALIFICATIONS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28032" y="3703320"/>
            <a:ext cx="4069080" cy="1905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0" y="4023360"/>
            <a:ext cx="7040880" cy="566928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0" y="4023360"/>
            <a:ext cx="73152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4160520"/>
            <a:ext cx="3840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59E0B"/>
                </a:solidFill>
                <a:latin typeface="Arial"/>
              </a:rPr>
              <a:t>AREAS OF EXPERTISE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28032" y="4434840"/>
            <a:ext cx="4069080" cy="1905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0" y="4754880"/>
            <a:ext cx="7040880" cy="566928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0" y="4754880"/>
            <a:ext cx="73152" cy="566928"/>
          </a:xfrm>
          <a:prstGeom prst="rect">
            <a:avLst/>
          </a:prstGeom>
          <a:solidFill>
            <a:srgbClr val="232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28032" y="4892040"/>
            <a:ext cx="3840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325F0"/>
                </a:solidFill>
                <a:latin typeface="Arial"/>
              </a:rPr>
              <a:t>TRAINING &amp; INDUSTRY EXPERIENCE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28032" y="5166360"/>
            <a:ext cx="4069080" cy="1905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0" y="5486400"/>
            <a:ext cx="7040880" cy="566928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0" y="5486400"/>
            <a:ext cx="73152" cy="566928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28032" y="5623560"/>
            <a:ext cx="3840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EA5A4"/>
                </a:solidFill>
                <a:latin typeface="Arial"/>
              </a:rPr>
              <a:t>CONTACT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28032" y="5897880"/>
            <a:ext cx="4069080" cy="1905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1920240"/>
            <a:ext cx="3337560" cy="4160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1920240"/>
            <a:ext cx="3337560" cy="91440"/>
          </a:xfrm>
          <a:prstGeom prst="rect">
            <a:avLst/>
          </a:prstGeom>
          <a:solidFill>
            <a:srgbClr val="232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737360" y="2423160"/>
            <a:ext cx="1600200" cy="1600200"/>
          </a:xfrm>
          <a:prstGeom prst="ellipse">
            <a:avLst/>
          </a:prstGeom>
          <a:solidFill>
            <a:srgbClr val="232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89120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892040"/>
            <a:ext cx="29718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Principal Trainer
Tertiary Infotech Academy Pte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1920240"/>
            <a:ext cx="6995160" cy="877824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0" y="1920240"/>
            <a:ext cx="73152" cy="877824"/>
          </a:xfrm>
          <a:prstGeom prst="rect">
            <a:avLst/>
          </a:prstGeom>
          <a:solidFill>
            <a:srgbClr val="232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64608" y="2121408"/>
            <a:ext cx="2560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325F0"/>
                </a:solidFill>
                <a:latin typeface="Arial"/>
              </a:rPr>
              <a:t>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2404872"/>
            <a:ext cx="6309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3035808"/>
            <a:ext cx="6995160" cy="877824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0" y="3035808"/>
            <a:ext cx="73152" cy="877824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64608" y="3236976"/>
            <a:ext cx="2560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EA5A4"/>
                </a:solidFill>
                <a:latin typeface="Arial"/>
              </a:rPr>
              <a:t>QUALIFICATIONS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3520440"/>
            <a:ext cx="6309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PhD - specialises in AI, automation and software engineering.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0" y="4151376"/>
            <a:ext cx="6995160" cy="877824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0" y="4151376"/>
            <a:ext cx="73152" cy="87782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64608" y="4352544"/>
            <a:ext cx="2560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7C3AED"/>
                </a:solidFill>
                <a:latin typeface="Arial"/>
              </a:rPr>
              <a:t>DELIVERS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4608" y="4636008"/>
            <a:ext cx="6309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WSQ courses on cloud, AI agents, automation and app development.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0" y="5266944"/>
            <a:ext cx="6995160" cy="877824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0" y="5266944"/>
            <a:ext cx="73152" cy="87782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64608" y="5468112"/>
            <a:ext cx="2560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59E0B"/>
                </a:solidFill>
                <a:latin typeface="Arial"/>
              </a:rPr>
              <a:t>FOUNDER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5751576"/>
            <a:ext cx="6309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Course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Day 1: cloud concepts, AWS account setup, IAM, security, compute, storage and databases.</a:t>
            </a:r>
          </a:p>
          <a:p>
            <a:pPr>
              <a:spcAft>
                <a:spcPts val="700"/>
              </a:spcAft>
              <a:defRPr sz="1800"/>
            </a:pPr>
            <a:r>
              <a:t>Day 2: networking, monitoring, pricing, billing, support, architecture, migration, sustainability and exam review.</a:t>
            </a:r>
          </a:p>
          <a:p>
            <a:pPr>
              <a:spcAft>
                <a:spcPts val="700"/>
              </a:spcAft>
              <a:defRPr sz="1800"/>
            </a:pPr>
            <a:r>
              <a:t>Eight hands-on labs mirror the Learner Guide and Lesson Plan.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5303520" cy="10515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691640"/>
            <a:ext cx="73152" cy="1051560"/>
          </a:xfrm>
          <a:prstGeom prst="rect">
            <a:avLst/>
          </a:prstGeom>
          <a:solidFill>
            <a:srgbClr val="232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2688" y="1984248"/>
            <a:ext cx="530352" cy="530352"/>
          </a:xfrm>
          <a:prstGeom prst="ellipse">
            <a:avLst/>
          </a:prstGeom>
          <a:solidFill>
            <a:srgbClr val="232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39" y="2039112"/>
            <a:ext cx="3886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91640"/>
            <a:ext cx="5303520" cy="10515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91640"/>
            <a:ext cx="73152" cy="1051560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56248" y="1984248"/>
            <a:ext cx="530352" cy="530352"/>
          </a:xfrm>
          <a:prstGeom prst="ellipse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039112"/>
            <a:ext cx="3886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61B26"/>
                </a:solidFill>
                <a:latin typeface="Arial"/>
              </a:rPr>
              <a:t>Participate actively - no question is too small.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19272"/>
            <a:ext cx="5303520" cy="10515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319272"/>
            <a:ext cx="73152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61187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39" y="3666744"/>
            <a:ext cx="3886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319272"/>
            <a:ext cx="5303520" cy="10515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319272"/>
            <a:ext cx="73152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56248" y="361187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666744"/>
            <a:ext cx="3886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946904"/>
            <a:ext cx="5303520" cy="10515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946904"/>
            <a:ext cx="73152" cy="105156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32688" y="5239512"/>
            <a:ext cx="530352" cy="530352"/>
          </a:xfrm>
          <a:prstGeom prst="ellipse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39" y="5294376"/>
            <a:ext cx="3886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946904"/>
            <a:ext cx="5303520" cy="10515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946904"/>
            <a:ext cx="73152" cy="1051560"/>
          </a:xfrm>
          <a:prstGeom prst="rect">
            <a:avLst/>
          </a:prstGeom>
          <a:solidFill>
            <a:srgbClr val="0EA5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556248" y="5239512"/>
            <a:ext cx="530352" cy="530352"/>
          </a:xfrm>
          <a:prstGeom prst="ellipse">
            <a:avLst/>
          </a:prstGeom>
          <a:solidFill>
            <a:srgbClr val="0EA5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294376"/>
            <a:ext cx="3886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Course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Explain core AWS Cloud concepts and global infrastructure.</a:t>
            </a:r>
          </a:p>
          <a:p>
            <a:pPr>
              <a:spcAft>
                <a:spcPts val="700"/>
              </a:spcAft>
              <a:defRPr sz="1800"/>
            </a:pPr>
            <a:r>
              <a:t>Describe IAM, shared responsibility and foundational security services.</a:t>
            </a:r>
          </a:p>
          <a:p>
            <a:pPr>
              <a:spcAft>
                <a:spcPts val="700"/>
              </a:spcAft>
              <a:defRPr sz="1800"/>
            </a:pPr>
            <a:r>
              <a:t>Compare compute, storage, database, networking, monitoring and billing services.</a:t>
            </a:r>
          </a:p>
          <a:p>
            <a:pPr>
              <a:spcAft>
                <a:spcPts val="700"/>
              </a:spcAft>
              <a:defRPr sz="1800"/>
            </a:pPr>
            <a:r>
              <a:t>Use AWS pricing, budget and support tools at a foundational level.</a:t>
            </a:r>
          </a:p>
          <a:p>
            <a:pPr>
              <a:spcAft>
                <a:spcPts val="700"/>
              </a:spcAft>
              <a:defRPr sz="1800"/>
            </a:pPr>
            <a:r>
              <a:t>Prepare for AWS Certified Cloud Practitioner exam-style questions.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Digital Attendance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Scan SSG / TRAQOM digital attendance when prompted.</a:t>
            </a:r>
          </a:p>
          <a:p>
            <a:pPr>
              <a:spcAft>
                <a:spcPts val="700"/>
              </a:spcAft>
              <a:defRPr sz="1800"/>
            </a:pPr>
            <a:r>
              <a:t>AM, PM and assessment attendance are mandatory for WSQ-funded courses.</a:t>
            </a:r>
          </a:p>
          <a:p>
            <a:pPr>
              <a:spcAft>
                <a:spcPts val="700"/>
              </a:spcAft>
              <a:defRPr sz="1800"/>
            </a:pPr>
            <a:r>
              <a:t>Minimum 75% attendance is required for assessment and funding.</a:t>
            </a:r>
          </a:p>
          <a:p>
            <a:pPr>
              <a:spcAft>
                <a:spcPts val="700"/>
              </a:spcAft>
              <a:defRPr sz="1800"/>
            </a:pPr>
            <a:r>
              <a:t>Tell the trainer immediately if your attendance submission fails.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LMS and Assessment Reminders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Courseware and assessment are accessed from the LMS.</a:t>
            </a:r>
          </a:p>
          <a:p>
            <a:pPr>
              <a:spcAft>
                <a:spcPts val="700"/>
              </a:spcAft>
              <a:defRPr sz="1800"/>
            </a:pPr>
            <a:r>
              <a:t>Final assessment is conducted on Day 2.</a:t>
            </a:r>
          </a:p>
          <a:p>
            <a:pPr>
              <a:spcAft>
                <a:spcPts val="700"/>
              </a:spcAft>
              <a:defRPr sz="1800"/>
            </a:pPr>
            <a:r>
              <a:t>Keep your lab notes, screenshots and service comparison tables ready.</a:t>
            </a:r>
          </a:p>
          <a:p>
            <a:pPr>
              <a:spcAft>
                <a:spcPts val="700"/>
              </a:spcAft>
              <a:defRPr sz="1800"/>
            </a:pPr>
            <a:r>
              <a:t>Complete the TRAQOM survey before leaving class.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/>
            </a:pPr>
            <a:r>
              <a:t>Open the LMS/TMS portal and sign in with your class account.</a:t>
            </a:r>
          </a:p>
          <a:p>
            <a:pPr>
              <a:spcAft>
                <a:spcPts val="700"/>
              </a:spcAft>
              <a:defRPr sz="1600"/>
            </a:pPr>
            <a:r>
              <a:t>Select this AWS Certified Cloud Practitioner course.</a:t>
            </a:r>
          </a:p>
          <a:p>
            <a:pPr>
              <a:spcAft>
                <a:spcPts val="700"/>
              </a:spcAft>
              <a:defRPr sz="1600"/>
            </a:pPr>
            <a:r>
              <a:t>Open Learner Guide, slides and lab files from Course Material.</a:t>
            </a:r>
          </a:p>
          <a:p>
            <a:pPr>
              <a:spcAft>
                <a:spcPts val="700"/>
              </a:spcAft>
              <a:defRPr sz="1600"/>
            </a:pPr>
            <a:r>
              <a:t>Download the files before starting the hands-on labs.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84632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61B26"/>
                </a:solidFill>
                <a:latin typeface="Arial"/>
              </a:rPr>
              <a:t>Portal: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16636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5F0"/>
                </a:solidFill>
                <a:latin typeface="Arial"/>
              </a:rPr>
              <a:t>https://lms-tms.tertiaryinfotech.com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23560" y="1783080"/>
            <a:ext cx="557784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23560" y="1783080"/>
            <a:ext cx="5577840" cy="384048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06440" y="1874519"/>
            <a:ext cx="201168" cy="201168"/>
          </a:xfrm>
          <a:prstGeom prst="ellipse">
            <a:avLst/>
          </a:prstGeom>
          <a:solidFill>
            <a:srgbClr val="232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Arial"/>
              </a:rPr>
              <a:t>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1901952"/>
            <a:ext cx="2194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Arial"/>
              </a:rPr>
              <a:t>Tertiary LMS/TMS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97880" y="2395728"/>
            <a:ext cx="4983480" cy="310896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80760" y="2478024"/>
            <a:ext cx="438912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5B6372"/>
                </a:solidFill>
                <a:latin typeface="Arial"/>
              </a:rPr>
              <a:t>https://lms-tms.tertiaryinfotech.com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2907792"/>
            <a:ext cx="4480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AWS Certified Cloud Practitioner Training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97880" y="3401568"/>
            <a:ext cx="4800600" cy="475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897880" y="3401568"/>
            <a:ext cx="73152" cy="475488"/>
          </a:xfrm>
          <a:prstGeom prst="rect">
            <a:avLst/>
          </a:prstGeom>
          <a:solidFill>
            <a:srgbClr val="232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08192" y="3511296"/>
            <a:ext cx="123444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2325F0"/>
                </a:solidFill>
                <a:latin typeface="Arial"/>
              </a:rPr>
              <a:t>Slides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3511296"/>
            <a:ext cx="246888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Course presentation PDF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12680" y="3502152"/>
            <a:ext cx="502920" cy="228600"/>
          </a:xfrm>
          <a:prstGeom prst="roundRect">
            <a:avLst>
              <a:gd name="adj" fmla="val 6000"/>
            </a:avLst>
          </a:prstGeom>
          <a:solidFill>
            <a:srgbClr val="232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94976" y="3557016"/>
            <a:ext cx="347472" cy="73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80" b="1">
                <a:solidFill>
                  <a:srgbClr val="FFFFFF"/>
                </a:solidFill>
                <a:latin typeface="Arial"/>
              </a:rPr>
              <a:t>Download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97880" y="4059936"/>
            <a:ext cx="4800600" cy="475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97880" y="4059936"/>
            <a:ext cx="73152" cy="475488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08192" y="4169664"/>
            <a:ext cx="123444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0EA5A4"/>
                </a:solidFill>
                <a:latin typeface="Arial"/>
              </a:rPr>
              <a:t>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4169664"/>
            <a:ext cx="246888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Step-by-step lab guide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12680" y="4160520"/>
            <a:ext cx="502920" cy="228600"/>
          </a:xfrm>
          <a:prstGeom prst="roundRect">
            <a:avLst>
              <a:gd name="adj" fmla="val 6000"/>
            </a:avLst>
          </a:prstGeom>
          <a:solidFill>
            <a:srgbClr val="232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94976" y="4215384"/>
            <a:ext cx="347472" cy="73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80" b="1">
                <a:solidFill>
                  <a:srgbClr val="FFFFFF"/>
                </a:solidFill>
                <a:latin typeface="Arial"/>
              </a:rPr>
              <a:t>Download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97880" y="4718304"/>
            <a:ext cx="4800600" cy="475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897880" y="4718304"/>
            <a:ext cx="73152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08192" y="4828032"/>
            <a:ext cx="123444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F59E0B"/>
                </a:solidFill>
                <a:latin typeface="Arial"/>
              </a:rPr>
              <a:t>Labs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4828032"/>
            <a:ext cx="246888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0">
                <a:solidFill>
                  <a:srgbClr val="5B6372"/>
                </a:solidFill>
                <a:latin typeface="Arial"/>
              </a:rPr>
              <a:t>Lab markdown and evidence checklist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12680" y="4818888"/>
            <a:ext cx="502920" cy="228600"/>
          </a:xfrm>
          <a:prstGeom prst="roundRect">
            <a:avLst>
              <a:gd name="adj" fmla="val 6000"/>
            </a:avLst>
          </a:prstGeom>
          <a:solidFill>
            <a:srgbClr val="232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94976" y="4873752"/>
            <a:ext cx="347472" cy="73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80" b="1">
                <a:solidFill>
                  <a:srgbClr val="FFFFFF"/>
                </a:solidFill>
                <a:latin typeface="Arial"/>
              </a:rPr>
              <a:t>Download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Assessment Flow Reminder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94560"/>
            <a:ext cx="1874519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0392" y="2359152"/>
            <a:ext cx="438912" cy="438912"/>
          </a:xfrm>
          <a:prstGeom prst="ellipse">
            <a:avLst/>
          </a:prstGeom>
          <a:solidFill>
            <a:srgbClr val="232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99232"/>
            <a:ext cx="14173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TRAQOM digital</a:t>
            </a:r>
          </a:p>
          <a:p>
            <a:pPr algn="ctr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2888" y="2999232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360" y="2194560"/>
            <a:ext cx="1874519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4952" y="2359152"/>
            <a:ext cx="438912" cy="438912"/>
          </a:xfrm>
          <a:prstGeom prst="ellipse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999232"/>
            <a:ext cx="14173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Assessment digital</a:t>
            </a:r>
          </a:p>
          <a:p>
            <a:pPr algn="ctr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attendance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999232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74920" y="2194560"/>
            <a:ext cx="1874519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39512" y="2359152"/>
            <a:ext cx="438912" cy="43891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999232"/>
            <a:ext cx="14173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Sit Written</a:t>
            </a:r>
          </a:p>
          <a:p>
            <a:pPr algn="ctr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2999232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69479" y="2194560"/>
            <a:ext cx="1874519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34071" y="2359152"/>
            <a:ext cx="438912" cy="43891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2999232"/>
            <a:ext cx="14173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Complete Practical</a:t>
            </a:r>
          </a:p>
          <a:p>
            <a:pPr algn="ctr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Performance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16567" y="2999232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64040" y="2194560"/>
            <a:ext cx="1874519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628632" y="2359152"/>
            <a:ext cx="438912" cy="438912"/>
          </a:xfrm>
          <a:prstGeom prst="ellipse">
            <a:avLst/>
          </a:prstGeom>
          <a:solidFill>
            <a:srgbClr val="232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2999232"/>
            <a:ext cx="14173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Sign Assessment</a:t>
            </a:r>
          </a:p>
          <a:p>
            <a:pPr algn="ctr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Summary Record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5074920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B6372"/>
                </a:solidFill>
                <a:latin typeface="Arial"/>
              </a:rPr>
              <a:t>Complete WA and PP on the LMS/TMS portal, then sign the assessment summary record.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Readiness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You can sign in to the assigned AWS account.</a:t>
            </a:r>
          </a:p>
          <a:p>
            <a:pPr>
              <a:spcAft>
                <a:spcPts val="700"/>
              </a:spcAft>
              <a:defRPr sz="1800"/>
            </a:pPr>
            <a:r>
              <a:t>MFA and budget safety instructions are understood.</a:t>
            </a:r>
          </a:p>
          <a:p>
            <a:pPr>
              <a:spcAft>
                <a:spcPts val="700"/>
              </a:spcAft>
              <a:defRPr sz="1800"/>
            </a:pPr>
            <a:r>
              <a:t>A working folder is ready for lab notes and screenshots.</a:t>
            </a:r>
          </a:p>
          <a:p>
            <a:pPr>
              <a:spcAft>
                <a:spcPts val="700"/>
              </a:spcAft>
              <a:defRPr sz="1800"/>
            </a:pPr>
            <a:r>
              <a:t>You know how to ask for help before creating chargeable resources.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CONCEPT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AWS Global Infrastructure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1828800"/>
            <a:ext cx="2971800" cy="2057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057400"/>
            <a:ext cx="2514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32F3E"/>
                </a:solidFill>
                <a:latin typeface="Arial"/>
              </a:rPr>
              <a:t>Region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743200"/>
            <a:ext cx="2331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B6372"/>
                </a:solidFill>
                <a:latin typeface="Arial"/>
              </a:rPr>
              <a:t>A geographic area with multiple Availability Zones.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1828800"/>
            <a:ext cx="2971800" cy="2057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2057400"/>
            <a:ext cx="2514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32F3E"/>
                </a:solidFill>
                <a:latin typeface="Arial"/>
              </a:rPr>
              <a:t>Availability Zones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743200"/>
            <a:ext cx="2331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B6372"/>
                </a:solidFill>
                <a:latin typeface="Arial"/>
              </a:rPr>
              <a:t>Physically separate data centers inside a Region.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828800"/>
            <a:ext cx="2971800" cy="2057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2057400"/>
            <a:ext cx="2514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32F3E"/>
                </a:solidFill>
                <a:latin typeface="Arial"/>
              </a:rPr>
              <a:t>Edge Locations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743200"/>
            <a:ext cx="2331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B6372"/>
                </a:solidFill>
                <a:latin typeface="Arial"/>
              </a:rPr>
              <a:t>Global sites used by services such as CloudFront.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2606040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9900"/>
                </a:solidFill>
                <a:latin typeface="Arial"/>
              </a:rPr>
              <a:t>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606040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9900"/>
                </a:solidFill>
                <a:latin typeface="Arial"/>
              </a:rPr>
              <a:t>&gt;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Shared Responsibility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737360"/>
            <a:ext cx="5166360" cy="4343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166360" cy="4343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75104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325F0"/>
                </a:solidFill>
                <a:latin typeface="Arial"/>
              </a:rPr>
              <a:t>AWS is responsible 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1975104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EA5A4"/>
                </a:solidFill>
                <a:latin typeface="Arial"/>
              </a:rPr>
              <a:t>Customer is responsible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514600"/>
            <a:ext cx="46177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/>
            </a:pPr>
            <a:r>
              <a:t>Physical facilities</a:t>
            </a:r>
          </a:p>
          <a:p>
            <a:pPr>
              <a:spcAft>
                <a:spcPts val="700"/>
              </a:spcAft>
              <a:defRPr sz="1400"/>
            </a:pPr>
            <a:r>
              <a:t>Hardware and global infrastructure</a:t>
            </a:r>
          </a:p>
          <a:p>
            <a:pPr>
              <a:spcAft>
                <a:spcPts val="700"/>
              </a:spcAft>
              <a:defRPr sz="1400"/>
            </a:pPr>
            <a:r>
              <a:t>Managed service platform security</a:t>
            </a:r>
          </a:p>
          <a:p>
            <a:pPr>
              <a:spcAft>
                <a:spcPts val="700"/>
              </a:spcAft>
              <a:defRPr sz="1400"/>
            </a:pPr>
            <a:r>
              <a:t>Availability of AWS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514600"/>
            <a:ext cx="46177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/>
            </a:pPr>
            <a:r>
              <a:t>Identity and access configuration</a:t>
            </a:r>
          </a:p>
          <a:p>
            <a:pPr>
              <a:spcAft>
                <a:spcPts val="700"/>
              </a:spcAft>
              <a:defRPr sz="1400"/>
            </a:pPr>
            <a:r>
              <a:t>Data classification and protection</a:t>
            </a:r>
          </a:p>
          <a:p>
            <a:pPr>
              <a:spcAft>
                <a:spcPts val="700"/>
              </a:spcAft>
              <a:defRPr sz="1400"/>
            </a:pPr>
            <a:r>
              <a:t>Application security</a:t>
            </a:r>
          </a:p>
          <a:p>
            <a:pPr>
              <a:spcAft>
                <a:spcPts val="700"/>
              </a:spcAft>
              <a:defRPr sz="1400"/>
            </a:pPr>
            <a:r>
              <a:t>Resource cleanup and cost control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CLOUD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Cloud Value Proposition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Trade capital expense for variable expense.</a:t>
            </a:r>
          </a:p>
          <a:p>
            <a:pPr>
              <a:spcAft>
                <a:spcPts val="700"/>
              </a:spcAft>
              <a:defRPr sz="1800"/>
            </a:pPr>
            <a:r>
              <a:t>Benefit from massive economies of scale.</a:t>
            </a:r>
          </a:p>
          <a:p>
            <a:pPr>
              <a:spcAft>
                <a:spcPts val="700"/>
              </a:spcAft>
              <a:defRPr sz="1800"/>
            </a:pPr>
            <a:r>
              <a:t>Stop guessing capacity.</a:t>
            </a:r>
          </a:p>
          <a:p>
            <a:pPr>
              <a:spcAft>
                <a:spcPts val="700"/>
              </a:spcAft>
              <a:defRPr sz="1800"/>
            </a:pPr>
            <a:r>
              <a:t>Increase speed and agility.</a:t>
            </a:r>
          </a:p>
          <a:p>
            <a:pPr>
              <a:spcAft>
                <a:spcPts val="700"/>
              </a:spcAft>
              <a:defRPr sz="1800"/>
            </a:pPr>
            <a:r>
              <a:t>Go global in minutes.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SERVICE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AWS Service Selection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Compute: EC2, Lambda, ECS, EKS, Elastic Beanstalk.</a:t>
            </a:r>
          </a:p>
          <a:p>
            <a:pPr>
              <a:spcAft>
                <a:spcPts val="700"/>
              </a:spcAft>
              <a:defRPr sz="1800"/>
            </a:pPr>
            <a:r>
              <a:t>Storage: S3, EBS, EFS, FSx, AWS Backup.</a:t>
            </a:r>
          </a:p>
          <a:p>
            <a:pPr>
              <a:spcAft>
                <a:spcPts val="700"/>
              </a:spcAft>
              <a:defRPr sz="1800"/>
            </a:pPr>
            <a:r>
              <a:t>Database and analytics: RDS, Aurora, DynamoDB, Redshift, Athena, Glue, QuickSight.</a:t>
            </a:r>
          </a:p>
          <a:p>
            <a:pPr>
              <a:spcAft>
                <a:spcPts val="700"/>
              </a:spcAft>
              <a:defRPr sz="1800"/>
            </a:pPr>
            <a:r>
              <a:t>Networking: VPC, ELB, CloudFront, Route 53.</a:t>
            </a:r>
          </a:p>
          <a:p>
            <a:pPr>
              <a:spcAft>
                <a:spcPts val="700"/>
              </a:spcAft>
              <a:defRPr sz="1800"/>
            </a:pPr>
            <a:r>
              <a:t>Operations: CloudWatch, CloudTrail, Billing, Budgets, Support.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LAB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1: AWS Account Setup, Console Tour, and Cloud Concepts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You are new to AWS and need a secure starting point. This lab builds the foundation for all later service, billi...</a:t>
            </a:r>
          </a:p>
          <a:p>
            <a:pPr>
              <a:spcAft>
                <a:spcPts val="700"/>
              </a:spcAft>
              <a:defRPr sz="1800"/>
            </a:pPr>
            <a:r>
              <a:t>Checkpoint: You should be able to explain the difference between regions, availability zones, edge locations, an...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1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Sign in to AWS safely.</a:t>
            </a:r>
          </a:p>
          <a:p>
            <a:pPr>
              <a:spcAft>
                <a:spcPts val="700"/>
              </a:spcAft>
              <a:defRPr sz="1800"/>
            </a:pPr>
            <a:r>
              <a:t>Navigate the AWS Management Console.</a:t>
            </a:r>
          </a:p>
          <a:p>
            <a:pPr>
              <a:spcAft>
                <a:spcPts val="700"/>
              </a:spcAft>
              <a:defRPr sz="1800"/>
            </a:pPr>
            <a:r>
              <a:t>Identify regions, availability zones, and edge locations.</a:t>
            </a:r>
          </a:p>
          <a:p>
            <a:pPr>
              <a:spcAft>
                <a:spcPts val="700"/>
              </a:spcAft>
              <a:defRPr sz="1800"/>
            </a:pPr>
            <a:r>
              <a:t>Review cloud concepts and shared responsibility at a high level.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STEP-BY-STEP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1 Procedure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Sign in to the AWS account assigned by your trainer.</a:t>
            </a:r>
          </a:p>
          <a:p>
            <a:pPr>
              <a:spcAft>
                <a:spcPts val="700"/>
              </a:spcAft>
              <a:defRPr sz="1800"/>
            </a:pPr>
            <a:r>
              <a:t>Confirm that you are using the correct account.</a:t>
            </a:r>
          </a:p>
          <a:p>
            <a:pPr>
              <a:spcAft>
                <a:spcPts val="700"/>
              </a:spcAft>
              <a:defRPr sz="1800"/>
            </a:pPr>
            <a:r>
              <a:t>Open the region selector.</a:t>
            </a:r>
          </a:p>
          <a:p>
            <a:pPr>
              <a:spcAft>
                <a:spcPts val="700"/>
              </a:spcAft>
              <a:defRPr sz="1800"/>
            </a:pPr>
            <a:r>
              <a:t>Identify the current AWS Region.</a:t>
            </a:r>
          </a:p>
          <a:p>
            <a:pPr>
              <a:spcAft>
                <a:spcPts val="700"/>
              </a:spcAft>
              <a:defRPr sz="1800"/>
            </a:pPr>
            <a:r>
              <a:t>Switch to another region and observe that some dashboards change by region.</a:t>
            </a:r>
          </a:p>
          <a:p>
            <a:pPr>
              <a:spcAft>
                <a:spcPts val="700"/>
              </a:spcAft>
              <a:defRPr sz="1800"/>
            </a:pPr>
            <a:r>
              <a:t>Return to the region assigned by your trainer.</a:t>
            </a:r>
          </a:p>
          <a:p>
            <a:pPr>
              <a:spcAft>
                <a:spcPts val="700"/>
              </a:spcAft>
              <a:defRPr sz="1800"/>
            </a:pPr>
            <a:r>
              <a:t>Open the EC2 console and find the Availability Zones page or subnet-related views.</a:t>
            </a:r>
          </a:p>
          <a:p>
            <a:pPr>
              <a:spcAft>
                <a:spcPts val="700"/>
              </a:spcAft>
              <a:defRPr sz="1800"/>
            </a:pPr>
            <a:r>
              <a:t>Record the difference between a Region and an Availability Zone.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STEP-BY-STEP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1 Procedure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Search for CloudFront and note that it uses a global service model.</a:t>
            </a:r>
          </a:p>
          <a:p>
            <a:pPr>
              <a:spcAft>
                <a:spcPts val="700"/>
              </a:spcAft>
              <a:defRPr sz="1800"/>
            </a:pPr>
            <a:r>
              <a:t>Open the AWS Global Infrastructure page from AWS documentation if your trainer asks.</a:t>
            </a:r>
          </a:p>
          <a:p>
            <a:pPr>
              <a:spcAft>
                <a:spcPts val="700"/>
              </a:spcAft>
              <a:defRPr sz="1800"/>
            </a:pPr>
            <a:r>
              <a:t>Open the AWS Well-Architected Tool or documentation.</a:t>
            </a:r>
          </a:p>
          <a:p>
            <a:pPr>
              <a:spcAft>
                <a:spcPts val="700"/>
              </a:spcAft>
              <a:defRPr sz="1800"/>
            </a:pPr>
            <a:r>
              <a:t>Record the six Well-Architected pillars.</a:t>
            </a:r>
          </a:p>
          <a:p>
            <a:pPr>
              <a:spcAft>
                <a:spcPts val="700"/>
              </a:spcAft>
              <a:defRPr sz="1800"/>
            </a:pPr>
            <a:r>
              <a:t>Review the shared responsibility model at a high level.</a:t>
            </a:r>
          </a:p>
          <a:p>
            <a:pPr>
              <a:spcAft>
                <a:spcPts val="700"/>
              </a:spcAft>
              <a:defRPr sz="1800"/>
            </a:pPr>
            <a:r>
              <a:t>Create a short table with examples of AWS responsibilities and customer responsibilities.</a:t>
            </a:r>
          </a:p>
          <a:p>
            <a:pPr>
              <a:spcAft>
                <a:spcPts val="700"/>
              </a:spcAft>
              <a:defRPr sz="1800"/>
            </a:pPr>
            <a:r>
              <a:t>Open the AWS Certification page and review the exam overview.</a:t>
            </a:r>
          </a:p>
          <a:p>
            <a:pPr>
              <a:spcAft>
                <a:spcPts val="700"/>
              </a:spcAft>
              <a:defRPr sz="1800"/>
            </a:pPr>
            <a:r>
              <a:t>Record the exam duration, format, and foundational level.</a:t>
            </a:r>
          </a:p>
          <a:p>
            <a:pPr>
              <a:spcAft>
                <a:spcPts val="700"/>
              </a:spcAft>
              <a:defRPr sz="1800"/>
            </a:pPr>
            <a:r>
              <a:t>Save your notes.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1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Region and Availability Zone notes</a:t>
            </a:r>
          </a:p>
          <a:p>
            <a:pPr>
              <a:spcAft>
                <a:spcPts val="700"/>
              </a:spcAft>
              <a:defRPr sz="1800"/>
            </a:pPr>
            <a:r>
              <a:t>Shared responsibility example table</a:t>
            </a:r>
          </a:p>
          <a:p>
            <a:pPr>
              <a:spcAft>
                <a:spcPts val="700"/>
              </a:spcAft>
              <a:defRPr sz="1800"/>
            </a:pPr>
            <a:r>
              <a:t>Well-Architected pillar list</a:t>
            </a:r>
          </a:p>
          <a:p>
            <a:pPr>
              <a:spcAft>
                <a:spcPts val="700"/>
              </a:spcAft>
              <a:defRPr sz="1800"/>
            </a:pPr>
            <a:r>
              <a:t>Exam overview notes</a:t>
            </a:r>
          </a:p>
          <a:p>
            <a:pPr>
              <a:spcAft>
                <a:spcPts val="700"/>
              </a:spcAft>
              <a:defRPr sz="1800"/>
            </a:pPr>
            <a:r>
              <a:t>Validation: You should be able to explain the difference between regions, availability zones, edge locations, an...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LAB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2: IAM, Security, and Shared Responsibility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Cloud security starts with identity and access control. You will review core IAM concepts and connect them to th...</a:t>
            </a:r>
          </a:p>
          <a:p>
            <a:pPr>
              <a:spcAft>
                <a:spcPts val="700"/>
              </a:spcAft>
              <a:defRPr sz="1800"/>
            </a:pPr>
            <a:r>
              <a:t>Checkpoint: You should be able to explain how IAM supports secure access and why the root user should not be use...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2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Understand IAM users, groups, roles, and policies.</a:t>
            </a:r>
          </a:p>
          <a:p>
            <a:pPr>
              <a:spcAft>
                <a:spcPts val="700"/>
              </a:spcAft>
              <a:defRPr sz="1800"/>
            </a:pPr>
            <a:r>
              <a:t>Enable or verify MFA.</a:t>
            </a:r>
          </a:p>
          <a:p>
            <a:pPr>
              <a:spcAft>
                <a:spcPts val="700"/>
              </a:spcAft>
              <a:defRPr sz="1800"/>
            </a:pPr>
            <a:r>
              <a:t>Review least privilege.</a:t>
            </a:r>
          </a:p>
          <a:p>
            <a:pPr>
              <a:spcAft>
                <a:spcPts val="700"/>
              </a:spcAft>
              <a:defRPr sz="1800"/>
            </a:pPr>
            <a:r>
              <a:t>Locate CloudTrail and security-related services.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STEP-BY-STEP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2 Procedure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Sign in to the AWS Management Console.</a:t>
            </a:r>
          </a:p>
          <a:p>
            <a:pPr>
              <a:spcAft>
                <a:spcPts val="700"/>
              </a:spcAft>
              <a:defRPr sz="1800"/>
            </a:pPr>
            <a:r>
              <a:t>Open IAM.</a:t>
            </a:r>
          </a:p>
          <a:p>
            <a:pPr>
              <a:spcAft>
                <a:spcPts val="700"/>
              </a:spcAft>
              <a:defRPr sz="1800"/>
            </a:pPr>
            <a:r>
              <a:t>Review the Account Security recommendations.</a:t>
            </a:r>
          </a:p>
          <a:p>
            <a:pPr>
              <a:spcAft>
                <a:spcPts val="700"/>
              </a:spcAft>
              <a:defRPr sz="1800"/>
            </a:pPr>
            <a:r>
              <a:t>Verify that MFA is enabled for the root user or assigned administrator user if permitted.</a:t>
            </a:r>
          </a:p>
          <a:p>
            <a:pPr>
              <a:spcAft>
                <a:spcPts val="700"/>
              </a:spcAft>
              <a:defRPr sz="1800"/>
            </a:pPr>
            <a:r>
              <a:t>Open Users and identify the difference between a user and the root account.</a:t>
            </a:r>
          </a:p>
          <a:p>
            <a:pPr>
              <a:spcAft>
                <a:spcPts val="700"/>
              </a:spcAft>
              <a:defRPr sz="1800"/>
            </a:pPr>
            <a:r>
              <a:t>Open User groups and review how groups simplify permission management.</a:t>
            </a:r>
          </a:p>
          <a:p>
            <a:pPr>
              <a:spcAft>
                <a:spcPts val="700"/>
              </a:spcAft>
              <a:defRPr sz="1800"/>
            </a:pPr>
            <a:r>
              <a:t>Open Policies.</a:t>
            </a:r>
          </a:p>
          <a:p>
            <a:pPr>
              <a:spcAft>
                <a:spcPts val="700"/>
              </a:spcAft>
              <a:defRPr sz="1800"/>
            </a:pPr>
            <a:r>
              <a:t>View an AWS managed policy such as `ReadOnlyAccess`.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STEP-BY-STEP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2 Procedure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Review the JSON structure of a policy.</a:t>
            </a:r>
          </a:p>
          <a:p>
            <a:pPr>
              <a:spcAft>
                <a:spcPts val="700"/>
              </a:spcAft>
              <a:defRPr sz="1800"/>
            </a:pPr>
            <a:r>
              <a:t>Identify actions, resources, and effect.</a:t>
            </a:r>
          </a:p>
          <a:p>
            <a:pPr>
              <a:spcAft>
                <a:spcPts val="700"/>
              </a:spcAft>
              <a:defRPr sz="1800"/>
            </a:pPr>
            <a:r>
              <a:t>Open Roles.</a:t>
            </a:r>
          </a:p>
          <a:p>
            <a:pPr>
              <a:spcAft>
                <a:spcPts val="700"/>
              </a:spcAft>
              <a:defRPr sz="1800"/>
            </a:pPr>
            <a:r>
              <a:t>Review how roles are used by AWS services or external identities.</a:t>
            </a:r>
          </a:p>
          <a:p>
            <a:pPr>
              <a:spcAft>
                <a:spcPts val="700"/>
              </a:spcAft>
              <a:defRPr sz="1800"/>
            </a:pPr>
            <a:r>
              <a:t>Create a short comparison table: user, group, role, policy.</a:t>
            </a:r>
          </a:p>
          <a:p>
            <a:pPr>
              <a:spcAft>
                <a:spcPts val="700"/>
              </a:spcAft>
              <a:defRPr sz="1800"/>
            </a:pPr>
            <a:r>
              <a:t>Open CloudTrail.</a:t>
            </a:r>
          </a:p>
          <a:p>
            <a:pPr>
              <a:spcAft>
                <a:spcPts val="700"/>
              </a:spcAft>
              <a:defRPr sz="1800"/>
            </a:pPr>
            <a:r>
              <a:t>Review Event history.</a:t>
            </a:r>
          </a:p>
          <a:p>
            <a:pPr>
              <a:spcAft>
                <a:spcPts val="700"/>
              </a:spcAft>
              <a:defRPr sz="1800"/>
            </a:pPr>
            <a:r>
              <a:t>Find one recent console event.</a:t>
            </a:r>
          </a:p>
          <a:p>
            <a:pPr>
              <a:spcAft>
                <a:spcPts val="700"/>
              </a:spcAft>
              <a:defRPr sz="1800"/>
            </a:pPr>
            <a:r>
              <a:t>Open Security Hub, GuardDuty, or Inspector pages if your trainer wants service awareness only.</a:t>
            </a:r>
          </a:p>
          <a:p>
            <a:pPr>
              <a:spcAft>
                <a:spcPts val="700"/>
              </a:spcAft>
              <a:defRPr sz="1800"/>
            </a:pPr>
            <a:r>
              <a:t>Record which services help with detection, audit, and posture management.</a:t>
            </a:r>
          </a:p>
          <a:p>
            <a:pPr>
              <a:spcAft>
                <a:spcPts val="700"/>
              </a:spcAft>
              <a:defRPr sz="1800"/>
            </a:pPr>
            <a:r>
              <a:t>Save your notes.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2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IAM concept comparison table</a:t>
            </a:r>
          </a:p>
          <a:p>
            <a:pPr>
              <a:spcAft>
                <a:spcPts val="700"/>
              </a:spcAft>
              <a:defRPr sz="1800"/>
            </a:pPr>
            <a:r>
              <a:t>Least-privilege policy notes</a:t>
            </a:r>
          </a:p>
          <a:p>
            <a:pPr>
              <a:spcAft>
                <a:spcPts val="700"/>
              </a:spcAft>
              <a:defRPr sz="1800"/>
            </a:pPr>
            <a:r>
              <a:t>CloudTrail event screenshot or notes</a:t>
            </a:r>
          </a:p>
          <a:p>
            <a:pPr>
              <a:spcAft>
                <a:spcPts val="700"/>
              </a:spcAft>
              <a:defRPr sz="1800"/>
            </a:pPr>
            <a:r>
              <a:t>Security service awareness notes</a:t>
            </a:r>
          </a:p>
          <a:p>
            <a:pPr>
              <a:spcAft>
                <a:spcPts val="700"/>
              </a:spcAft>
              <a:defRPr sz="1800"/>
            </a:pPr>
            <a:r>
              <a:t>Validation: You should be able to explain how IAM supports secure access and why the root user should not be use...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LAB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3: Compute Services: EC2, Lambda, Containers, and Elasticity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AWS offers multiple compute choices. You will compare them from a Cloud Practitioner perspective and learn when...</a:t>
            </a:r>
          </a:p>
          <a:p>
            <a:pPr>
              <a:spcAft>
                <a:spcPts val="700"/>
              </a:spcAft>
              <a:defRPr sz="1800"/>
            </a:pPr>
            <a:r>
              <a:t>Checkpoint: You should be able to match EC2, Lambda, and container services to basic workload scenarios.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3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Compare AWS compute services.</a:t>
            </a:r>
          </a:p>
          <a:p>
            <a:pPr>
              <a:spcAft>
                <a:spcPts val="700"/>
              </a:spcAft>
              <a:defRPr sz="1800"/>
            </a:pPr>
            <a:r>
              <a:t>Understand EC2, Lambda, containers, and Auto Scaling.</a:t>
            </a:r>
          </a:p>
          <a:p>
            <a:pPr>
              <a:spcAft>
                <a:spcPts val="700"/>
              </a:spcAft>
              <a:defRPr sz="1800"/>
            </a:pPr>
            <a:r>
              <a:t>Optionally launch and terminate a Free Tier eligible EC2 instance.</a:t>
            </a:r>
          </a:p>
          <a:p>
            <a:pPr>
              <a:spcAft>
                <a:spcPts val="700"/>
              </a:spcAft>
              <a:defRPr sz="1800"/>
            </a:pPr>
            <a:r>
              <a:t>Match compute services to common use cases.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STEP-BY-STEP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3 Procedure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Open the EC2 console.</a:t>
            </a:r>
          </a:p>
          <a:p>
            <a:pPr>
              <a:spcAft>
                <a:spcPts val="700"/>
              </a:spcAft>
              <a:defRPr sz="1800"/>
            </a:pPr>
            <a:r>
              <a:t>Review the EC2 Dashboard.</a:t>
            </a:r>
          </a:p>
          <a:p>
            <a:pPr>
              <a:spcAft>
                <a:spcPts val="700"/>
              </a:spcAft>
              <a:defRPr sz="1800"/>
            </a:pPr>
            <a:r>
              <a:t>Open Instance Types and observe that instances vary by CPU, memory, storage, and networking.</a:t>
            </a:r>
          </a:p>
          <a:p>
            <a:pPr>
              <a:spcAft>
                <a:spcPts val="700"/>
              </a:spcAft>
              <a:defRPr sz="1800"/>
            </a:pPr>
            <a:r>
              <a:t>Open AMIs and review the idea of a machine image.</a:t>
            </a:r>
          </a:p>
          <a:p>
            <a:pPr>
              <a:spcAft>
                <a:spcPts val="700"/>
              </a:spcAft>
              <a:defRPr sz="1800"/>
            </a:pPr>
            <a:r>
              <a:t>If your trainer permits hands-on creation, launch a Free Tier eligible instance.</a:t>
            </a:r>
          </a:p>
          <a:p>
            <a:pPr>
              <a:spcAft>
                <a:spcPts val="700"/>
              </a:spcAft>
              <a:defRPr sz="1800"/>
            </a:pPr>
            <a:r>
              <a:t>Select an Amazon Linux AMI.</a:t>
            </a:r>
          </a:p>
          <a:p>
            <a:pPr>
              <a:spcAft>
                <a:spcPts val="700"/>
              </a:spcAft>
              <a:defRPr sz="1800"/>
            </a:pPr>
            <a:r>
              <a:t>Select a Free Tier eligible instance type.</a:t>
            </a:r>
          </a:p>
          <a:p>
            <a:pPr>
              <a:spcAft>
                <a:spcPts val="700"/>
              </a:spcAft>
              <a:defRPr sz="1800"/>
            </a:pPr>
            <a:r>
              <a:t>Use a temporary key pair or trainer-approved access method.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STEP-BY-STEP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3 Procedure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Configure a security group with minimal access.</a:t>
            </a:r>
          </a:p>
          <a:p>
            <a:pPr>
              <a:spcAft>
                <a:spcPts val="700"/>
              </a:spcAft>
              <a:defRPr sz="1800"/>
            </a:pPr>
            <a:r>
              <a:t>Launch the instance.</a:t>
            </a:r>
          </a:p>
          <a:p>
            <a:pPr>
              <a:spcAft>
                <a:spcPts val="700"/>
              </a:spcAft>
              <a:defRPr sz="1800"/>
            </a:pPr>
            <a:r>
              <a:t>Review instance state, public IP, and monitoring tab.</a:t>
            </a:r>
          </a:p>
          <a:p>
            <a:pPr>
              <a:spcAft>
                <a:spcPts val="700"/>
              </a:spcAft>
              <a:defRPr sz="1800"/>
            </a:pPr>
            <a:r>
              <a:t>Terminate the instance before leaving the lab.</a:t>
            </a:r>
          </a:p>
          <a:p>
            <a:pPr>
              <a:spcAft>
                <a:spcPts val="700"/>
              </a:spcAft>
              <a:defRPr sz="1800"/>
            </a:pPr>
            <a:r>
              <a:t>Open AWS Lambda.</a:t>
            </a:r>
          </a:p>
          <a:p>
            <a:pPr>
              <a:spcAft>
                <a:spcPts val="700"/>
              </a:spcAft>
              <a:defRPr sz="1800"/>
            </a:pPr>
            <a:r>
              <a:t>Review function concepts such as runtime, trigger, and execution role.</a:t>
            </a:r>
          </a:p>
          <a:p>
            <a:pPr>
              <a:spcAft>
                <a:spcPts val="700"/>
              </a:spcAft>
              <a:defRPr sz="1800"/>
            </a:pPr>
            <a:r>
              <a:t>Create a simple function only if your trainer permits it.</a:t>
            </a:r>
          </a:p>
          <a:p>
            <a:pPr>
              <a:spcAft>
                <a:spcPts val="700"/>
              </a:spcAft>
              <a:defRPr sz="1800"/>
            </a:pPr>
            <a:r>
              <a:t>Open ECS and EKS pages for service awareness.</a:t>
            </a:r>
          </a:p>
          <a:p>
            <a:pPr>
              <a:spcAft>
                <a:spcPts val="700"/>
              </a:spcAft>
              <a:defRPr sz="1800"/>
            </a:pPr>
            <a:r>
              <a:t>Open Auto Scaling or EC2 Auto Scaling Groups and review elasticity concepts.</a:t>
            </a:r>
          </a:p>
          <a:p>
            <a:pPr>
              <a:spcAft>
                <a:spcPts val="700"/>
              </a:spcAft>
              <a:defRPr sz="1800"/>
            </a:pPr>
            <a:r>
              <a:t>Create a table comparing EC2, Lambda, ECS, EKS, and Elastic Beanstalk.</a:t>
            </a:r>
          </a:p>
          <a:p>
            <a:pPr>
              <a:spcAft>
                <a:spcPts val="700"/>
              </a:spcAft>
              <a:defRPr sz="1800"/>
            </a:pPr>
            <a:r>
              <a:t>Save your notes.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3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Compute service comparison table</a:t>
            </a:r>
          </a:p>
          <a:p>
            <a:pPr>
              <a:spcAft>
                <a:spcPts val="700"/>
              </a:spcAft>
              <a:defRPr sz="1800"/>
            </a:pPr>
            <a:r>
              <a:t>Optional EC2 screenshot before termination</a:t>
            </a:r>
          </a:p>
          <a:p>
            <a:pPr>
              <a:spcAft>
                <a:spcPts val="700"/>
              </a:spcAft>
              <a:defRPr sz="1800"/>
            </a:pPr>
            <a:r>
              <a:t>Lambda and container service notes</a:t>
            </a:r>
          </a:p>
          <a:p>
            <a:pPr>
              <a:spcAft>
                <a:spcPts val="700"/>
              </a:spcAft>
              <a:defRPr sz="1800"/>
            </a:pPr>
            <a:r>
              <a:t>Elasticity notes</a:t>
            </a:r>
          </a:p>
          <a:p>
            <a:pPr>
              <a:spcAft>
                <a:spcPts val="700"/>
              </a:spcAft>
              <a:defRPr sz="1800"/>
            </a:pPr>
            <a:r>
              <a:t>Validation: You should be able to match EC2, Lambda, and container services to basic workload scenarios.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LAB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4: Storage Services: S3, EBS, EFS, Backup, and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Storage choice affects cost, availability, performance, and durability. You will compare AWS storage services an...</a:t>
            </a:r>
          </a:p>
          <a:p>
            <a:pPr>
              <a:spcAft>
                <a:spcPts val="700"/>
              </a:spcAft>
              <a:defRPr sz="1800"/>
            </a:pPr>
            <a:r>
              <a:t>Checkpoint: You should be able to explain when to use S3, EBS, EFS, FSx, and AWS Backup.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4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Understand object, block, and file storage.</a:t>
            </a:r>
          </a:p>
          <a:p>
            <a:pPr>
              <a:spcAft>
                <a:spcPts val="700"/>
              </a:spcAft>
              <a:defRPr sz="1800"/>
            </a:pPr>
            <a:r>
              <a:t>Create and secure an S3 bucket if permitted.</a:t>
            </a:r>
          </a:p>
          <a:p>
            <a:pPr>
              <a:spcAft>
                <a:spcPts val="700"/>
              </a:spcAft>
              <a:defRPr sz="1800"/>
            </a:pPr>
            <a:r>
              <a:t>Review storage classes, versioning, and lifecycle rules.</a:t>
            </a:r>
          </a:p>
          <a:p>
            <a:pPr>
              <a:spcAft>
                <a:spcPts val="700"/>
              </a:spcAft>
              <a:defRPr sz="1800"/>
            </a:pPr>
            <a:r>
              <a:t>Compare S3, EBS, EFS, FSx, and AWS Backup.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STEP-BY-STEP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4 Procedure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Open the S3 console.</a:t>
            </a:r>
          </a:p>
          <a:p>
            <a:pPr>
              <a:spcAft>
                <a:spcPts val="700"/>
              </a:spcAft>
              <a:defRPr sz="1800"/>
            </a:pPr>
            <a:r>
              <a:t>Create a bucket only if your trainer permits it.</a:t>
            </a:r>
          </a:p>
          <a:p>
            <a:pPr>
              <a:spcAft>
                <a:spcPts val="700"/>
              </a:spcAft>
              <a:defRPr sz="1800"/>
            </a:pPr>
            <a:r>
              <a:t>Use a globally unique bucket name.</a:t>
            </a:r>
          </a:p>
          <a:p>
            <a:pPr>
              <a:spcAft>
                <a:spcPts val="700"/>
              </a:spcAft>
              <a:defRPr sz="1800"/>
            </a:pPr>
            <a:r>
              <a:t>Keep Block Public Access enabled.</a:t>
            </a:r>
          </a:p>
          <a:p>
            <a:pPr>
              <a:spcAft>
                <a:spcPts val="700"/>
              </a:spcAft>
              <a:defRPr sz="1800"/>
            </a:pPr>
            <a:r>
              <a:t>Upload a small sample file.</a:t>
            </a:r>
          </a:p>
          <a:p>
            <a:pPr>
              <a:spcAft>
                <a:spcPts val="700"/>
              </a:spcAft>
              <a:defRPr sz="1800"/>
            </a:pPr>
            <a:r>
              <a:t>Review object properties.</a:t>
            </a:r>
          </a:p>
          <a:p>
            <a:pPr>
              <a:spcAft>
                <a:spcPts val="700"/>
              </a:spcAft>
              <a:defRPr sz="1800"/>
            </a:pPr>
            <a:r>
              <a:t>Enable versioning if assigned.</a:t>
            </a:r>
          </a:p>
          <a:p>
            <a:pPr>
              <a:spcAft>
                <a:spcPts val="700"/>
              </a:spcAft>
              <a:defRPr sz="1800"/>
            </a:pPr>
            <a:r>
              <a:t>Upload a changed version of the same file.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STEP-BY-STEP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4 Procedure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Review object versions.</a:t>
            </a:r>
          </a:p>
          <a:p>
            <a:pPr>
              <a:spcAft>
                <a:spcPts val="700"/>
              </a:spcAft>
              <a:defRPr sz="1800"/>
            </a:pPr>
            <a:r>
              <a:t>Open Lifecycle configuration.</a:t>
            </a:r>
          </a:p>
          <a:p>
            <a:pPr>
              <a:spcAft>
                <a:spcPts val="700"/>
              </a:spcAft>
              <a:defRPr sz="1800"/>
            </a:pPr>
            <a:r>
              <a:t>Create a sample lifecycle rule only if instructed.</a:t>
            </a:r>
          </a:p>
          <a:p>
            <a:pPr>
              <a:spcAft>
                <a:spcPts val="700"/>
              </a:spcAft>
              <a:defRPr sz="1800"/>
            </a:pPr>
            <a:r>
              <a:t>Review S3 storage classes such as Standard, Intelligent-Tiering, Standard-IA, Glacier Instant Retrieval, and Gla...</a:t>
            </a:r>
          </a:p>
          <a:p>
            <a:pPr>
              <a:spcAft>
                <a:spcPts val="700"/>
              </a:spcAft>
              <a:defRPr sz="1800"/>
            </a:pPr>
            <a:r>
              <a:t>Open EC2 Volumes and review EBS as block storage.</a:t>
            </a:r>
          </a:p>
          <a:p>
            <a:pPr>
              <a:spcAft>
                <a:spcPts val="700"/>
              </a:spcAft>
              <a:defRPr sz="1800"/>
            </a:pPr>
            <a:r>
              <a:t>Open EFS and review managed file storage.</a:t>
            </a:r>
          </a:p>
          <a:p>
            <a:pPr>
              <a:spcAft>
                <a:spcPts val="700"/>
              </a:spcAft>
              <a:defRPr sz="1800"/>
            </a:pPr>
            <a:r>
              <a:t>Open FSx service page for awareness.</a:t>
            </a:r>
          </a:p>
          <a:p>
            <a:pPr>
              <a:spcAft>
                <a:spcPts val="700"/>
              </a:spcAft>
              <a:defRPr sz="1800"/>
            </a:pPr>
            <a:r>
              <a:t>Open AWS Backup and review centralized backup concepts.</a:t>
            </a:r>
          </a:p>
          <a:p>
            <a:pPr>
              <a:spcAft>
                <a:spcPts val="700"/>
              </a:spcAft>
              <a:defRPr sz="1800"/>
            </a:pPr>
            <a:r>
              <a:t>Create a table comparing object, block, and file storage.</a:t>
            </a:r>
          </a:p>
          <a:p>
            <a:pPr>
              <a:spcAft>
                <a:spcPts val="700"/>
              </a:spcAft>
              <a:defRPr sz="1800"/>
            </a:pPr>
            <a:r>
              <a:t>Delete uploaded objects and the bucket if one was created.</a:t>
            </a:r>
          </a:p>
          <a:p>
            <a:pPr>
              <a:spcAft>
                <a:spcPts val="700"/>
              </a:spcAft>
              <a:defRPr sz="1800"/>
            </a:pPr>
            <a:r>
              <a:t>Save your notes.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4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Storage comparison table</a:t>
            </a:r>
          </a:p>
          <a:p>
            <a:pPr>
              <a:spcAft>
                <a:spcPts val="700"/>
              </a:spcAft>
              <a:defRPr sz="1800"/>
            </a:pPr>
            <a:r>
              <a:t>S3 bucket screenshot or notes</a:t>
            </a:r>
          </a:p>
          <a:p>
            <a:pPr>
              <a:spcAft>
                <a:spcPts val="700"/>
              </a:spcAft>
              <a:defRPr sz="1800"/>
            </a:pPr>
            <a:r>
              <a:t>Lifecycle and storage class notes</a:t>
            </a:r>
          </a:p>
          <a:p>
            <a:pPr>
              <a:spcAft>
                <a:spcPts val="700"/>
              </a:spcAft>
              <a:defRPr sz="1800"/>
            </a:pPr>
            <a:r>
              <a:t>Cleanup confirmation</a:t>
            </a:r>
          </a:p>
          <a:p>
            <a:pPr>
              <a:spcAft>
                <a:spcPts val="700"/>
              </a:spcAft>
              <a:defRPr sz="1800"/>
            </a:pPr>
            <a:r>
              <a:t>Validation: You should be able to explain when to use S3, EBS, EFS, FSx, and AWS Backup.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LAB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5: Databases and Analytics: RDS, DynamoDB, Redshift, and Athena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Cloud Practitioner candidates should know which AWS data service fits which workload. This lab focuses on servic...</a:t>
            </a:r>
          </a:p>
          <a:p>
            <a:pPr>
              <a:spcAft>
                <a:spcPts val="700"/>
              </a:spcAft>
              <a:defRPr sz="1800"/>
            </a:pPr>
            <a:r>
              <a:t>Checkpoint: You should be able to choose between RDS, Aurora, DynamoDB, Redshift, Athena, Glue, and QuickSight f...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5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Compare AWS database services.</a:t>
            </a:r>
          </a:p>
          <a:p>
            <a:pPr>
              <a:spcAft>
                <a:spcPts val="700"/>
              </a:spcAft>
              <a:defRPr sz="1800"/>
            </a:pPr>
            <a:r>
              <a:t>Understand managed relational, NoSQL, warehouse, and analytics services.</a:t>
            </a:r>
          </a:p>
          <a:p>
            <a:pPr>
              <a:spcAft>
                <a:spcPts val="700"/>
              </a:spcAft>
              <a:defRPr sz="1800"/>
            </a:pPr>
            <a:r>
              <a:t>Review backup, scaling, and availability concepts.</a:t>
            </a:r>
          </a:p>
          <a:p>
            <a:pPr>
              <a:spcAft>
                <a:spcPts val="700"/>
              </a:spcAft>
              <a:defRPr sz="1800"/>
            </a:pPr>
            <a:r>
              <a:t>Match services to business scenarios.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STEP-BY-STEP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5 Procedure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Open Amazon RDS.</a:t>
            </a:r>
          </a:p>
          <a:p>
            <a:pPr>
              <a:spcAft>
                <a:spcPts val="700"/>
              </a:spcAft>
              <a:defRPr sz="1800"/>
            </a:pPr>
            <a:r>
              <a:t>Review database engine options.</a:t>
            </a:r>
          </a:p>
          <a:p>
            <a:pPr>
              <a:spcAft>
                <a:spcPts val="700"/>
              </a:spcAft>
              <a:defRPr sz="1800"/>
            </a:pPr>
            <a:r>
              <a:t>Note Multi-AZ, read replica, backup, and patching concepts.</a:t>
            </a:r>
          </a:p>
          <a:p>
            <a:pPr>
              <a:spcAft>
                <a:spcPts val="700"/>
              </a:spcAft>
              <a:defRPr sz="1800"/>
            </a:pPr>
            <a:r>
              <a:t>Open Amazon Aurora and record how it relates to RDS.</a:t>
            </a:r>
          </a:p>
          <a:p>
            <a:pPr>
              <a:spcAft>
                <a:spcPts val="700"/>
              </a:spcAft>
              <a:defRPr sz="1800"/>
            </a:pPr>
            <a:r>
              <a:t>Open DynamoDB.</a:t>
            </a:r>
          </a:p>
          <a:p>
            <a:pPr>
              <a:spcAft>
                <a:spcPts val="700"/>
              </a:spcAft>
              <a:defRPr sz="1800"/>
            </a:pPr>
            <a:r>
              <a:t>Review table, item, partition key, and capacity concepts.</a:t>
            </a:r>
          </a:p>
          <a:p>
            <a:pPr>
              <a:spcAft>
                <a:spcPts val="700"/>
              </a:spcAft>
              <a:defRPr sz="1800"/>
            </a:pPr>
            <a:r>
              <a:t>Open ElastiCache and note caching use cases.</a:t>
            </a:r>
          </a:p>
          <a:p>
            <a:pPr>
              <a:spcAft>
                <a:spcPts val="700"/>
              </a:spcAft>
              <a:defRPr sz="1800"/>
            </a:pPr>
            <a:r>
              <a:t>Open Redshift and identify data warehouse use cases.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STEP-BY-STEP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5 Procedure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Open Athena and note serverless querying on data in S3.</a:t>
            </a:r>
          </a:p>
          <a:p>
            <a:pPr>
              <a:spcAft>
                <a:spcPts val="700"/>
              </a:spcAft>
              <a:defRPr sz="1800"/>
            </a:pPr>
            <a:r>
              <a:t>Open Glue and note data catalog and ETL awareness.</a:t>
            </a:r>
          </a:p>
          <a:p>
            <a:pPr>
              <a:spcAft>
                <a:spcPts val="700"/>
              </a:spcAft>
              <a:defRPr sz="1800"/>
            </a:pPr>
            <a:r>
              <a:t>Open QuickSight if available and record BI dashboard use cases.</a:t>
            </a:r>
          </a:p>
          <a:p>
            <a:pPr>
              <a:spcAft>
                <a:spcPts val="700"/>
              </a:spcAft>
              <a:defRPr sz="1800"/>
            </a:pPr>
            <a:r>
              <a:t>Create a service selection table for OLTP, NoSQL key-value, cache, data warehouse, ad hoc query, ETL, and BI.</a:t>
            </a:r>
          </a:p>
          <a:p>
            <a:pPr>
              <a:spcAft>
                <a:spcPts val="700"/>
              </a:spcAft>
              <a:defRPr sz="1800"/>
            </a:pPr>
            <a:r>
              <a:t>Identify which services are serverless or managed.</a:t>
            </a:r>
          </a:p>
          <a:p>
            <a:pPr>
              <a:spcAft>
                <a:spcPts val="700"/>
              </a:spcAft>
              <a:defRPr sz="1800"/>
            </a:pPr>
            <a:r>
              <a:t>Identify which services support backup or high availability features.</a:t>
            </a:r>
          </a:p>
          <a:p>
            <a:pPr>
              <a:spcAft>
                <a:spcPts val="700"/>
              </a:spcAft>
              <a:defRPr sz="1800"/>
            </a:pPr>
            <a:r>
              <a:t>Save your notes.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5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Database and analytics service selection table</a:t>
            </a:r>
          </a:p>
          <a:p>
            <a:pPr>
              <a:spcAft>
                <a:spcPts val="700"/>
              </a:spcAft>
              <a:defRPr sz="1800"/>
            </a:pPr>
            <a:r>
              <a:t>Managed service notes</a:t>
            </a:r>
          </a:p>
          <a:p>
            <a:pPr>
              <a:spcAft>
                <a:spcPts val="700"/>
              </a:spcAft>
              <a:defRPr sz="1800"/>
            </a:pPr>
            <a:r>
              <a:t>Backup and availability notes</a:t>
            </a:r>
          </a:p>
          <a:p>
            <a:pPr>
              <a:spcAft>
                <a:spcPts val="700"/>
              </a:spcAft>
              <a:defRPr sz="1800"/>
            </a:pPr>
            <a:r>
              <a:t>Validation: You should be able to choose between RDS, Aurora, DynamoDB, Redshift, Athena, Glue, and QuickSight f...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LAB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6: Networking and Content Delivery: VPC, Security Groups, CloudFront, and Route 53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Networking connects AWS services securely. This lab builds foundational knowledge of VPC and content delivery co...</a:t>
            </a:r>
          </a:p>
          <a:p>
            <a:pPr>
              <a:spcAft>
                <a:spcPts val="700"/>
              </a:spcAft>
              <a:defRPr sz="1800"/>
            </a:pPr>
            <a:r>
              <a:t>Checkpoint: You should be able to explain VPC basics, security groups, load balancing, DNS, and CDN use cases.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6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Understand VPC fundamentals.</a:t>
            </a:r>
          </a:p>
          <a:p>
            <a:pPr>
              <a:spcAft>
                <a:spcPts val="700"/>
              </a:spcAft>
              <a:defRPr sz="1800"/>
            </a:pPr>
            <a:r>
              <a:t>Review subnets, route tables, internet gateways, and NAT gateways.</a:t>
            </a:r>
          </a:p>
          <a:p>
            <a:pPr>
              <a:spcAft>
                <a:spcPts val="700"/>
              </a:spcAft>
              <a:defRPr sz="1800"/>
            </a:pPr>
            <a:r>
              <a:t>Compare security groups and network ACLs.</a:t>
            </a:r>
          </a:p>
          <a:p>
            <a:pPr>
              <a:spcAft>
                <a:spcPts val="700"/>
              </a:spcAft>
              <a:defRPr sz="1800"/>
            </a:pPr>
            <a:r>
              <a:t>Understand CloudFront and Route 53 at a high level.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STEP-BY-STEP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6 Procedure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Open the VPC console.</a:t>
            </a:r>
          </a:p>
          <a:p>
            <a:pPr>
              <a:spcAft>
                <a:spcPts val="700"/>
              </a:spcAft>
              <a:defRPr sz="1800"/>
            </a:pPr>
            <a:r>
              <a:t>Review the default VPC if available.</a:t>
            </a:r>
          </a:p>
          <a:p>
            <a:pPr>
              <a:spcAft>
                <a:spcPts val="700"/>
              </a:spcAft>
              <a:defRPr sz="1800"/>
            </a:pPr>
            <a:r>
              <a:t>Open Subnets and identify availability zone placement.</a:t>
            </a:r>
          </a:p>
          <a:p>
            <a:pPr>
              <a:spcAft>
                <a:spcPts val="700"/>
              </a:spcAft>
              <a:defRPr sz="1800"/>
            </a:pPr>
            <a:r>
              <a:t>Open Route Tables and review route destinations and targets.</a:t>
            </a:r>
          </a:p>
          <a:p>
            <a:pPr>
              <a:spcAft>
                <a:spcPts val="700"/>
              </a:spcAft>
              <a:defRPr sz="1800"/>
            </a:pPr>
            <a:r>
              <a:t>Open Internet Gateways.</a:t>
            </a:r>
          </a:p>
          <a:p>
            <a:pPr>
              <a:spcAft>
                <a:spcPts val="700"/>
              </a:spcAft>
              <a:defRPr sz="1800"/>
            </a:pPr>
            <a:r>
              <a:t>Open NAT Gateways and record the use case.</a:t>
            </a:r>
          </a:p>
          <a:p>
            <a:pPr>
              <a:spcAft>
                <a:spcPts val="700"/>
              </a:spcAft>
              <a:defRPr sz="1800"/>
            </a:pPr>
            <a:r>
              <a:t>Open Security Groups.</a:t>
            </a:r>
          </a:p>
          <a:p>
            <a:pPr>
              <a:spcAft>
                <a:spcPts val="700"/>
              </a:spcAft>
              <a:defRPr sz="1800"/>
            </a:pPr>
            <a:r>
              <a:t>Review inbound and outbound rules.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STEP-BY-STEP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6 Procedure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Compare security groups with network ACLs.</a:t>
            </a:r>
          </a:p>
          <a:p>
            <a:pPr>
              <a:spcAft>
                <a:spcPts val="700"/>
              </a:spcAft>
              <a:defRPr sz="1800"/>
            </a:pPr>
            <a:r>
              <a:t>Draw a simple VPC diagram with public and private subnets.</a:t>
            </a:r>
          </a:p>
          <a:p>
            <a:pPr>
              <a:spcAft>
                <a:spcPts val="700"/>
              </a:spcAft>
              <a:defRPr sz="1800"/>
            </a:pPr>
            <a:r>
              <a:t>Open CloudFront.</a:t>
            </a:r>
          </a:p>
          <a:p>
            <a:pPr>
              <a:spcAft>
                <a:spcPts val="700"/>
              </a:spcAft>
              <a:defRPr sz="1800"/>
            </a:pPr>
            <a:r>
              <a:t>Review distribution, origin, cache behavior, and edge location concepts.</a:t>
            </a:r>
          </a:p>
          <a:p>
            <a:pPr>
              <a:spcAft>
                <a:spcPts val="700"/>
              </a:spcAft>
              <a:defRPr sz="1800"/>
            </a:pPr>
            <a:r>
              <a:t>Open Route 53.</a:t>
            </a:r>
          </a:p>
          <a:p>
            <a:pPr>
              <a:spcAft>
                <a:spcPts val="700"/>
              </a:spcAft>
              <a:defRPr sz="1800"/>
            </a:pPr>
            <a:r>
              <a:t>Review hosted zones, DNS records, and domain registration awareness.</a:t>
            </a:r>
          </a:p>
          <a:p>
            <a:pPr>
              <a:spcAft>
                <a:spcPts val="700"/>
              </a:spcAft>
              <a:defRPr sz="1800"/>
            </a:pPr>
            <a:r>
              <a:t>Open Elastic Load Balancing and record load balancer use cases.</a:t>
            </a:r>
          </a:p>
          <a:p>
            <a:pPr>
              <a:spcAft>
                <a:spcPts val="700"/>
              </a:spcAft>
              <a:defRPr sz="1800"/>
            </a:pPr>
            <a:r>
              <a:t>Create a networking service comparison table.</a:t>
            </a:r>
          </a:p>
          <a:p>
            <a:pPr>
              <a:spcAft>
                <a:spcPts val="700"/>
              </a:spcAft>
              <a:defRPr sz="1800"/>
            </a:pPr>
            <a:r>
              <a:t>Save your notes.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6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Simple VPC diagram</a:t>
            </a:r>
          </a:p>
          <a:p>
            <a:pPr>
              <a:spcAft>
                <a:spcPts val="700"/>
              </a:spcAft>
              <a:defRPr sz="1800"/>
            </a:pPr>
            <a:r>
              <a:t>Security group vs network ACL notes</a:t>
            </a:r>
          </a:p>
          <a:p>
            <a:pPr>
              <a:spcAft>
                <a:spcPts val="700"/>
              </a:spcAft>
              <a:defRPr sz="1800"/>
            </a:pPr>
            <a:r>
              <a:t>CloudFront and Route 53 concept notes</a:t>
            </a:r>
          </a:p>
          <a:p>
            <a:pPr>
              <a:spcAft>
                <a:spcPts val="700"/>
              </a:spcAft>
              <a:defRPr sz="1800"/>
            </a:pPr>
            <a:r>
              <a:t>Networking comparison table</a:t>
            </a:r>
          </a:p>
          <a:p>
            <a:pPr>
              <a:spcAft>
                <a:spcPts val="700"/>
              </a:spcAft>
              <a:defRPr sz="1800"/>
            </a:pPr>
            <a:r>
              <a:t>Validation: You should be able to explain VPC basics, security groups, load balancing, DNS, and CDN use cases.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LAB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7: Monitoring, Pricing, Billing, Budgets, and 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Cloud literacy includes cost awareness and operational visibility. You will use monitoring, billing, and support...</a:t>
            </a:r>
          </a:p>
          <a:p>
            <a:pPr>
              <a:spcAft>
                <a:spcPts val="700"/>
              </a:spcAft>
              <a:defRPr sz="1800"/>
            </a:pPr>
            <a:r>
              <a:t>Checkpoint: You should be able to explain which AWS tools help monitor resources, estimate costs, control spendi...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7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Review monitoring and audit services.</a:t>
            </a:r>
          </a:p>
          <a:p>
            <a:pPr>
              <a:spcAft>
                <a:spcPts val="700"/>
              </a:spcAft>
              <a:defRPr sz="1800"/>
            </a:pPr>
            <a:r>
              <a:t>Create a budget alert if permitted.</a:t>
            </a:r>
          </a:p>
          <a:p>
            <a:pPr>
              <a:spcAft>
                <a:spcPts val="700"/>
              </a:spcAft>
              <a:defRPr sz="1800"/>
            </a:pPr>
            <a:r>
              <a:t>Use AWS Pricing Calculator.</a:t>
            </a:r>
          </a:p>
          <a:p>
            <a:pPr>
              <a:spcAft>
                <a:spcPts val="700"/>
              </a:spcAft>
              <a:defRPr sz="1800"/>
            </a:pPr>
            <a:r>
              <a:t>Compare AWS support plans and cost tools.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STEP-BY-STEP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7 Procedure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Open CloudWatch.</a:t>
            </a:r>
          </a:p>
          <a:p>
            <a:pPr>
              <a:spcAft>
                <a:spcPts val="700"/>
              </a:spcAft>
              <a:defRPr sz="1800"/>
            </a:pPr>
            <a:r>
              <a:t>Review metrics, alarms, logs, and dashboards.</a:t>
            </a:r>
          </a:p>
          <a:p>
            <a:pPr>
              <a:spcAft>
                <a:spcPts val="700"/>
              </a:spcAft>
              <a:defRPr sz="1800"/>
            </a:pPr>
            <a:r>
              <a:t>Open CloudTrail and review audit event history.</a:t>
            </a:r>
          </a:p>
          <a:p>
            <a:pPr>
              <a:spcAft>
                <a:spcPts val="700"/>
              </a:spcAft>
              <a:defRPr sz="1800"/>
            </a:pPr>
            <a:r>
              <a:t>Open AWS Health Dashboard and record the use case.</a:t>
            </a:r>
          </a:p>
          <a:p>
            <a:pPr>
              <a:spcAft>
                <a:spcPts val="700"/>
              </a:spcAft>
              <a:defRPr sz="1800"/>
            </a:pPr>
            <a:r>
              <a:t>Open Billing and Cost Management.</a:t>
            </a:r>
          </a:p>
          <a:p>
            <a:pPr>
              <a:spcAft>
                <a:spcPts val="700"/>
              </a:spcAft>
              <a:defRPr sz="1800"/>
            </a:pPr>
            <a:r>
              <a:t>Review the billing dashboard.</a:t>
            </a:r>
          </a:p>
          <a:p>
            <a:pPr>
              <a:spcAft>
                <a:spcPts val="700"/>
              </a:spcAft>
              <a:defRPr sz="1800"/>
            </a:pPr>
            <a:r>
              <a:t>Open Cost Explorer if enabled.</a:t>
            </a:r>
          </a:p>
          <a:p>
            <a:pPr>
              <a:spcAft>
                <a:spcPts val="700"/>
              </a:spcAft>
              <a:defRPr sz="1800"/>
            </a:pPr>
            <a:r>
              <a:t>Review cost filtering and forecast concepts.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STEP-BY-STEP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7 Procedure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Open AWS Budgets.</a:t>
            </a:r>
          </a:p>
          <a:p>
            <a:pPr>
              <a:spcAft>
                <a:spcPts val="700"/>
              </a:spcAft>
              <a:defRPr sz="1800"/>
            </a:pPr>
            <a:r>
              <a:t>Create a low threshold budget alert only if permitted by your trainer.</a:t>
            </a:r>
          </a:p>
          <a:p>
            <a:pPr>
              <a:spcAft>
                <a:spcPts val="700"/>
              </a:spcAft>
              <a:defRPr sz="1800"/>
            </a:pPr>
            <a:r>
              <a:t>Open AWS Pricing Calculator.</a:t>
            </a:r>
          </a:p>
          <a:p>
            <a:pPr>
              <a:spcAft>
                <a:spcPts val="700"/>
              </a:spcAft>
              <a:defRPr sz="1800"/>
            </a:pPr>
            <a:r>
              <a:t>Create a simple estimate for EC2, S3, or another assigned service.</a:t>
            </a:r>
          </a:p>
          <a:p>
            <a:pPr>
              <a:spcAft>
                <a:spcPts val="700"/>
              </a:spcAft>
              <a:defRPr sz="1800"/>
            </a:pPr>
            <a:r>
              <a:t>Save or screenshot the estimate summary.</a:t>
            </a:r>
          </a:p>
          <a:p>
            <a:pPr>
              <a:spcAft>
                <a:spcPts val="700"/>
              </a:spcAft>
              <a:defRPr sz="1800"/>
            </a:pPr>
            <a:r>
              <a:t>Review Savings Plans and Reserved Instances at a high level.</a:t>
            </a:r>
          </a:p>
          <a:p>
            <a:pPr>
              <a:spcAft>
                <a:spcPts val="700"/>
              </a:spcAft>
              <a:defRPr sz="1800"/>
            </a:pPr>
            <a:r>
              <a:t>Compare Basic, Developer, Business, Enterprise On-Ramp, and Enterprise support plans.</a:t>
            </a:r>
          </a:p>
          <a:p>
            <a:pPr>
              <a:spcAft>
                <a:spcPts val="700"/>
              </a:spcAft>
              <a:defRPr sz="1800"/>
            </a:pPr>
            <a:r>
              <a:t>Record which plan includes technical account management or faster support options.</a:t>
            </a:r>
          </a:p>
          <a:p>
            <a:pPr>
              <a:spcAft>
                <a:spcPts val="700"/>
              </a:spcAft>
              <a:defRPr sz="1800"/>
            </a:pPr>
            <a:r>
              <a:t>Save your notes.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7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Monitoring service notes</a:t>
            </a:r>
          </a:p>
          <a:p>
            <a:pPr>
              <a:spcAft>
                <a:spcPts val="700"/>
              </a:spcAft>
              <a:defRPr sz="1800"/>
            </a:pPr>
            <a:r>
              <a:t>Budget or billing dashboard notes</a:t>
            </a:r>
          </a:p>
          <a:p>
            <a:pPr>
              <a:spcAft>
                <a:spcPts val="700"/>
              </a:spcAft>
              <a:defRPr sz="1800"/>
            </a:pPr>
            <a:r>
              <a:t>Pricing Calculator estimate</a:t>
            </a:r>
          </a:p>
          <a:p>
            <a:pPr>
              <a:spcAft>
                <a:spcPts val="700"/>
              </a:spcAft>
              <a:defRPr sz="1800"/>
            </a:pPr>
            <a:r>
              <a:t>Support plan comparison table</a:t>
            </a:r>
          </a:p>
          <a:p>
            <a:pPr>
              <a:spcAft>
                <a:spcPts val="700"/>
              </a:spcAft>
              <a:defRPr sz="1800"/>
            </a:pPr>
            <a:r>
              <a:t>Validation: You should be able to explain which AWS tools help monitor resources, estimate costs, control spendi...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LAB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8: Architecture, Migration, Sustainability, and Exam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The final lab connects AWS services to architecture, migration, resilience, sustainability, and exam readiness.</a:t>
            </a:r>
          </a:p>
          <a:p>
            <a:pPr>
              <a:spcAft>
                <a:spcPts val="700"/>
              </a:spcAft>
              <a:defRPr sz="1800"/>
            </a:pPr>
            <a:r>
              <a:t>Checkpoint: You should be ready to explain AWS Cloud Practitioner concepts and choose appropriate AWS services f...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8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Review AWS Well-Architected concepts.</a:t>
            </a:r>
          </a:p>
          <a:p>
            <a:pPr>
              <a:spcAft>
                <a:spcPts val="700"/>
              </a:spcAft>
              <a:defRPr sz="1800"/>
            </a:pPr>
            <a:r>
              <a:t>Map migration and disaster recovery services to use cases.</a:t>
            </a:r>
          </a:p>
          <a:p>
            <a:pPr>
              <a:spcAft>
                <a:spcPts val="700"/>
              </a:spcAft>
              <a:defRPr sz="1800"/>
            </a:pPr>
            <a:r>
              <a:t>Understand sustainability at a foundational level.</a:t>
            </a:r>
          </a:p>
          <a:p>
            <a:pPr>
              <a:spcAft>
                <a:spcPts val="700"/>
              </a:spcAft>
              <a:defRPr sz="1800"/>
            </a:pPr>
            <a:r>
              <a:t>Complete certification-style review practice.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STEP-BY-STEP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8 Procedure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Open AWS Well-Architected documentation or the Well-Architected Tool.</a:t>
            </a:r>
          </a:p>
          <a:p>
            <a:pPr>
              <a:spcAft>
                <a:spcPts val="700"/>
              </a:spcAft>
              <a:defRPr sz="1800"/>
            </a:pPr>
            <a:r>
              <a:t>Record the six pillars.</a:t>
            </a:r>
          </a:p>
          <a:p>
            <a:pPr>
              <a:spcAft>
                <a:spcPts val="700"/>
              </a:spcAft>
              <a:defRPr sz="1800"/>
            </a:pPr>
            <a:r>
              <a:t>Choose a simple workload such as a company website or internal app.</a:t>
            </a:r>
          </a:p>
          <a:p>
            <a:pPr>
              <a:spcAft>
                <a:spcPts val="700"/>
              </a:spcAft>
              <a:defRPr sz="1800"/>
            </a:pPr>
            <a:r>
              <a:t>Map AWS services to compute, storage, database, network, security, monitoring, and cost areas.</a:t>
            </a:r>
          </a:p>
          <a:p>
            <a:pPr>
              <a:spcAft>
                <a:spcPts val="700"/>
              </a:spcAft>
              <a:defRPr sz="1800"/>
            </a:pPr>
            <a:r>
              <a:t>Identify at least one reliability improvement.</a:t>
            </a:r>
          </a:p>
          <a:p>
            <a:pPr>
              <a:spcAft>
                <a:spcPts val="700"/>
              </a:spcAft>
              <a:defRPr sz="1800"/>
            </a:pPr>
            <a:r>
              <a:t>Identify at least one security improvement.</a:t>
            </a:r>
          </a:p>
          <a:p>
            <a:pPr>
              <a:spcAft>
                <a:spcPts val="700"/>
              </a:spcAft>
              <a:defRPr sz="1800"/>
            </a:pPr>
            <a:r>
              <a:t>Identify at least one cost optimization improvement.</a:t>
            </a:r>
          </a:p>
          <a:p>
            <a:pPr>
              <a:spcAft>
                <a:spcPts val="700"/>
              </a:spcAft>
              <a:defRPr sz="1800"/>
            </a:pPr>
            <a:r>
              <a:t>Open AWS Migration Hub.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STEP-BY-STEP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8 Procedure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Review Application Migration Service and Database Migration Service at a high level.</a:t>
            </a:r>
          </a:p>
          <a:p>
            <a:pPr>
              <a:spcAft>
                <a:spcPts val="700"/>
              </a:spcAft>
              <a:defRPr sz="1800"/>
            </a:pPr>
            <a:r>
              <a:t>Record use cases for migration services.</a:t>
            </a:r>
          </a:p>
          <a:p>
            <a:pPr>
              <a:spcAft>
                <a:spcPts val="700"/>
              </a:spcAft>
              <a:defRPr sz="1800"/>
            </a:pPr>
            <a:r>
              <a:t>Review disaster recovery strategies: backup and restore, pilot light, warm standby, and multi-site active-active.</a:t>
            </a:r>
          </a:p>
          <a:p>
            <a:pPr>
              <a:spcAft>
                <a:spcPts val="700"/>
              </a:spcAft>
              <a:defRPr sz="1800"/>
            </a:pPr>
            <a:r>
              <a:t>Review sustainability practices such as right sizing, managed services, and efficient utilization.</a:t>
            </a:r>
          </a:p>
          <a:p>
            <a:pPr>
              <a:spcAft>
                <a:spcPts val="700"/>
              </a:spcAft>
              <a:defRPr sz="1800"/>
            </a:pPr>
            <a:r>
              <a:t>Complete a timed 30-question practice set from trainer-provided questions or AWS practice resources.</a:t>
            </a:r>
          </a:p>
          <a:p>
            <a:pPr>
              <a:spcAft>
                <a:spcPts val="700"/>
              </a:spcAft>
              <a:defRPr sz="1800"/>
            </a:pPr>
            <a:r>
              <a:t>Mark weak topics by domain: cloud concepts, security, services, billing, pricing, and support.</a:t>
            </a:r>
          </a:p>
          <a:p>
            <a:pPr>
              <a:spcAft>
                <a:spcPts val="700"/>
              </a:spcAft>
              <a:defRPr sz="1800"/>
            </a:pPr>
            <a:r>
              <a:t>Create a final revision plan.</a:t>
            </a:r>
          </a:p>
          <a:p>
            <a:pPr>
              <a:spcAft>
                <a:spcPts val="700"/>
              </a:spcAft>
              <a:defRPr sz="1800"/>
            </a:pPr>
            <a:r>
              <a:t>Save final notes.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Lab 8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Well-Architected review notes</a:t>
            </a:r>
          </a:p>
          <a:p>
            <a:pPr>
              <a:spcAft>
                <a:spcPts val="700"/>
              </a:spcAft>
              <a:defRPr sz="1800"/>
            </a:pPr>
            <a:r>
              <a:t>Simple workload service map</a:t>
            </a:r>
          </a:p>
          <a:p>
            <a:pPr>
              <a:spcAft>
                <a:spcPts val="700"/>
              </a:spcAft>
              <a:defRPr sz="1800"/>
            </a:pPr>
            <a:r>
              <a:t>Migration and disaster recovery notes</a:t>
            </a:r>
          </a:p>
          <a:p>
            <a:pPr>
              <a:spcAft>
                <a:spcPts val="700"/>
              </a:spcAft>
              <a:defRPr sz="1800"/>
            </a:pPr>
            <a:r>
              <a:t>Timed practice score</a:t>
            </a:r>
          </a:p>
          <a:p>
            <a:pPr>
              <a:spcAft>
                <a:spcPts val="700"/>
              </a:spcAft>
              <a:defRPr sz="1800"/>
            </a:pPr>
            <a:r>
              <a:t>Weak-topic revision plan</a:t>
            </a:r>
          </a:p>
          <a:p>
            <a:pPr>
              <a:spcAft>
                <a:spcPts val="700"/>
              </a:spcAft>
              <a:defRPr sz="1800"/>
            </a:pPr>
            <a:r>
              <a:t>Validation: You should be ready to explain AWS Cloud Practitioner concepts and choose appropriate AWS services f...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PRACTICE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Take the Online AWS CCP Practice Exams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416052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/>
            </a:pPr>
            <a:r>
              <a:t>Reinforce AWS Cloud Practitioner domains with realistic exam-style questions.</a:t>
            </a:r>
          </a:p>
          <a:p>
            <a:pPr>
              <a:spcAft>
                <a:spcPts val="700"/>
              </a:spcAft>
              <a:defRPr sz="1600"/>
            </a:pPr>
            <a:r>
              <a:t>Use practice sets to test cloud concepts, security, technology, billing and support.</a:t>
            </a:r>
          </a:p>
          <a:p>
            <a:pPr>
              <a:spcAft>
                <a:spcPts val="700"/>
              </a:spcAft>
              <a:defRPr sz="1600"/>
            </a:pPr>
            <a:r>
              <a:t>Review mode helps you revisit the concept after each question.</a:t>
            </a:r>
          </a:p>
          <a:p>
            <a:pPr>
              <a:spcAft>
                <a:spcPts val="700"/>
              </a:spcAft>
              <a:defRPr sz="1600"/>
            </a:pPr>
            <a:r>
              <a:t>Complete the practice questions from Tertiary Exams before the review session.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57800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61B26"/>
                </a:solidFill>
                <a:latin typeface="Arial"/>
              </a:rPr>
              <a:t>Access and practise at: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55955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325F0"/>
                </a:solidFill>
                <a:latin typeface="Arial"/>
              </a:rPr>
              <a:t>https://exams.tertiaryinfotech.com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1783080"/>
            <a:ext cx="5806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42432" y="1938528"/>
            <a:ext cx="256032" cy="256032"/>
          </a:xfrm>
          <a:prstGeom prst="ellipse">
            <a:avLst/>
          </a:prstGeom>
          <a:solidFill>
            <a:srgbClr val="232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1993392"/>
            <a:ext cx="14630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61B26"/>
                </a:solidFill>
                <a:latin typeface="Arial"/>
              </a:rPr>
              <a:t>Tertiary Exams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1993392"/>
            <a:ext cx="822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61B26"/>
                </a:solidFill>
                <a:latin typeface="Arial"/>
              </a:rPr>
              <a:t>Practice Exam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61320" y="1874519"/>
            <a:ext cx="530352" cy="256032"/>
          </a:xfrm>
          <a:prstGeom prst="roundRect">
            <a:avLst>
              <a:gd name="adj" fmla="val 6000"/>
            </a:avLst>
          </a:prstGeom>
          <a:solidFill>
            <a:srgbClr val="232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25328" y="1929384"/>
            <a:ext cx="411480" cy="73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50" b="1">
                <a:solidFill>
                  <a:srgbClr val="FFFFFF"/>
                </a:solidFill>
                <a:latin typeface="Arial"/>
              </a:rPr>
              <a:t>Get started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2852928"/>
            <a:ext cx="374903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61B26"/>
                </a:solidFill>
                <a:latin typeface="Arial"/>
              </a:rPr>
              <a:t>AWS Certified Cloud Practitioner Practice Exams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80" y="3246120"/>
            <a:ext cx="3566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5B6372"/>
                </a:solidFill>
                <a:latin typeface="Arial"/>
              </a:rPr>
              <a:t>Practice questions for cloud concepts, security, services, billing, pricing and support.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97880" y="3657600"/>
            <a:ext cx="987552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3776472"/>
            <a:ext cx="6858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>
                <a:solidFill>
                  <a:srgbClr val="5B6372"/>
                </a:solidFill>
                <a:latin typeface="Arial"/>
              </a:rPr>
              <a:t>MODE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950208"/>
            <a:ext cx="6858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61B26"/>
                </a:solidFill>
                <a:latin typeface="Arial"/>
              </a:rPr>
              <a:t>Practice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4096512"/>
            <a:ext cx="713232" cy="27432"/>
          </a:xfrm>
          <a:prstGeom prst="rect">
            <a:avLst/>
          </a:prstGeom>
          <a:solidFill>
            <a:srgbClr val="232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40880" y="3657600"/>
            <a:ext cx="987552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3776472"/>
            <a:ext cx="6858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>
                <a:solidFill>
                  <a:srgbClr val="5B6372"/>
                </a:solidFill>
                <a:latin typeface="Arial"/>
              </a:rPr>
              <a:t>FOCUS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3950208"/>
            <a:ext cx="6858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61B26"/>
                </a:solidFill>
                <a:latin typeface="Arial"/>
              </a:rPr>
              <a:t>CLF-C02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78040" y="4096512"/>
            <a:ext cx="713232" cy="27432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83879" y="3657600"/>
            <a:ext cx="987552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39" y="3776472"/>
            <a:ext cx="6858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>
                <a:solidFill>
                  <a:srgbClr val="5B6372"/>
                </a:solidFill>
                <a:latin typeface="Arial"/>
              </a:rPr>
              <a:t>ACCESS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39" y="3950208"/>
            <a:ext cx="6858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61B26"/>
                </a:solidFill>
                <a:latin typeface="Arial"/>
              </a:rPr>
              <a:t>Exam portal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21039" y="4096512"/>
            <a:ext cx="713232" cy="274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966960" y="3401568"/>
            <a:ext cx="1207008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04120" y="3593592"/>
            <a:ext cx="7315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>
                <a:solidFill>
                  <a:srgbClr val="5B6372"/>
                </a:solidFill>
                <a:latin typeface="Arial"/>
              </a:rPr>
              <a:t>PRACTICE DETAILS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04120" y="3813048"/>
            <a:ext cx="777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0">
                <a:solidFill>
                  <a:srgbClr val="161B26"/>
                </a:solidFill>
                <a:latin typeface="Arial"/>
              </a:rPr>
              <a:t>Exam code     CLF-C02
Use           Review
Domains       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97880" y="5166360"/>
            <a:ext cx="361188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0" y="5394960"/>
            <a:ext cx="1280160" cy="73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" b="0">
                <a:solidFill>
                  <a:srgbClr val="5B6372"/>
                </a:solidFill>
                <a:latin typeface="Arial"/>
              </a:rPr>
              <a:t>Cloud Concepts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69480" y="5422392"/>
            <a:ext cx="1828800" cy="36576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269480" y="5422392"/>
            <a:ext cx="1290917" cy="36576"/>
          </a:xfrm>
          <a:prstGeom prst="rect">
            <a:avLst/>
          </a:prstGeom>
          <a:solidFill>
            <a:srgbClr val="232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35040" y="5522976"/>
            <a:ext cx="1280160" cy="73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" b="0">
                <a:solidFill>
                  <a:srgbClr val="5B6372"/>
                </a:solidFill>
                <a:latin typeface="Arial"/>
              </a:rPr>
              <a:t>Security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69480" y="5550408"/>
            <a:ext cx="1828800" cy="36576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269480" y="5550408"/>
            <a:ext cx="1613647" cy="36576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35040" y="5650992"/>
            <a:ext cx="1280160" cy="73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" b="0">
                <a:solidFill>
                  <a:srgbClr val="5B6372"/>
                </a:solidFill>
                <a:latin typeface="Arial"/>
              </a:rPr>
              <a:t>Technology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69480" y="5678424"/>
            <a:ext cx="1828800" cy="36576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269480" y="5678424"/>
            <a:ext cx="182880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35040" y="5779008"/>
            <a:ext cx="1280160" cy="73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" b="0">
                <a:solidFill>
                  <a:srgbClr val="5B6372"/>
                </a:solidFill>
                <a:latin typeface="Arial"/>
              </a:rPr>
              <a:t>Billing &amp; Support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5806440"/>
            <a:ext cx="1828800" cy="36576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269480" y="5806440"/>
            <a:ext cx="645458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Final Submission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Lab notes or screenshots.</a:t>
            </a:r>
          </a:p>
          <a:p>
            <a:pPr>
              <a:spcAft>
                <a:spcPts val="700"/>
              </a:spcAft>
              <a:defRPr sz="1800"/>
            </a:pPr>
            <a:r>
              <a:t>Shared responsibility table.</a:t>
            </a:r>
          </a:p>
          <a:p>
            <a:pPr>
              <a:spcAft>
                <a:spcPts val="700"/>
              </a:spcAft>
              <a:defRPr sz="1800"/>
            </a:pPr>
            <a:r>
              <a:t>Compute, storage, database, networking and support comparison tables.</a:t>
            </a:r>
          </a:p>
          <a:p>
            <a:pPr>
              <a:spcAft>
                <a:spcPts val="700"/>
              </a:spcAft>
              <a:defRPr sz="1800"/>
            </a:pPr>
            <a:r>
              <a:t>Budget or Pricing Calculator evidence.</a:t>
            </a:r>
          </a:p>
          <a:p>
            <a:pPr>
              <a:spcAft>
                <a:spcPts val="700"/>
              </a:spcAft>
              <a:defRPr sz="1800"/>
            </a:pPr>
            <a:r>
              <a:t>Architecture review notes.</a:t>
            </a:r>
          </a:p>
          <a:p>
            <a:pPr>
              <a:spcAft>
                <a:spcPts val="700"/>
              </a:spcAft>
              <a:defRPr sz="1800"/>
            </a:pPr>
            <a:r>
              <a:t>Timed practice score and weak-topic revision plan.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Clean 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Terminate EC2 instances created for practice.</a:t>
            </a:r>
          </a:p>
          <a:p>
            <a:pPr>
              <a:spcAft>
                <a:spcPts val="700"/>
              </a:spcAft>
              <a:defRPr sz="1800"/>
            </a:pPr>
            <a:r>
              <a:t>Delete S3 buckets and objects created for labs.</a:t>
            </a:r>
          </a:p>
          <a:p>
            <a:pPr>
              <a:spcAft>
                <a:spcPts val="700"/>
              </a:spcAft>
              <a:defRPr sz="1800"/>
            </a:pPr>
            <a:r>
              <a:t>Delete temporary Lambda functions if created.</a:t>
            </a:r>
          </a:p>
          <a:p>
            <a:pPr>
              <a:spcAft>
                <a:spcPts val="700"/>
              </a:spcAft>
              <a:defRPr sz="1800"/>
            </a:pPr>
            <a:r>
              <a:t>Keep budget alerts active until cleanup is confirmed.</a:t>
            </a:r>
          </a:p>
          <a:p>
            <a:pPr>
              <a:spcAft>
                <a:spcPts val="700"/>
              </a:spcAft>
              <a:defRPr sz="1800"/>
            </a:pPr>
            <a:r>
              <a:t>Save notes for final revision.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25F0"/>
                </a:solidFill>
                <a:latin typeface="Arial"/>
              </a:rPr>
              <a:t>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Certification and TRAQOM Survey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25400"/>
          </a:xfrm>
          <a:prstGeom prst="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AWS Certified Cloud Practitioner Training | TGS-2023039183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B6372"/>
                </a:solidFill>
                <a:latin typeface="Arial"/>
              </a:rPr>
              <a:t>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3736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/>
            </a:pPr>
            <a:r>
              <a:t>Complete TRAQOM / course feedback.</a:t>
            </a:r>
          </a:p>
          <a:p>
            <a:pPr>
              <a:spcAft>
                <a:spcPts val="700"/>
              </a:spcAft>
              <a:defRPr sz="1800"/>
            </a:pPr>
            <a:r>
              <a:t>Confirm assessment records are submitted.</a:t>
            </a:r>
          </a:p>
          <a:p>
            <a:pPr>
              <a:spcAft>
                <a:spcPts val="700"/>
              </a:spcAft>
              <a:defRPr sz="1800"/>
            </a:pPr>
            <a:r>
              <a:t>Review weak topics by exam domain.</a:t>
            </a:r>
          </a:p>
          <a:p>
            <a:pPr>
              <a:spcAft>
                <a:spcPts val="700"/>
              </a:spcAft>
              <a:defRPr sz="1800"/>
            </a:pPr>
            <a:r>
              <a:t>Plan revision using the final checklist.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