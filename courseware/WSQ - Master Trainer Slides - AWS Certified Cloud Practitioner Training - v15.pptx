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513" r:id="rId264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Exam weight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Cloud concepts</c:v>
                </c:pt>
                <c:pt idx="1">
                  <c:v>Security</c:v>
                </c:pt>
                <c:pt idx="2">
                  <c:v>Technology/services</c:v>
                </c:pt>
                <c:pt idx="3">
                  <c:v>Billing/support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30</c:v>
                </c:pt>
                <c:pt idx="2">
                  <c:v>34</c:v>
                </c:pt>
                <c:pt idx="3">
                  <c:v>12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Steady-cost index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Backup/restore</c:v>
                </c:pt>
                <c:pt idx="1">
                  <c:v>Pilot light</c:v>
                </c:pt>
                <c:pt idx="2">
                  <c:v>Warm standby</c:v>
                </c:pt>
                <c:pt idx="3">
                  <c:v>Active-active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Recovery-speed index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Backup/restore</c:v>
                </c:pt>
                <c:pt idx="1">
                  <c:v>Pilot light</c:v>
                </c:pt>
                <c:pt idx="2">
                  <c:v>Warm standby</c:v>
                </c:pt>
                <c:pt idx="3">
                  <c:v>Active-active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Customer-operated layer index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EC2</c:v>
                </c:pt>
                <c:pt idx="1">
                  <c:v>RDS</c:v>
                </c:pt>
                <c:pt idx="2">
                  <c:v>S3</c:v>
                </c:pt>
                <c:pt idx="3">
                  <c:v>SaaS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Provider-operated layer index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EC2</c:v>
                </c:pt>
                <c:pt idx="1">
                  <c:v>RDS</c:v>
                </c:pt>
                <c:pt idx="2">
                  <c:v>S3</c:v>
                </c:pt>
                <c:pt idx="3">
                  <c:v>SaaS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operations index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EC2</c:v>
                </c:pt>
                <c:pt idx="1">
                  <c:v>ECS on EC2</c:v>
                </c:pt>
                <c:pt idx="2">
                  <c:v>Fargate</c:v>
                </c:pt>
                <c:pt idx="3">
                  <c:v>Lambda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unit-price index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On-Demand</c:v>
                </c:pt>
                <c:pt idx="1">
                  <c:v>1-year commitment</c:v>
                </c:pt>
                <c:pt idx="2">
                  <c:v>3-year commitment</c:v>
                </c:pt>
                <c:pt idx="3">
                  <c:v>Spot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70</c:v>
                </c:pt>
                <c:pt idx="2">
                  <c:v>50</c:v>
                </c:pt>
                <c:pt idx="3">
                  <c:v>30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ud-platform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"/>
            <a:ext cx="7616952" cy="6510528"/>
          </a:xfrm>
          <a:prstGeom prst="rect">
            <a:avLst/>
          </a:prstGeom>
        </p:spPr>
      </p:pic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0020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MASTER TRAINER SLIDES ·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47548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AWS Certified Cloud Practitioner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86200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AWS Cloud Practitioner · CLF-C02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WSQ Course Code: TGS-2023039183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0644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v15 · 25 August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Scan the SSG QR code and submit attendance.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after lunch when the trainer displays the code.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assessment-session attendance.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the submitted status before closing the page.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91440" cy="4160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8" y="2057400"/>
            <a:ext cx="1371600" cy="13716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2395728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703320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Appointed 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31596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General trainer profile · confirm before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00784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00784"/>
            <a:ext cx="82296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792224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QUALIFICATIONS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792224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certification or equivalent cloud-platform competence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88336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688336"/>
            <a:ext cx="8229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779776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779776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 architecture, security, operations and cost governance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75888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675888"/>
            <a:ext cx="82296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76732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PREPARATION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767328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v15 materials, lab controls and assessment boundaries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663440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663440"/>
            <a:ext cx="82296" cy="8412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75488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754880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approved class communication channel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91440" cy="4160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8" y="2057400"/>
            <a:ext cx="1371600" cy="13716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2395728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703320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31596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00784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00784"/>
            <a:ext cx="82296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792224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792224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Principal Trainer and courseware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88336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688336"/>
            <a:ext cx="8229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779776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779776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Cloud, AI, automation and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75888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675888"/>
            <a:ext cx="82296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76732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767328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Mechanism-led explanation with practical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663440"/>
            <a:ext cx="7196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663440"/>
            <a:ext cx="82296" cy="8412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75488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754880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 · 6100 0613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do you work on today?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cloud services have you seen?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decision do you want to make better?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cloud concern matters most to you?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Ask, test and explain your evidence.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Never share credentials or capture secrets.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only approved resources and clean up.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Respect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Return from breaks and complete attendance.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course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 concepts and global infrastructure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Security, identity and compliance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Technology and service selection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Billing, support, labs and assessment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CLOUD COMPUTING · ICT-DIT-3020-1.1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ability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A1-A2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up environment and run 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Detect issues from diagnostic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Resolve integration and implementation issues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A5-A6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Verify effectiveness and escalate unresolved issues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and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Security and quality standards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K2-K3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Diagnostic tools and installation tests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K4-K5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Integration techniques and database maintenance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LO1-LO3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Secure setup · diagnose/resolve · verify/escalate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EXAM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CLF-C02 exam domain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1719072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82127" y="1719072"/>
            <a:ext cx="36118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2971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Technology and services carries the largest single share, but security plus cloud concepts together account for more than half of scored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PowerPoint chart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LMS/TMS · VISUAL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the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65836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6583680" cy="4389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1847088"/>
            <a:ext cx="118872" cy="118872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184708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847088"/>
            <a:ext cx="118872" cy="118872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1810512"/>
            <a:ext cx="521208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847088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32304"/>
            <a:ext cx="5303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My Course · AWS Certified Cloud Practitioner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063240"/>
            <a:ext cx="544068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2186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20040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154680"/>
            <a:ext cx="8686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322783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813048"/>
            <a:ext cx="544068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5568" y="3904487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968496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3950208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3904487"/>
            <a:ext cx="8686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977639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562856"/>
            <a:ext cx="544068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5568" y="4654296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8" y="470001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Labs / Activities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4654296"/>
            <a:ext cx="8686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472744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9792" y="1700784"/>
            <a:ext cx="4014215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80960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1975104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1837944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Sign 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2103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registered learner email.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9792" y="2688336"/>
            <a:ext cx="4014215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80960" y="288950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2962656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282549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Open course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30906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Select the current class instance.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9792" y="3675888"/>
            <a:ext cx="4014215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0960" y="38770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3950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813048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Download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407822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PDF/LG/Labs; save locally.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79792" y="4663440"/>
            <a:ext cx="4014215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80960" y="48646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4937760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4" y="4800600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506577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Check filename and current version.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 / SAQ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 open-ended questions · K1-K5 · 60 minutes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 evidence tasks · A1-A6 · 60 minutes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Slides, Learner Guide and approved materials only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document and upload to LMS/TMS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before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photos or recording of scripts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Individual work; no discussion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Hard 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Black/blue pen; no correction tape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Stop when instructed; submit all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Funding and completion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Minimum 75% based on digital attendance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both instruments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 assessed as Competent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documented result/appeal process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DOMAIN 1 · EXAM WEIGHT 24%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Cloud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75887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Cloud value · global infrastructure · architecture · migration and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669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72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1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recovery trade-off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1719072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82127" y="1719072"/>
            <a:ext cx="36118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2971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standing capacity can shorten recovery, but only a tested design proves RPO/RTO.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PowerPoint chart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operating model: request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team declares capacity, region, security and service-level needs.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APIs create metered resources from a service catalogue.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Metrics, logs, policies and automation maintain desired state.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Usage, configuration and audit records prove outcome and cost.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Cloud operating model: request to evidence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team declares capacity, region, security and service-level needs.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APIs create metered resources from a service catalogue.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Metrics, logs, policies and automation maintain desired state.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Usage, configuration and audit records prove outcome and cost.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Treating cloud as rented servers preserves slow manual processes and weak cost visibility.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Cloud operating model: request to evidence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premises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Stable utilisation and owned facilities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Capital commitment and long lead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Variable demand and rapid experiments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Governance must keep pace with speed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Regulated or latency-bound estates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Integration and operating complexity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Treating cloud as rented servers preserves slow manual processes and weak cost visibility.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request can be traced to an API-created resource, control evidence and a metered line item.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Cloud operating model: request to evidence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Treating cloud as rented servers preserves slow manual processes and weak cost visibility.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Provision → Operate →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On premises · Cloud · Hybrid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request can be traced to an API-created resource, control evidence and a metered line item.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Six cloud advantages as operating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Observe demand instead of guessing peak capacity.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Scale resource quantity and type to current workload.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Provision and retire capacity through APIs and policies.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Optimise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aggregated scale, managed services and global reach.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Six cloud advantages as operating levers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Observe demand instead of guessing peak capacity.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Scale resource quantity and type to current workload.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Automate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Provision and retire capacity through APIs and policies.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Optimise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aggregated scale, managed services and global reach.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Elastic infrastructure without termination rules can scale cost as quickly as performance.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Six cloud advantages as operating levers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CAPEX to OPEX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Uncertain growth or short-lived workloads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Variable bills need budgets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Economies of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Commodity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 choice still matters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Global in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Distributed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residency can constrain region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Elastic infrastructure without termination rules can scale cost as quickly as performance.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Utilisation, deployment lead time and unit cost improve against an agreed baseline.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Six cloud advantages as operating levers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Elastic infrastructure without termination rules can scale cost as quickly as performance.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Match → Automate → Optimise.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CAPEX to OPEX · Economies of scale · Global in minutes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Utilisation, deployment lead time and unit cost improve against an agreed baseline.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models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data, latency, dependency and control requirements.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public cloud, private environment or connected hybrid.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Place identity, network and encryption controls at each boundary.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one monitoring and incident model across environments.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Deployment models and trust boundaries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Workload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Classify data, latency, dependency and control requirements.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public cloud, private environment or connected hybrid.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Place identity, network and encryption controls at each boundary.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one monitoring and incident model across environments.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hybrid design without explicit ownership leaves gaps between on-premises and AWS teams.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Deployment models and trust boundaries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Elastic digital workloads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Provider controls the physical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Dedicated control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Organisation carries capacity burden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Migration and regulated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Connectivity becomes critical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hybrid design without explicit ownership leaves gaps between on-premises and AWS teams.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component has an owner, connection path, data classification and recovery route.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Deployment models and trust boundaries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hybrid design without explicit ownership leaves gaps between on-premises and AWS teams.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Boundary → Control → Operate.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Public cloud · Private cloud · Hybrid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Every component has an owner, connection path, data classification and recovery route.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IaaS, PaaS, serverless and SaaS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the abstraction level that preserves required control.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Move undifferentiated infrastructure operation to AWS or a SaaS provider.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responsibility for identities, data and workload settings.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 security, availability, performance and cost at the chosen layer.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IaaS, PaaS, serverless and SaaS responsibility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abstraction level that preserves required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Move undifferentiated infrastructure operation to AWS or a SaaS provider.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Configure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Retain responsibility for identities, data and workload settings.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security, availability, performance and cost at the chosen layer.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Choosing a managed service does not transfer responsibility for access, data or configuration.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IaaS, PaaS, serverless and SaaS responsibility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Custom OS or legacy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Patch and scale more layers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Managed/serverless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Focus on application and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Accept service 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Consume a complete 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Least infrastructure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Choosing a managed service does not transfer responsibility for access, data or configuration.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team can name which layers AWS manages and which controls remain with the customer.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IaaS, PaaS, serverless and SaaS responsibility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Choosing a managed service does not transfer responsibility for access, data or configuration.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Delegate → Configure → Validate.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IaaS · Managed/serverless · SaaS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team can name which layers AWS manages and which controls remain with the customer.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Global infrastructure: Region to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Independent geographic area selected for residency, latency and service availability.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 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Isolated infrastructure location connected by low-latency networking.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Replicate or distribute state so one AZ failure does not stop service.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Cache, route or protect traffic closer to users through global edge services.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Global infrastructure: Region to edge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Independent geographic area selected for residency, latency and service availability.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Availability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Isolated infrastructure location connected by low-latency networking.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Multi-AZ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Replicate or distribute state so one AZ failure does not stop service.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Cache, route or protect traffic closer to users through global edge services.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resource being in a Region does not automatically make it resilient across AZs.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Global infrastructure: Region to edge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Single 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Development or non-critical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One facility fault can interrupt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Production availability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cost and replication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Regional disaster or global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consistency and failover complexity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resource being in a Region does not automatically make it resilient across AZs.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Failure-domain tests show the required endpoint and data remain available.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Global infrastructure: Region to edge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resource being in a Region does not automatically make it resilient across AZs.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Availability Zone → Multi-AZ → Edge.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Single AZ · Multi-AZ · Multi-Region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Failure-domain tests show the required endpoint and data remain available.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 selection is a four-constraint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residency, sovereignty and contractual restrictions.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Proximity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 user and dependency latency from candidate Regions.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required services, instance families and quotas are available.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Economics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service price, data transfer and operating constraints.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Region selection is a four-constraint decision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Identify residency, sovereignty and contractual restrictions.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Proximity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Measure user and dependency latency from candidate Regions.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Confirm required services, instance families and quotas are available.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Economics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Compare service price, data transfer and operating constraints.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Selecting a Region from price alone can violate residency or increase network transfer cost.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Region selection is a four-constraint decision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Regulated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limit the candidate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Latency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Interactive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Edge services may alter the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Batch or portable workloads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ignore resilience and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Selecting a Region from price alone can violate residency or increase network transfer cost.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architecture record documents all four constraints and the chosen Region.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Region selection is a four-constraint decision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Selecting a Region from price alone can violate residency or increase network transfer cost.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Proximity → Features → Economics.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Compliance first · Latency first · Cost first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architecture record documents all four constraints and the chosen Region.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Scalability, elasticity and availability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Metrics expose demand, saturation, errors and latency.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Increase capacity vertically or horizontally.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and remove capacity automatically with demand.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Resilient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Distribute capacity and state across failure domains.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Scalability, elasticity and availability are different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Metrics expose demand, saturation, errors and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Increase capacity vertically or horizontally.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Elastic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and remove capacity automatically with demand.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Resilient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Distribute capacity and state across failure domains.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Auto Scaling in one AZ improves capacity but does not remove the AZ as a single failure domain.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Scalability, elasticity and availability are different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Vertical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Fast lift for a single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Has a ceiling and restart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Stateless or partitionable workloads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Needs load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Availability requirement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not itself handle traffic growth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 Scaling in one AZ improves capacity but does not remove the AZ as a single failure domain.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Load, fault and recovery tests independently prove scaling and availability objectives.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Scalability, elasticity and availability are different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Auto Scaling in one AZ improves capacity but does not remove the AZ as a single failure domain.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Scale → Elastic → Resilient.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Vertical scale · Horizontal scale · Multi-AZ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Load, fault and recovery tests independently prove scaling and availability objectives.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7 Rs: portfolio to wave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Inventory applications, data, dependencies and business criticality.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Assign retain, retire, relocate, rehost, replatform, repurchase or refactor.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Group applications into dependency-aware migration waves.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 functionality, performance, security, cost and rollback.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7 Rs: portfolio to wave plan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Inventory applications, data, dependencies and business criticality.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Assign retain, retire, relocate, rehost, replatform, repurchase or refactor.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Group applications into dependency-aware migration waves.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functionality, performance, security, cost and rollback.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Migrating a database before its dependent application or network path creates avoidable outage.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7 Rs: portfolio to wave plan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Speed and minimal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Carries legacy inefficiency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Moderate managed-service 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Needs targeted change and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Refactor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Maximum cloud-native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Highest time and delivery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Migrating a database before its dependent application or network path creates avoidable outage.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wave has dependency evidence, acceptance tests and a rehearsed rollback.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7 Rs: portfolio to wave plan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Migrating a database before its dependent application or network path creates avoidable outage.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Classify → Sequence → Validate.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Rehost · Replatform · Refactor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Each wave has dependency evidence, acceptance tests and a rehearsed rollback.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Adoption Framework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measurable outcomes and value cases.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People/Governance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Prepare skills, ownership, risk and decision rights.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Platform/Security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the landing zone, identity and technical controls.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services with monitoring, support and continual improvement.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Adoption Framework perspectives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Define measurable outcomes and value cases.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People/Governance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Prepare skills, ownership, risk and decision rights.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Platform/Security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the landing zone, identity and technical controls.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Run services with monitoring, support and continual improvement.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platform launch without people, governance and operations creates an unmanaged cloud estate.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Cloud Adoption Framework perspectives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Agree transformation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technology-only goals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capability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cross-functional ownership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Launch/Scale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Deliver pilots then 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 must drive repeatability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platform launch without people, governance and operations creates an unmanaged cloud estate.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Capabilities, owners and evidence are mapped across all six perspectives.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Cloud Adoption Framework perspectives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platform launch without people, governance and operations creates an unmanaged cloud estate.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People/Governance → Platform/Security → Operations.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Envision · Align · Launch/Scale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Capabilities, owners and evidence are mapped across all six perspectives.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Well-Architected: six-pillar 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Capture workload, users, data, dependencies and objectives.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Evaluate operational excellence, security, reliability, performance, cost and sustainability.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Rank high-risk issues by consequence and effort.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Implement, verify and record the next review date.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Well-Architected: six-pillar review loop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Capture workload, users, data, dependencies and objectives.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Evaluate operational excellence, security, reliability, performance, cost and sustainability.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Rank high-risk issues by consequence and effort.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Implement, verify and record the next review date.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Treating pillars as a one-time checklist leaves new risks undiscovered as the workload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Well-Architected: six-pillar review loop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and improve the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Operations as code and observability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 and recover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Security and reliability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resources well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Performance, cost and sustainability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Treating pillars as a one-time checklist leaves new risks undiscovered as the workload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review records risks, owners, actions and verification evidence for all six pillars.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Well-Architected: six-pillar review loop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Treating pillars as a one-time checklist leaves new risks undiscovered as the workload changes.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Review → Prioritise → Improve.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Operational · Risk · Efficiency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review records risks, owners, actions and verification evidence for all six pillars.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1 · LAB 1 · 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Account, Region and Cost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project team needs a controlled AWS starting point before any workload resources are created.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Confirm account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Protect identity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Choose Region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Map infrastructure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Create cost guardrail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Account safety checklist, Region decision record, global-infrastructure sketch and budget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AWS Management Console, IAM, Billing and Cost Management, AWS Budgets · Detailed procedure: Learner Guide, Lab 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1 · LAB 1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Secure Account, Region and Cost Baseline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LO1 / A1 - establish a safe AWS learning environment and region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Account safety checklist, Region decision record, global-infrastructure sketch and budget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No credentials are captured; root use is avoided; the Region decision covers all four constraints; a budget threshold and recipient are visible.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Management Console, IAM, Billing and Cost Management, AWS Budgets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RECAP · 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1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request can be traced to an API-created resource, control evidence and a metered line item.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advantages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Utilisation, deployment lead time and unit cost improve against an agreed baseline.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component has an owner, connection path, data classification and recovery route.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abstraction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team can name which layers AWS manages and which controls remain with the customer.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30368" y="1298448"/>
            <a:ext cx="1737360" cy="1737360"/>
          </a:xfrm>
          <a:prstGeom prst="ellipse">
            <a:avLst/>
          </a:prstGeom>
          <a:solidFill>
            <a:srgbClr val="F5F8FC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30368" y="177393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PAUSE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42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24528"/>
            <a:ext cx="12191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DOMAIN 2 · EXAM WEIGHT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Security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75887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Shared responsibility · identity · data protection · detection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669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72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GENERATED VISUAL · ANNOTATED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responsibility and resilient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pic>
        <p:nvPicPr>
          <p:cNvPr id="10" name="Picture 9" descr="shared-responsibility-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6629400" cy="4315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79792" y="1700784"/>
            <a:ext cx="4014215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79792" y="1700784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181051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Provider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09397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Physical facilities, hardware and managed-service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24912"/>
            <a:ext cx="4014215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9792" y="2724912"/>
            <a:ext cx="82296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283464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Customer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31181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Identity, data, workload and configuration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749040"/>
            <a:ext cx="4014215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79792" y="3749040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385876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Fault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1422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Multi-AZ design contains one infrastructure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9792" y="4773168"/>
            <a:ext cx="4014215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9792" y="4773168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488289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51663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Policies, logs and tests prove the customer controls.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Responsibility shifts with abstraction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1719072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82127" y="1719072"/>
            <a:ext cx="36118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2971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Managed services move more infrastructure operation to the provider; customer responsibility for identities, data and configuration remains.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PowerPoint chart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responsibility changes by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Secures facilities, hardware, networking and managed service infrastructure.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Secures data, identities, configurations and workload code.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boundary moves as EC2, managed databases and SaaS delegate more layers.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Policies, configurations, logs and tests prove customer controls.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Shared responsibility changes by service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Secures facilities, hardware, networking and managed service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Secures data, identities, configurations and workload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Service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boundary moves as EC2, managed databases and SaaS delegate more layers.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Policies, configurations, logs and tests prove customer controls.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Assuming AWS configures least privilege or data classification for the customer causes exposure.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Shared responsibility changes by service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Customer needs OS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Customer patches guest 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Managed database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Customer controls accounts and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Managed object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Customer controls access and data lifecycle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Assuming AWS configures least privilege or data classification for the customer causes exposure.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responsibility matrix names each control owner for the selected service.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Shared responsibility changes by service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Assuming AWS configures least privilege or data classification for the customer causes exposure.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Customer → Service model →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EC2 · RDS · S3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responsibility matrix names each control owner for the selected service.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identities: human, workload and federation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Verify a human or workload identity.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Evaluate identity policies, resource policies, boundaries and organisation controls.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 short-lived credentials or a service role.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principal, action, resource, decision and source.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IAM identities: human, workload and federation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Verify a human or workload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Evaluate identity policies, resource policies, boundaries and organisation controls.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Issue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Provide short-lived credentials or a service role.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Record the principal, action, resource, decision and source.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Embedding long-lived access keys in code bypasses rotation and increases blast radius.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IAM identities: human, workload and federation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IAM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Exceptional long-lived human/API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Credential rotation burden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IAM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service or workload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correct trust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Federation/Identity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Workforce single sign-on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Depends on identity-provider governance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Embedding long-lived access keys in code bypasses rotation and increases blast radius.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CloudTrail shows the expected assumed-role principal and no static key is stored in the workload.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IAM identities: human, workload and federation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Embedding long-lived access keys in code bypasses rotation and increases blast radius.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Authorise → Issue → Audit.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IAM user · IAM role · Federation/Identity Center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CloudTrail shows the expected assumed-role principal and no static key is stored in the workload.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policy evaluation is an explicit decision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Gather applicable identity, resource, boundary, session and SCP statements.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action, resource, principal and condition.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Any applicable explicit Deny overrides an Allow.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only when an applicable Allow remains and no Deny applies.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IAM policy evaluation is an explicit decision engine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Gather applicable identity, resource, boundary, session and SCP statements.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Compare action, resource, principal and condition.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 applicable explicit Deny overrides an Allow.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Allow only when an applicable Allow remains and no Deny applies.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An Allow in one policy cannot override an explicit Deny in another applicable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IAM policy evaluation is an explicit decision engine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Permissions for a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Moves with the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Who can access one 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Principal is part of the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Permissions 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Maximum delegated 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not grant permissions alone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Allow in one policy cannot override an explicit Deny in another applicable policy.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IAM Policy Simulator or Access Analyzer explains the expected decision before deployment.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IAM policy evaluation is an explicit decision engine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An Allow in one policy cannot override an explicit Deny in another applicable policy.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Match → Deny → Decide.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Identity policy · Resource policy · Permissions boundary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IAM Policy Simulator or Access Analyzer explains the expected decision before deployment.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MFA, temporary credentials and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Strong sign-in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 MFA and protect the root user.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Short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STS-issued temporary credentials instead of static keys.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Narrow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 actions, resources and conditions to the task.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access analysis and last-accessed data to remove excess.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MFA, temporary credentials and least privilege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Strong sign-in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Require MFA and protect the root user.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Short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STS-issued temporary credentials instead of static keys.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Narrow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Limit actions, resources and conditions to the task.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access analysis and last-accessed data to remove excess.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MFA on an administrator does not make an over-broad policy safe.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MFA, temporary credentials and least privilege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Human sign-in and sensitive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not replace authorisation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Workloads and cross-account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Trust policy is 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Analyzer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 external or unused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Findings require owner 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MFA on an administrator does not make an over-broad policy safe.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Tests show the required action succeeds and an out-of-scope action is denied.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MFA, temporary credentials and least privilege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MFA on an administrator does not make an over-broad policy safe.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Short sessions → Narrow scope → Review.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MFA · Role session · Access Analyzer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Tests show the required action succeeds and an out-of-scope action is denied.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Organisations, SCPs and Control Tower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Organise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Group accounts by environment, workload or control requirement.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SCPs set maximum permissions across organisation units.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Control Tower creates governed accounts from a landing zone.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 rules and central logging reveal drift.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Organisations, SCPs and Control Tower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Organise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Group accounts by environment, workload or control requirement.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SCPs set maximum permissions across organisation units.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 Tower creates governed accounts from a landing zone.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Config rules and central logging reveal drift.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Attaching a restrictive SCP without testing can block required operations across many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Organisations, SCPs and Control Tower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Organizations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Multi-account billing and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account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Prevent prohibited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not grant permissions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 Tower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Opinionated landing-zone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Customisation must respect controls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Attaching a restrictive SCP without testing can block required operations across many accounts.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sandbox account proves required actions work while prohibited actions remain denied.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Organisations, SCPs and Control Tower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Attaching a restrictive SCP without testing can block required operations across many accounts.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Guardrail → Provision → Detect.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AWS Organizations · SCP · Control Tower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sandbox account proves required actions work while prohibited actions remain denied.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Encryption: data keys, KMS and CloudHSM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KMS key policy and IAM policy permit a cryptographic operation.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KMS creates or decrypts a data key under a customer or AWS managed key.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Encrypt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service encrypts data with the plaintext data key.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Only encrypted data and encrypted data key persist; usage is logged.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Encryption: data keys, KMS and CloudHSM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KMS key policy and IAM policy permit a cryptographic operation.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KMS creates or decrypts a data key under a customer or AWS managed key.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Encrypt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service encrypts data with the plaintext data key.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Only encrypted data and encrypted data key persist; usage is logged.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Encrypting data at rest while exposing the KMS key through a broad policy defeats the control.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Encryption: data keys, KMS and CloudHSM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owned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Default service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Least customer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managed KMS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Control rotation, policy and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Management responsibility and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Dedicated HSM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complexity and operating burden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Encrypting data at rest while exposing the KMS key through a broad policy defeats the control.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CloudTrail records approved key usage and an unauthorised principal receives AccessDenied.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Encryption: data keys, KMS and CloudHSM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Encrypting data at rest while exposing the KMS key through a broad policy defeats the control.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Generate → Encrypt → Store.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AWS owned key · Customer managed KMS key · CloudHSM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CloudTrail records approved key usage and an unauthorised principal receives AccessDenied.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Network security controls operate at different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VPC routes select the next hop for a destination.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Filter subnet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Network ACLs apply stateless allow/deny rules.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Filter resource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Security groups apply stateful allow rules to interfaces.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WAF and Shield filter application attacks and DDoS traffic.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Network security controls operate at different layers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VPC routes select the next hop for a destination.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Filter subnet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Network ACLs apply stateless allow/deny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Filter resource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Security groups apply stateful allow rules to interfaces.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Protect 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WAF and Shield filter application attacks and DDoS traffic.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Opening 0.0.0.0/0 on an administrative port bypasses network segmentation intent.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Network security controls operate at different layers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Instance/ENI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Stateful and allow-only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ACL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Subnet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Stateless and ordered allow/deny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WAF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HTTP/S application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rule tuning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Opening 0.0.0.0/0 on an administrative port bypasses network segmentation intent.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Reachability Analyzer, flow logs and controlled connection tests match the approved path.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Network security controls operate at different layers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Opening 0.0.0.0/0 on an administrative port bypasses network segmentation intent.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Filter subnet → Filter resource → Protect edge.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Security group · Network ACL · AWS WAF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Reachability Analyzer, flow logs and controlled connection tests match the approved path.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services: signal to 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 activity, network, DNS, workload and vulnerability telemetry is ingested.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Managed rules, threat intelligence and behaviour models identify risk.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finding carries severity, resource, evidence and recommended action.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EventBridge, Security Hub or an incident process routes remediation.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Detection services: signal to finding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Cloud activity, network, DNS, workload and vulnerability telemetry is ingested.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Managed rules, threat intelligence and behaviour models identify 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finding carries severity, resource, evidence and recommended action.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EventBridge, Security Hub or an incident process routes remediation.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Enabling a service without routing or owning findings produces detection without response.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Detection services: signal to finding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GuardDuty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Threat detection from activity and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Finding is not automatic containment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Workload and image vulnerabilities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Coverage depends on supported resources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Macie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Sensitive data discovery in 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Discovery scope and cost need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Enabling a service without routing or owning findings produces detection without response.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test finding reaches the correct owner with severity, resource and response timestamp.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Detection services: signal to finding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Enabling a service without routing or owning findings produces detection without response.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Analyse → Prioritise → Respond.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GuardDuty · Inspector · Macie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test finding reaches the correct owner with severity, resource and response timestamp.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Audit, configuration and compliance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Records API activity: who, what, when, source and target.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Records resource configuration state and evaluates rules.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Provides AWS compliance reports and agreements.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Collects evidence against selected control frameworks.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Audit, configuration and compliance evidence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CloudTrail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Records API activity: who, what, when, source and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Records resource configuration state and evaluates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Provides AWS compliance reports and agreements.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Audit 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Collects evidence against selected control frameworks.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CloudWatch metrics cannot substitute for an API audit trail or configuration history.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Audit, configuration and compliance evidence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Recent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Limited history and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Trail/Lake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Durable organisation-wide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Storage and query design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Detect configuration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Remediation is a separate 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CloudWatch metrics cannot substitute for an API audit trail or configuration history.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investigator can identify the principal, change, resource state and control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Audit, configuration and compliance evidence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CloudWatch metrics cannot substitute for an API audit trail or configuration history.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Config → Artifact → Audit Manager.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Event history · Trail/Lake · Config rule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An investigator can identify the principal, change, resource state and control result.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S3 data protection is a layered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Block Public Access prevents common public-policy and ACL exposure paths.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Bucket and identity policies restrict principals, actions and conditions.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Encrypt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Default encryption protects objects at rest; TLS protects transit.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Versioning, Object Lock or replication supports restoration and retention.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S3 data protection is a layered control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Block Public Access prevents common public-policy and ACL exposure paths.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Bucket and identity policies restrict principals, actions and conditions.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Encrypt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Default encryption protects objects at rest; TLS protects transit.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Versioning, Object Lock or replication supports restoration and retention.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Encryption does not prevent an authorised-but-over-broad principal from reading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S3 data protection is a layered control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Recover overwrite or 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Adds storage versions and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WORM retention requirement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governance/compliance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Separate failure domain or 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Permissions and transfer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Encryption does not prevent an authorised-but-over-broad principal from reading data.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Public access checks pass, approved access works, denied access fails, and a prior version restores.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S3 data protection is a layered control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Encryption does not prevent an authorised-but-over-broad principal from reading data.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Authorise → Encrypt → Recover.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Versioning · Object Lock · Replication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Public access checks pass, approved access works, denied access fails, and a prior version restores.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Secrets, credentials and parameter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Store a secret or parameter outside application code.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workload role receives narrow read or decrypt permission.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application obtains the value at runtime over a protected channel.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managed or application workflow replaces credentials and verifies use.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Secrets, credentials and parameter storage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a secret or parameter outside application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workload role receives narrow read or decrypt permission.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application obtains the value at runtime over a protected channel.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managed or application workflow replaces credentials and verifies use.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secret copied into a container image remains exposed after the source value rotates.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Secrets, credentials and parameter storage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Secrets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Credentials needing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Per-secret and API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Parameter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Configuration and secure strings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Different feature and throughput tiers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 variable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Non-secret runtime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Can leak through diagnostics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secret copied into a container image remains exposed after the source value rotates.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Repository scanning is clean and the workload can rotate credentials without a rebuild.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Secrets, credentials and parameter storage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secret copied into a container image remains exposed after the source value rotates.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Authorise → Retrieve → Rotate.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Secrets Manager · Parameter Store · Environment variable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Repository scanning is clean and the workload can rotate credentials without a rebuild.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programmes do not secure a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legal, regulatory and contractual obligations into controls.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AWS Artifact and service compliance scope as provider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Configure identities, data, logging and retention for the workload.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Collect tests, logs, approvals and exceptions for audit.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Compliance programmes do not secure a workload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Translate legal, regulatory and contractual obligations into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AWS Artifact and service compliance scope as provider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Customer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Configure identities, data, logging and retention for the workload.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Collect tests, logs, approvals and exceptions for audit.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Listing AWS certifications without proving customer-side controls creates a false compliance claim.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Compliance programmes do not secure a workload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 reports and agreements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Not workload configuration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Automated evidence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Framework tailoring still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 conformance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Configuration control 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not cover every process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Listing AWS certifications without proving customer-side controls creates a false compliance claim.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requirement maps to an owner, implementation, evidence source and review frequency.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Compliance programmes do not secure a workload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Listing AWS certifications without proving customer-side controls creates a false compliance claim.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AWS assurance → Customer control →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AWS Artifact · Audit Manager · Config conformance pack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Every requirement maps to an owner, implementation, evidence source and review frequency.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Zero trust and least privilege reduce blast radius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Authenticate and authorise every request using identity and context.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the smallest action and resource set for the shortest time.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Separate accounts, networks, workloads and data by trust boundary.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decisions and detect deviations continuously.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Zero trust and least privilege reduce blast radius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Authenticate and authorise every request using identity and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Minimise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Grant the smallest action and resource set for the shortest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Separate accounts, networks, workloads and data by trust boundary.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Log decisions and detect deviations continuously.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flat network with administrator credentials makes one compromise an estate-wide event.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Zero trust and least privilege reduce blast radius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Account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Strong workload/environment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More cross-account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 traffic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Identity controls remain necessary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Constrain direct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complexity can hide errors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flat network with administrator credentials makes one compromise an estate-wide event.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compromised test identity cannot reach unrelated accounts, subnets or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Zero trust and least privilege reduce blast radius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flat network with administrator credentials makes one compromise an estate-wide event.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Minimise → Segment → Observe.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Account boundary · Network segment · Resource policy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compromised test identity cannot reach unrelated accounts, subnets or data.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response: detect to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finding, alarm or report triggers triage.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 credentials, traffic or resource access while preserving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Eradicate/Recover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cause, restore trusted state and validate service.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timeline, control gaps and preventive actions.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Incident response: detect to improve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finding, alarm or report triggers triage.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Limit credentials, traffic or resource access while preserving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Eradicate/Recover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Remove cause, restore trusted state and validate service.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Record timeline, control gaps and preventive actions.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Deleting a compromised resource before preserving evidence can destroy the incident timeline.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Incident response: detect to improve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Repeatable low-risk containment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Guard against false positives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High-impact isolation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Adds response latency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Forensics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pre-built access and logging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Deleting a compromised resource before preserving evidence can destroy the incident timeline.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game day proves alert routing, role access, evidence capture, recovery and lessons learned.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Incident response: detect to improve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Deleting a compromised resource before preserving evidence can destroy the incident timeline.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Contain → Eradicate/Recover → Improve.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Automation · Human approval · Forensics account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game day proves alert routing, role access, evidence capture, recovery and lessons learned.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 patterns trade RTO for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 data and configuration in a separate recovery path.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Pre-provision identity, networking and automation.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 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Restore or activate capacity when recovery criteria are met.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 data integrity, endpoint switch, performance and return.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Disaster recovery patterns trade RTO for cost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Protect data and configuration in a separate recovery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Pre-provision identity, networking and automation.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Fail 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Restore or activate capacity when recovery criteria are met.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data integrity, endpoint switch, performance and return.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backup that has never been restored is not proven recovery capability.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Disaster recovery patterns trade RTO for cost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Backup/restore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Longer RTO and lowest steady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Capacity is created after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Pilot light/warm standby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Moderate 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Some duplicate environment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Multi-site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Shortest RTO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Highest cost and consistency complexity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backup that has never been restored is not proven recovery capability.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timed exercise meets defined RPO/RTO and records data and endpoint validation.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2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Disaster recovery patterns trade RTO for cost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backup that has never been restored is not proven recovery capability.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Prepare → Fail over → Validate.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Backup/restore · Pilot light/warm standby · Multi-site active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timed exercise meets defined RPO/RTO and records data and endpoint validation.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LAB 2 · 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Policy and CloudTrail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support analyst must inspect S3 metadata but must not delete objects or change bucket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 job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Write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Simulate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Perform safe 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Trace event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Least-privilege policy excerpt, allow/deny test matrix and one CloudTrail event evidence record.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IAM, IAM Policy Simulator or Access Analyzer, Amazon S3, AWS CloudTrail · Detailed procedure: Learner Guide, Lab 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2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Policy and CloudTrail Evidence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LO1 / K1 / A1 - configure and test least-privilege access with an audit trail.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Least-privilege policy excerpt, allow/deny test matrix and one CloudTrail event evidence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Required reads are allowed, prohibited writes are denied, and CloudTrail identifies the expected assumed principal and action.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IAM, IAM Policy Simulator or Access Analyzer, Amazon S3, AWS CloudTrail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RECAP · 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2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responsibility matrix names each control owner for the selected service.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CloudTrail shows the expected assumed-role principal and no static key is stored in the workload.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IAM Policy Simulator or Access Analyzer explains the expected decision before deployment.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Tests show the required action succeeds and an out-of-scope action is denied.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DOMAIN 3 · EXAM WEIGHT 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Cloud Technology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75887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Compute · storage · databases · networking · integration · operations ·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669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72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3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Compute operations responsibility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1719072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82127" y="1719072"/>
            <a:ext cx="36118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2971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Higher abstraction reduces server operations, while runtime, identity, data and application controls still require ownership.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PowerPoint chart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Compute selection: control, unit and duration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runtime, duration, traffic shape, state and portability.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VM, container, function or managed platform abstraction.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capacity, concurrency and failure-domain behaviour.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Attach identity, network, logging, patching and cost controls.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Compute selection: control, unit and duration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Workload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Classify runtime, duration, traffic shape, state and portability.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VM, container, function or managed platform abstraction.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Define capacity, concurrency and failure-domain behaviour.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Attach identity, network, logging, patching and cost controls.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Selecting compute by familiarity can create unnecessary operating work or hard service limits.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Compute selection: control, unit and duration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OS control or long-running general 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Patch and capacity responsibility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Event-driven short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Runtime and duration 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Fargate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Containers without server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Task sizing and service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Selecting compute by familiarity can create unnecessary operating work or hard service limits.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decision record ties workload attributes to the selected execution model.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selection: control, unit and duration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Selecting compute by familiarity can create unnecessary operating work or hard service limits.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Control → Scale → Operate.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EC2 · Lambda · Fargate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decision record ties workload attributes to the selected execution model.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EC2 instance lifecycle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AMI defines the boot volume and software baseline.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Instance type, network, role, storage and user data create the VM.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Status checks, metrics and logs expose health and performance.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Stop, terminate or replace while handling attached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EC2 instance lifecycle and evidence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AMI defines the boot volume and software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Instance type, network, role, storage and user data create the VM.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Status checks, metrics and logs expose health and performance.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Stop, terminate or replace while handling attached state.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Passing the EC2 system check does not prove the application endpoint is healthy.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EC2 instance lifecycle and evidence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General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Balanced CPU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Not optimal for specialised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Compute/memory/storage optimised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Dominant resource requirement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unit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Accelerated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GPU or specialised hardware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Availability and cost constraints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Passing the EC2 system check does not prove the application endpoint is healthy.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infrastructure status checks and an application-level test pass.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EC2 instance lifecycle and evidence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Passing the EC2 system check does not prove the application endpoint is healthy.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Launch → Run → Retire.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General purpose · Compute/memory/storage optimised · Accelerated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Both infrastructure status checks and an application-level test pass.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balancing and Auto Scaling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CloudWatch metrics describe demand and target health.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Scaling policy compares a metric to target or schedule.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 Scaling changes desired capacity across AZs.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load balancer sends traffic only to healthy targets.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Load balancing and Auto Scaling feedback loop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CloudWatch metrics describe demand and target health.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Scaling policy compares a metric to target or schedule.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Auto Scaling changes desired capacity across AZs.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Distribute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load balancer sends traffic only to healthy targets.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Scaling on CPU when the bottleneck is queue depth can add cost without reducing latency.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Load balancing and Auto Scaling feedback loop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Maintain a business metric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Needs representative metric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Respond differently by breach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More thresholds to tune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Known demand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Cannot react to surprises alone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Scaling on CPU when the bottleneck is queue depth can add cost without reducing latency.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load test shows desired capacity changes and unhealthy targets stop receiving traffic.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Load balancing and Auto Scaling feedback loop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Scaling on CPU when the bottleneck is queue depth can add cost without reducing latency.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Decide → Act → Distribute.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Target tracking · Step scaling · Scheduled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load test shows desired capacity changes and unhealthy targets stop receiving traffic.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Lambda event flow and concurrency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service invokes synchronously, asynchronously or through a poller.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Lambda prepares an execution environment with role and configuration.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handler processes the event within memory, timeout and concurrency limits.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Response, retry, destination, logs and metrics capture outcome.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Lambda event flow and concurrency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service invokes synchronously, asynchronously or through a poller.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Lambda prepares an execution environment with role and configuration.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Invoke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handler processes the event within memory, timeout and concurrency limits.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Response, retry, destination, logs and metrics capture outcome.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non-idempotent handler can duplicate side effects when an event is retried.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Lambda event flow and concurrency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Caller needs immediate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Caller observes function 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Asynchronous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 delivery with 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Design idempotency and failure destination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Stream/queue poller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Ordered or buffered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Batch and concurrency tuning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non-idempotent handler can duplicate side effects when an event is retried.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replayed event produces one logical result and failure routing is observable.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Lambda event flow and concurrency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non-idempotent handler can duplicate side effects when an event is retried.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Environment → Invoke → Result.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Synchronous · Asynchronous · Stream/queue poller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replayed event produces one logical result and failure routing is observable.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ECS, EKS and Fargate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Package application and dependencies in a container image.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ECS or Kubernetes places tasks/pods on capacity.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EC2 or Fargate supplies compute; services maintain desired replicas.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balancers, service discovery and IAM connect traffic and dependencies.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Containers: ECS, EKS and Fargate boundaries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Package application and dependencies in a container image.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ECS or Kubernetes places tasks/pods on capacity.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EC2 or Fargate supplies compute; services maintain desired replicas.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Load balancers, service discovery and IAM connect traffic and 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container image can be portable while its identity, networking and storage configuration is not.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Containers: ECS, EKS and Fargate boundaries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AWS-native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Less Kubernetes portability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Kubernetes API and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Cluster and Kubernetes complexity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Fargate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Serverless task/pod capacity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Per-task constraints and pricing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container image can be portable while its identity, networking and storage configuration is not.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deployment test proves image pull, task identity, health checks and service routing.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Containers: ECS, EKS and Fargate boundaries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container image can be portable while its identity, networking and storage configuration is not.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Schedule → Run → Expose.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ECS · EKS · Fargate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deployment test proves image pull, task identity, health checks and service routing.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S3 object lifecycle and access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principal signs an API request for a bucket and object key.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IAM, bucket policy, access point and public controls evaluate access.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S3 persists an object version with metadata and encryption.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Rules transition or expire versions by age and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S3 object lifecycle and access path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principal signs an API request for a bucket and object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IAM, bucket policy, access point and public controls evaluate access.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S3 persists an object version with metadata and encryption.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Rules transition or expire versions by age and state.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lifecycle rule that expires current versions can remove data earlier than business policy allows.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S3 object lifecycle and access path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Frequent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Highest storage rate among general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Intelligent-Tiering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Unknown/changing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Monitoring/automation fee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Glacier classes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Archive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Retrieval time and charges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lifecycle rule that expires current versions can remove data earlier than business policy allows.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versioned test object transitions or expires exactly as the rule preview specifies.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S3 object lifecycle and access path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lifecycle rule that expires current versions can remove data earlier than business policy allows.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Authorise → Store → Lifecycle.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Standard · Intelligent-Tiering · Glacier classes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versioned test object transitions or expires exactly as the rule preview specifies.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Block, file and object storage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Determine block device, shared file or object API semantics.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Bind EBS to compute, mount EFS/FSx, or call S3 through APIs.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snapshots, backup, replication, lifecycle and encryption.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Observe throughput, IOPS, latency, capacity and access frequency.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Block, file and object storage contracts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Access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Determine block device, shared file or object API semantics.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Attach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Bind EBS to compute, mount EFS/FSx, or call S3 through APIs.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snapshots, backup, replication, lifecycle and encryption.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Observe throughput, IOPS, latency, capacity and access frequency.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Choosing storage by capacity alone ignores latency, protocol and sharing requirements.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Block, file and object storage contracts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Persistent block for EC2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AZ-scoped volume attachment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EFS/FSx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Shared managed file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Protocol and throughput choices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Durable object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Not a mounted block device contract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Choosing storage by capacity alone ignores latency, protocol and sharing requirements.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workload performs the required read/write pattern and recovery test within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Block, file and object storage contracts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Choosing storage by capacity alone ignores latency, protocol and sharing requirements.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Attach → Protect → Measure.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EBS · EFS/FSx · S3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workload performs the required read/write pattern and recovery test within targets.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RDS availability, replicas and backups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 connects to the database endpoint and commits to the primary.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Multi-AZ synchronously maintains a standby for availability.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replicas asynchronously scale read traffic where supported.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Automated backups and snapshots restore data to a chosen point.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RDS availability, replicas and backups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Application connects to the database endpoint and commits to the primary.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Replicate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Multi-AZ synchronously maintains a standby for availability.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Read replicas asynchronously scale read traffic where supported.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Automated backups and snapshots restore data to a chosen point.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read replica is not a drop-in replacement for Multi-AZ high availability.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RDS availability, replicas and backups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Availability and automatic 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Not read scaling by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replica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scale or regional 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Replication lag and promotion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Snapshot/PITR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Recovery time and retained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read replica is not a drop-in replacement for Multi-AZ high availability.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failover test retains the expected endpoint and a restore test verifies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RDS availability, replicas and backups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read replica is not a drop-in replacement for Multi-AZ high availability.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Replicate → Read → Recover.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Multi-AZ · Read replica · Snapshot/PITR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failover test retains the expected endpoint and a restore test verifies data.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Aurora separates compute from distributed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Applications connect through writer or reader endpoints.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DB instances execute SQL and can scale independently.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distributed cluster volume replicates across AZs.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Failover promotes capacity and storage continues serving the cluster.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Aurora separates compute from distributed storage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Applications connect through writer or reader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DB instances execute SQL and can scale independently.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distributed cluster volume replicates across AZs.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Failover promotes capacity and storage continues serving the cluster.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Adding readers improves read capacity but does not fix inefficient write queries.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Aurora separates compute from distributed storage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Provisioned Aurora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Predictable database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instance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Aurora Serverless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Variable or intermittent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Capacity range and cost tuning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Global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Cross-Region reads/recovery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Replication and failover complexity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Adding readers improves read capacity but does not fix inefficient write queries.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Reader traffic distributes correctly and a controlled failover meets the acceptance time.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Aurora separates compute from distributed storage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Adding readers improves read capacity but does not fix inefficient write queries.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Compute → Storage → Recover.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Provisioned Aurora · Aurora Serverless v2 · Global Database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Reader traffic distributes correctly and a controlled failover meets the acceptance time.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DynamoDB partition and consistency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partition key hashes an item to a storage partition; sort key groups related items.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Get, put, query or scan consumes capacity and returns item data.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On-demand or provisioned capacity handles throughput.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Backups, point-in-time recovery, streams and global tables manage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DynamoDB partition and consistency model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partition key hashes an item to a storage partition; sort key groups related items.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Get, put, query or scan consumes capacity and returns item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On-demand or provisioned capacity handles throughput.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Backups, point-in-time recovery, streams and global tables manage state.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low-cardinality partition key can create a hot partition despite high table capacity.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DynamoDB partition and consistency model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Known partition key and optional sort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Efficient targeted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every item/filter 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 cost and latency at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Global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Multi-Region active-active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Conflict and replication considerations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low-cardinality partition key can create a hot partition despite high table capacity.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tests show even key distribution, acceptable latency and no unexpected throttling.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DynamoDB partition and consistency model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low-cardinality partition key can create a hot partition despite high table capacity.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Request → Scale → Protect.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Query · Scan · Global table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Load tests show even key distribution, acceptable latency and no unexpected throttling.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NATIVE TOPOLOGY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VPC packet path is a sequence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874519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47088"/>
            <a:ext cx="1874519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52728" y="2139696"/>
            <a:ext cx="685800" cy="6858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322576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44368"/>
            <a:ext cx="15453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SOURCE / ENI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63824"/>
            <a:ext cx="15453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61B26"/>
                </a:solidFill>
                <a:latin typeface="Arial"/>
              </a:rPr>
              <a:t>Private address
workload identity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2633472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9504" y="1847088"/>
            <a:ext cx="1874519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847088"/>
            <a:ext cx="1874519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83864" y="2139696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322576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2944368"/>
            <a:ext cx="15453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SUBNET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3163824"/>
            <a:ext cx="15453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61B26"/>
                </a:solidFill>
                <a:latin typeface="Arial"/>
              </a:rPr>
              <a:t>Longest-prefix match
selects next hop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26334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20640" y="1847088"/>
            <a:ext cx="1874519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847088"/>
            <a:ext cx="1874519" cy="10058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5000" y="2139696"/>
            <a:ext cx="685800" cy="685800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322576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2944368"/>
            <a:ext cx="15453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TRAFFIC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3163824"/>
            <a:ext cx="15453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61B26"/>
                </a:solidFill>
                <a:latin typeface="Arial"/>
              </a:rPr>
              <a:t>Security group: stateful
NACL: stateless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2633472"/>
            <a:ext cx="356616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51775" y="1847088"/>
            <a:ext cx="1874519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847088"/>
            <a:ext cx="1874519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46135" y="2139696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5" y="2322576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7" y="2944368"/>
            <a:ext cx="15453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NEXT 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7" y="3163824"/>
            <a:ext cx="15453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61B26"/>
                </a:solidFill>
                <a:latin typeface="Arial"/>
              </a:rPr>
              <a:t>NAT · IGW
VPC endpoint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2633472"/>
            <a:ext cx="35661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82912" y="1847088"/>
            <a:ext cx="1874519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847088"/>
            <a:ext cx="1874519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77272" y="2139696"/>
            <a:ext cx="685800" cy="6858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7272" y="2322576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7504" y="2944368"/>
            <a:ext cx="15453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RETURN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7504" y="3163824"/>
            <a:ext cx="15453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161B26"/>
                </a:solidFill>
                <a:latin typeface="Arial"/>
              </a:rPr>
              <a:t>Reverse route +
filter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059936"/>
            <a:ext cx="3392424" cy="10972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059936"/>
            <a:ext cx="82296" cy="1097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261104"/>
            <a:ext cx="2852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ROUTE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590288"/>
            <a:ext cx="2852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Destination CIDR → target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06824" y="4059936"/>
            <a:ext cx="3392424" cy="10972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06824" y="4059936"/>
            <a:ext cx="82296" cy="10972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62856" y="4261104"/>
            <a:ext cx="2852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FLOW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2856" y="4590288"/>
            <a:ext cx="2852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ACCEPT / REJECT + 5-tuple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4059936"/>
            <a:ext cx="3392424" cy="10972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80" y="4059936"/>
            <a:ext cx="82296" cy="10972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4261104"/>
            <a:ext cx="2852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PATH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4590288"/>
            <a:ext cx="2852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Reachability result + failing component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5413248"/>
            <a:ext cx="10835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5504688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A successful request requires a valid forward path and a valid return path across every routing and filtering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VPC packet path is a sequence of decisions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ENI sends a packet from a subnet with security-group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subnet route table selects local, gateway, NAT, transit or other target.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Network ACL and destination security group evaluate the packet.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Stateful and stateless controls govern the response path.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NAT gateway in a private subnet without a route to an internet gateway cannot provide egress.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VPC packet path is a sequence of decisions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Internet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Public IPv4/IPv6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still needs public addressing and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NAT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Private IPv4 egress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unsolicited inbound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VPC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Private service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 and endpoint policy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NAT gateway in a private subnet without a route to an internet gateway cannot provide egress.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Route tables, Reachability Analyzer and flow logs agree with the intended path.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VPC packet path is a sequence of decisions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NAT gateway in a private subnet without a route to an internet gateway cannot provide egress.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Route → Filter → Return.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Internet gateway · NAT gateway · VPC endpoint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Route tables, Reachability Analyzer and flow logs agree with the intended path.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Hybrid connectivity: encryption, bandwidth and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Premises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On-premises routes identify AWS network destinations.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Site-to-Site VPN, Direct Connect or Transit Gateway carries traffic.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VPC/transit route tables choose workload destinations.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BGP state, tunnel metrics, flow logs and application tests prove health.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Hybrid connectivity: encryption, bandwidth and path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Premises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On-premises routes identify AWS network destinations.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Attachment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Site-to-Site VPN, Direct Connect or Transit Gateway carries traffic.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VPC/transit route tables choose workload destinations.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BGP state, tunnel metrics, flow logs and application tests prove health.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Direct Connect is private connectivity but does not encrypt traffic by default.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Hybrid connectivity: encryption, bandwidth and path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Site-to-Site VPN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Fast encrypted setup over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Variable internet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Direct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Dedicated predictable 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Lead time and separate encryption need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Transit Gateway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Hub for many networks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Routing design and attachment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Direct Connect is private connectivity but does not encrypt traffic by default.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primary and backup paths are tested for routing, encryption and application reachability.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Hybrid connectivity: encryption, bandwidth and path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Direct Connect is private connectivity but does not encrypt traffic by default.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Attachment → AWS routing → Observe.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Site-to-Site VPN · Direct Connect · Transit Gateway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Both primary and backup paths are tested for routing, encryption and application reachability.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Global delivery: DNS, CDN and accelerator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Route 53 answers DNS using record and routing policy.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Enter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CloudFront or Global Accelerator accepts traffic near the user.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Route/cache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service selects a healthy endpoint or cached object.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Origin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ALB, API, S3 or other origin serves misses and dynamic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Global delivery: DNS, CDN and accelerator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Route 53 answers DNS using record and routing policy.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Enter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CloudFront or Global Accelerator accepts traffic near the user.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Route/cache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service selects a healthy endpoint or cached object.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Origin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ALB, API, S3 or other origin serves misses and dynamic work.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Caching personalised content under a shared key can expose one user's response to another.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Global delivery: DNS, CDN and accelerator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Route 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DNS routing and health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DNS caching affects failover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 content caching and edge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Cache behaviour must match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Global Accelerator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anycast IPs for TCP/UDP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content cache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Caching personalised content under a shared key can expose one user's response to another.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Cache headers, health checks and endpoint failover behave as designed.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Global delivery: DNS, CDN and accelerator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Caching personalised content under a shared key can expose one user's response to another.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Enter edge → Route/cache → Origin.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Route 53 · CloudFront · Global Accelerator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Cache headers, health checks and endpoint failover behave as designed.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Messaging decouples rate, time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producer emits a message or event without calling every consumer.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Buffer/route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SQS stores, SNS fans out, or EventBridge matches rules.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Workers process independently with retry and concurrency controls.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Dead-letter queues and replay preserve failed work for diagnosis.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Messaging decouples rate, time and failure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producer emits a message or event without calling every consumer.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Buffer/route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SQS stores, SNS fans out, or EventBridge matches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Consume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Workers process independently with retry and concurrency controls.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Dead-letter queues and replay preserve failed work for diagnosis.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Retries without idempotency can duplicate business side effects.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Messaging decouples rate, time and failure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SQS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Durable work queue and back-pressure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Consumer manages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fan-out to subscribers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queue semantics by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EventBridge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Rule-based event routing and SaaS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Schema and rule governance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Retries without idempotency can duplicate business side effects.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poison message reaches the DLQ and a replay produces one accepted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Messaging decouples rate, time and failure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Retries without idempotency can duplicate business side effects.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Buffer/route → Consume → Recover.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SQS · SNS · EventBridge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poison message reaches the DLQ and a replay produces one accepted outcome.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Observability: metric, log and trace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Numerical time series exposes rates, saturation, errors and duration.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Structured events explain state and context.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X-Ray/OpenTelemetry follows one request across services.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Dashboards, alarms and automation route the evidence.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Observability: metric, log and trace evidence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Numerical time series exposes rates, saturation, errors and duration.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events explain state and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X-Ray/OpenTelemetry follows one request across services.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Dashboards, alarms and automation route the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healthy average can hide a small but severe tail-latency or error population.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Observability: metric, log and trace evidence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CloudWatch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Trend and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Low detail without dimensions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CloudWatch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Event-level diagnosis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Needs structure and retention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X-Ray 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Distributed latency/error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Sampling and instrumentation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healthy average can hide a small but severe tail-latency or error population.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alarm links to logs and a trace that identify the failing dependency.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Observability: metric, log and trace evidence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healthy average can hide a small but severe tail-latency or error population.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Log → Trace → Act.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CloudWatch metric · CloudWatch Logs · X-Ray trace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An alarm links to logs and a trace that identify the failing dependency.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Analytics services form a data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Kinesis, S3 or application sources capture events and files.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Catalogue/transform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Glue discovers schema and runs ETL.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Athena queries S3; Redshift serves warehouse analytics.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QuickSight publishes governed dashboards and insights.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Analytics services form a data path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Kinesis, S3 or application sources capture events and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Catalogue/transform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Glue discovers schema and runs ETL.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Athena queries S3; Redshift serves warehouse analytics.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Present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QuickSight publishes governed dashboards and insights.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Querying unpartitioned text files in Athena can multiply scan cost and latency.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Analytics services form a data path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Athena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 hoc SQL on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Pay by scanned data; partition and format matter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Repeated warehouse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Model, load and capacity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Kinesis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Streaming ingestion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Shard/throughput and consumer design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Querying unpartitioned text files in Athena can multiply scan cost and latency.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Partition pruning and columnar format reduce scanned bytes for the same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Analytics services form a data path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Querying unpartitioned text files in Athena can multiply scan cost and latency.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Catalogue/transform → Query → Present.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Athena · Redshift · Kinesis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Partition pruning and columnar format reduce scanned bytes for the same result.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AI services: prebuilt API, foundation model or custom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Text, image, audio or tabular data enters a governed endpoint.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managed AI API, Bedrock foundation model or SageMaker model performs inference.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Identity, data handling, guardrails and monitoring constrain use.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 validates, records and applies the result.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AI services: prebuilt API, foundation model or custom ML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Text, image, audio or tabular data enters a governed endpoint.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managed AI API, Bedrock foundation model or SageMaker model performs inference.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Identity, data handling, guardrails and monitoring constrain use.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Application validates, records and applies the result.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Sending sensitive data to a model without classification and access controls creates privacy risk.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AI services: prebuilt API, foundation model or custom ML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service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Common vision/language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Fixed capability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Amazon Bedrock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Generative AI with foundation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Prompt, safety and cost governance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SageMaker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Build/train/deploy custom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science and lifecycle complexity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Sending sensitive data to a model without classification and access controls creates privacy risk.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 prompts or samples meet quality, safety, latency and cost acceptance criteria.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AI services: prebuilt API, foundation model or custom ML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Sending sensitive data to a model without classification and access controls creates privacy risk.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Model → Control → Output.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AI service API · Amazon Bedrock · SageMaker 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Test prompts or samples meet quality, safety, latency and cost acceptance criteria.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services move different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 and data dependencies establish the move unit.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MGN, DMS, DataSync, Transfer Family or Snow moves server/data state.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Cut 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Synchronise final changes and redirect users or applications.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data, service health, performance and rollback readiness.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services move different things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Application and data dependencies establish the move unit.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MGN, DMS, DataSync, Transfer Family or Snow moves server/data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Cut 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Synchronise final changes and redirect users or applications.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Compare data, service health, performance and rollback readiness.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successful byte transfer does not prove application consistency or business readiness.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services move different things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 Migration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Lift servers to EC2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Post-launch optimisation remains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Database Migration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Continuous database 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Schema conversion may be separate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DataSync/Snow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Online/offline bulk data move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Bandwidth, device and cutover 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successful byte transfer does not prove application consistency or business readiness.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Checksums, row counts, endpoint tests and stakeholder sign-off pass before cutover closes.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Migration services move different things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successful byte transfer does not prove application consistency or business readiness.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Transfer → Cut over → Validate.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Application Migration Service · Database Migration Service · DataSync/Snow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Checksums, row counts, endpoint tests and stakeholder sign-off pass before cutover closes.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LAB 3 · 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Compute Selection and Health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small web endpoint has a steady baseline, occasional bursts and a requirement for repeatable health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Classify workload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Select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Map controls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Interpret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EC2/Lambda/Fargate decision matrix, architecture sketch, health-test plan and optional sandbox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Amazon EC2, AWS Lambda, Amazon ECS/Fargate, Elastic Load Balancing, Amazon CloudWatch · Detailed procedure: Learner Guide, Lab 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3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Compute Selection and Health Test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LO1 / K3 / A2 - select a compute model and test infrastructure plus application health.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EC2/Lambda/Fargate decision matrix, architecture sketch, health-test plan and optional sandbox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The selected compute model follows workload attributes, both health layers have acceptance criteria, and any created resource is terminated.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Amazon EC2, AWS Lambda, Amazon ECS/Fargate, Elastic Load Balancing, Amazon CloudWatch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LAB 4 · 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S3 Protection, Versioning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team needs a private evidence bucket with recoverable versions and a documented retention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Create private bucket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Upload versions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Test access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Model lifecycle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Recover and clean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Protected bucket configuration, two object versions, lifecycle rule analysis and cleanup record.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Amazon S3, IAM Access Analyzer for S3, AWS KMS (conceptual where not authorised) · Detailed procedure: Learner Guide, Lab 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4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S3 Protection, Versioning and Lifecycle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LO1 / K1 / A2 - implement and verify object-storage protection and lifecycle behaviour.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Protected bucket configuration, two object versions, lifecycle rule analysis and cleanup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Public access is blocked, two versions are visible, the prior content is recoverable, lifecycle timing is correct and cleanup is complete.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Amazon S3, IAM Access Analyzer for S3, AWS KMS (conceptual where not authorised)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LAB 5 · 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Database Availability and Service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retail application needs relational transactions with AZ failover plus a high-scale session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Select services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Design availability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 tests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Record recovery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RDS Multi-AZ test plan, replica/backup comparison and DynamoDB key design.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Amazon RDS, Amazon Aurora, Amazon DynamoDB, AWS Backup (review) · Detailed procedure: Learner Guide, Lab 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5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Database Availability and Service Selection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LO2 / K5 / A2 - distinguish relational availability, read scale, recovery and NoSQL access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RDS Multi-AZ test plan, replica/backup comparison and DynamoDB key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Multi-AZ is not confused with read scaling, restore is independently tested, and the DynamoDB key supports targeted Query operations.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Amazon RDS, Amazon Aurora, Amazon DynamoDB, AWS Backup (review)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LAB 6 · 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VPC Traffic Path and Connectivity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private application can reach its database but cannot download updates or receive traffic from the public load balancer.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Draw source/destination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Check route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Check filters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logs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Annotated VPC path, route/security/NACL decision table, diagnosis evidence and corrected design.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Amazon VPC, Security Groups, Network ACLs, NAT Gateway, Internet Gateway, VPC Flow Logs · Detailed procedure: Learner Guide, Lab 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6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VPC Traffic Path and Connectivity Diagnosis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LO2 / K2 / K4 / A3-A4 - trace and resolve a blocked cloud network path.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Annotated VPC path, route/security/NACL decision table, diagnosis evidence and corrected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The diagram shows both directions, the root cause is supported by route/filter/log evidence, and the narrow correction passes the retest.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Amazon VPC, Security Groups, Network ACLs, NAT Gateway, Internet Gateway, VPC Flow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RECAP · 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3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decision record ties workload attributes to the selected execution model.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EC2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infrastructure status checks and an application-level test pass.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load test shows desired capacity changes and unhealthy targets stop receiving traffic.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Lambda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replayed event produces one logical result and failure routing is observable.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30368" y="1298448"/>
            <a:ext cx="1737360" cy="1737360"/>
          </a:xfrm>
          <a:prstGeom prst="ellipse">
            <a:avLst/>
          </a:prstGeom>
          <a:solidFill>
            <a:srgbClr val="F5F8FC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30368" y="177393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PAUSE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42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24528"/>
            <a:ext cx="12191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DOMAIN 4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Billing, Pricing, and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75887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Pricing models · cost tools · purchasing · support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669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7200" b="1">
                <a:solidFill>
                  <a:srgbClr val="D7E0EA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4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compute purchase price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1719072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82127" y="1719072"/>
            <a:ext cx="36118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2971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Discounts trade flexibility for commitment or interruption tolerance. Values are illustrative teaching indices, not quotes.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PowerPoint chart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AWS pricing is a measured-resource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Service meters compute time, requests, storage, throughput or users.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Region, tier, purchase option and service feature select a unit price.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Adjust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Free Tier, volume tiers, Savings Plans or reservations reduce eligible usage.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Accounts, tags and services aggregate line items for allocation.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AWS pricing is a measured-resource equation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Service meters compute time, requests, storage, throughput or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Region, tier, purchase option and service feature select a unit price.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Adjust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Tier, volume tiers, Savings Plans or reservations reduce eligible usage.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Bill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Accounts, tags and services aggregate line items for allocation.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Assuming every service is charged per hour causes inaccurate estimates and budgets.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AWS pricing is a measured-resource equation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 as you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Variable or uncertain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Unit price can be higher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Save when committed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Stable baseline 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Commitment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 less with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 aggregate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Tier rules differ by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Assuming every service is charged per hour causes inaccurate estimates and budgets.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estimate names every meter, quantity, rate assumption and commitment.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AWS pricing is a measured-resource equation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Assuming every service is charged per hour causes inaccurate estimates and budgets.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Rate → Adjust → Bill.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Pay as you go · Save when committed · Pay less with scale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estimate names every meter, quantity, rate assumption and commitment.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Cost tools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Pricing Calculator models a planned architecture before deployment.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Bills and Cost Explorer show actual and forecast spend.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Budgets and Cost Anomaly Detection notify on thresholds or unusual patterns.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Allocate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Tags, accounts, cost categories and CUR assign cost to owners.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Cost tools answer different questions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Pricing Calculator models a planned architecture before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Bills and Cost Explorer show actual and forecast spend.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Budgets and Cost Anomaly Detection notify on thresholds or unusual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Allocate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Tags, accounts, cost categories and CUR assign cost to owners.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budget does not prevent spend unless an approved budget action is configured.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Cost tools answer different questions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Pricing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might this design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Model quality depends on 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did we spend and forecast?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latency and granularity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When should we notify or act?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Alert is not automatic optimisation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budget does not prevent spend unless an approved budget action is configured.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test threshold reaches the correct owner and the cost driver is identifiable.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Cost tools answer different questions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budget does not prevent spend unless an approved budget action is configured.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Observe → Control → Allocate.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Pricing Calculator · Cost Explorer · Budgets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test threshold reaches the correct owner and the cost driver is identifiable.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Compute purchase options match interruption and commitment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Separate steady baseline, variable demand and interruptible work.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Savings Plans or reservations to eligible baseline usage.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On-Demand for uncommitted variable capacity.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Interrupt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Spot only when the workload tolerates termination.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purchase options match interruption and commitment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Separate steady baseline, variable demand and interruptible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Savings Plans or reservations to eligible baseline usage.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Burst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On-Demand for uncommitted variable capacity.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Interrupt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Spot only when the workload tolerates termination.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Running a stateful single-instance database on Spot without recovery design risks data loss and outage.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purchase options match interruption and commitment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Short or unpredictable workloads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Highest flexibility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Savings Plans/RI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Predictable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Commitment and coverage management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Fault-tolerant flexible 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Can be interrupted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Running a stateful single-instance database on Spot without recovery design risks data loss and outage.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Coverage, utilisation and interruption recovery are measured against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purchase options match interruption and commitment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Running a stateful single-instance database on Spot without recovery design risks data loss and outage.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Commit → Burst → Interrupt.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On-Demand · Savings Plans/RI · Spot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Coverage, utilisation and interruption recovery are measured against targets.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Tagging turns spend into accountable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required keys such as owner, application, environment and cost centre.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Provisioning policy and automation reject or remediate missing tags.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Enable cost allocation tags for billing reports.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Dashboards and owners reconcile unallocated and anomalous spend.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Tagging turns spend into accountable units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required keys such as owner, application, environment and cost centre.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Enforce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Provisioning policy and automation reject or remediate missing tags.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Enable cost allocation tags for billing reports.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Dashboards and owners reconcile unallocated and anomalous spend.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tag that is present but not activated as a cost allocation tag will not appear as expected in billing analysis.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Tagging turns spend into accountable units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Strong cost and security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More account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Flexible resource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Coverage and spelling can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Business rule over billing dimensions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Requires rule maintenance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tag that is present but not activated as a cost allocation tag will not appear as expected in billing analysis.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Unallocated cost stays below target and every tag value maps to a current owner.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Tagging turns spend into accountable units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tag that is present but not activated as a cost allocation tag will not appear as expected in billing analysis.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Enforce → Activate → Review.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Account · Tag · Cost category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Unallocated cost stays below target and every tag value maps to a current owner.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path depends on impact and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Monitoring or a user identifies an issue and captures evidence.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service, resource, region, time, impact and severity.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documentation, re:Post, Support Center or account team.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 actions, validate service and record learning.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Support path depends on impact and plan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Monitoring or a user identifies an issue and captures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Set service, resource, region, time, impact and severity.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documentation, re:Post, Support Center or account team.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Track actions, validate service and record learning.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Opening a case without resource IDs, timestamps and evidence delays diagnosis.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Support path depends on impact and plan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Basic/self-service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Documentation, account and billing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technical support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Support+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Production technical support needs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 cost and severity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Enterprise tiers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Mission-critical proactive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commitment and governance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Opening a case without resource IDs, timestamps and evidence delays diagnosis.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escalation package contains impact, timeline, diagnostics, reproduction and business priority.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Support path depends on impact and plan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Opening a case without resource IDs, timestamps and evidence delays diagnosis.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Classify → Route → Resolve.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Basic/self-service · Business Support+ · Enterprise tiers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escalation package contains impact, timeline, diagnostics, reproduction and business priority.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AWS Health and Trusted Advisor have different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Health reports service events and account-specific impacts.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Trusted Advisor checks cost, performance, security, resilience and limits.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team accepts, remediates or documents each recommendation/event.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Metrics and configuration evidence prove the action.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AWS Health and Trusted Advisor have different jobs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AWS Health reports service events and account-specific impacts.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Trusted Advisor checks cost, performance, security, resilience and limits.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team accepts, remediates or documents each recommendation/event.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Metrics and configuration evidence prove the action.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green public status page does not rule out an account-specific configuration issue.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AWS Health and Trusted Advisor have different jobs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Public regional service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Not account-specific diagnosis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Health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Account events and planned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Needs notification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Trusted Advisor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Best-practice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Available checks depend on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green public status page does not rule out an account-specific configuration issue.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Health events and advisory findings route to owners with documented disposition.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AWS Health and Trusted Advisor have different jobs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green public status page does not rule out an account-specific configuration issue.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Advisor → Own → Verify.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Service Health · AWS Health Dashboard · Trusted Advisor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Health events and advisory findings route to owners with documented disposition.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quotas are an availability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quotas on every resource in the scaling path.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Observe current usage and forecast peak demand.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Increase adjustable quotas before the required date.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and failover exercises confirm capacity within approved limits.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Service quotas are an availability control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Identify quotas on every resource in the scaling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Observe current usage and forecast peak demand.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Increase adjustable quotas before the required date.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Load and failover exercises confirm capacity within approved limits.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Auto Scaling cannot add capacity after a dependent service quota is exhausted.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Service quotas are an availability control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Adjustable quota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 through Service Quotas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Lead time and regional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Redesign or shard workload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Cannot request increase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Financial 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Different from technical quota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 Scaling cannot add capacity after a dependent service quota is exhausted.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Peak and failover capacity remain below quota with an agreed safety margin.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Service quotas are an availability control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Auto Scaling cannot add capacity after a dependent service quota is exhausted.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Measure → Request → Test.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Adjustable quota · Fixed limit · Budget limit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Peak and failover capacity remain below quota with an agreed safety margin.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FinOps loop: visibility to verified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Allocate cost and expose unit economics to owners.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Right-size, schedule, delete waste and apply commitments.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Embed budgets, policies and review cadence into delivery.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performance and reliability remain within targets.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CONTROL + STATE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FinOps loop: visibility to verified optimisation · technical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17556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INPUT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0025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7739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Allocate cost and expose unit economics to owners.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7739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025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Declared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786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786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27340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26700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29169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6883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Right-size, schedule, delete waste and apply commitments.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883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Approved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4930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7216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5844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STATE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8313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6027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Embed budgets, policies and review cadence into delivery.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6027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831335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Runtime or resource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407408"/>
            <a:ext cx="10835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636008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498848"/>
            <a:ext cx="13898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OBSERVABLE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74573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4517136"/>
            <a:ext cx="553212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Confirm performance and reliability remain within targets.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517136"/>
            <a:ext cx="23408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47457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Audit, metric or test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835640" cy="438912"/>
          </a:xfrm>
          <a:prstGeom prst="rect">
            <a:avLst/>
          </a:prstGeom>
          <a:solidFill>
            <a:srgbClr val="FEF7E8"/>
          </a:solidFill>
          <a:ln w="12700">
            <a:solidFill>
              <a:srgbClr val="FDD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7725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CONTROL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45896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161B26"/>
                </a:solidFill>
                <a:latin typeface="Arial"/>
              </a:rPr>
              <a:t>A cost reduction that breaches reliability or performance targets is not an optimisation.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FAILURE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FinOps loop: visibility to verified optimisation · decision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Right-size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Persistent underutilisation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Validate performance after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700784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Non-production idle periods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stopping required dependencies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700784"/>
            <a:ext cx="3392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700784"/>
            <a:ext cx="3392424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5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19110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84708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248716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USE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2770632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Stable verified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355848"/>
            <a:ext cx="2852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639312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cover temporary demand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87952"/>
            <a:ext cx="5257800" cy="16276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187952"/>
            <a:ext cx="5440680" cy="1627632"/>
          </a:xfrm>
          <a:prstGeom prst="rect">
            <a:avLst/>
          </a:prstGeom>
          <a:solidFill>
            <a:srgbClr val="E8F7EE"/>
          </a:solidFill>
          <a:ln w="12700">
            <a:solidFill>
              <a:srgbClr val="BBE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FAILURE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36592"/>
            <a:ext cx="4754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cost reduction that breaches reliability or performance targets is not an optimisation.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VERIFICATION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36592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Unit cost falls while availability, latency and error objectives remain satisfied.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DIAGNOSE + DECIDE +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FinOps loop: visibility to verified optimisation · failure-to-evidence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920240"/>
            <a:ext cx="749808" cy="74980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C2413A"/>
                </a:solidFill>
                <a:latin typeface="Arial"/>
              </a:rPr>
              <a:t>1 ·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 cost reduction that breaches reliability or performance targets is not an optimisation.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547872"/>
            <a:ext cx="356617" cy="0"/>
          </a:xfrm>
          <a:prstGeom prst="line">
            <a:avLst/>
          </a:prstGeom>
          <a:ln w="2540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168249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192024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2 · NARROW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Trace Optimise → Operate → Verify.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3" y="3547872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0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68249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87568" y="192024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3 · COMPARE HYPOTHESES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Right-size · Schedule ·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59" y="3547872"/>
            <a:ext cx="356616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51775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168249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3" y="192024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3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4 · INSPECT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5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Unit cost falls while availability, latency and error objectives remain satisfied.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26294" y="3547872"/>
            <a:ext cx="35661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82912" y="1682496"/>
            <a:ext cx="1874519" cy="35478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68249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92024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121408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283464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6845B"/>
                </a:solidFill>
                <a:latin typeface="Arial"/>
              </a:rPr>
              <a:t>5 · ACCEPT /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346704"/>
            <a:ext cx="1508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Apply the smallest justified control change. Retest the expected outcome; escalate when the same evidence still fails.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94960"/>
            <a:ext cx="10835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61B26"/>
                </a:solidFill>
                <a:latin typeface="Arial"/>
              </a:rPr>
              <a:t>Diagnostic rule: do not change architecture, policy or capacity until the evidence identifies the failing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4 · LAB 7 · 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Observability, Budget and Support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Users report intermittent errors while cloud spend is rising; the operations team needs evidence before escalation.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 symptom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Correlate 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Check AWS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Control cost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Metric/log/trace evidence map, budget/anomaly alert, support case draft and escalation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Amazon CloudWatch, AWS X-Ray, AWS CloudTrail, AWS Health, AWS Budgets, AWS Support Center · Detailed procedure: Learner Guide, Lab 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LAB 7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Observability, Budget and Support Escalation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LO3 / K2 / A3 / A6 - diagnose an issue, control cost and prepare an escalation package.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Metric/log/trace evidence map, budget/anomaly alert, support case draft and escalation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Evidence distinguishes likely layers, cost driver and alert owner are visible, and the support draft is complete without credentials.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Amazon CloudWatch, AWS X-Ray, AWS CloudTrail, AWS Health, AWS Budgets, AWS Support 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4 · LAB 8 · 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Well-Architected Review and Recovery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two-tier retail service must remain secure, recoverable and cost-aware as demand grows.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14016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272491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Describe workload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32887" y="3346704"/>
            <a:ext cx="35661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9504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9504" y="2414016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56432" y="27249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Review pillars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3" y="3346704"/>
            <a:ext cx="356617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414016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87568" y="272491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Rank risks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346704"/>
            <a:ext cx="35661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5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5" y="2414016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18703" y="2724912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Design recovery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4" y="3346704"/>
            <a:ext cx="35661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82912" y="2414016"/>
            <a:ext cx="1874519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82912" y="2414016"/>
            <a:ext cx="187451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272491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89864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3675887"/>
            <a:ext cx="1545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Test and escalate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645152"/>
            <a:ext cx="10835640" cy="1143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28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YOU'LL 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91456"/>
            <a:ext cx="8732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Six-pillar risk register, prioritised improvement plan, RPO/RTO test and escalation path.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7667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AWS Well-Architected Tool or Framework, AWS Backup, AWS Resilience Hub (awareness), AWS Support · Detailed procedure: Learner Guide, Lab 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4 · LAB 8 · 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Well-Architected Review and Recovery Test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3392424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95681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LO3 / A5-A6 - evaluate a workload, prioritise risk and define measurable recovery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00784"/>
            <a:ext cx="3392424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195681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ARTIFACT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Six-pillar risk register, prioritised improvement plan, RPO/RTO test and escalation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00784"/>
            <a:ext cx="3392424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700784"/>
            <a:ext cx="3392424" cy="10058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1" y="1956816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1" y="215798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90779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ACCEPTANCE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3346704"/>
            <a:ext cx="280720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30" b="0">
                <a:solidFill>
                  <a:srgbClr val="161B26"/>
                </a:solidFill>
                <a:latin typeface="Arial"/>
              </a:rPr>
              <a:t>All six pillars have evidence, risks are prioritised, the recovery test has measurable RPO/RTO criteria and unresolved risk has an owner/escalation path.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45152"/>
            <a:ext cx="1083564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EVIDENCE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18888"/>
            <a:ext cx="8641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Well-Architected Tool or Framework, AWS Backup, AWS Resilience Hub (awareness), AWS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C2413A"/>
                </a:solidFill>
                <a:latin typeface="Arial"/>
              </a:rPr>
              <a:t>If an acceptance condition fails, retain the timestamped evidence and escalate with the tested boundary and observed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RECAP · 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4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Pricing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estimate names every meter, quantity, rate assumption and commitment.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test threshold reaches the correct owner and the cost driver is identifiable.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Purchase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Coverage, utilisation and interruption recovery are measured against targets.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allocation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Unallocated cost stays below target and every tag value maps to a current owner.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boundaries, state, dependencies and failure domains.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Trace identity, policy, encryption and audit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metrics, logs and traces to diagnose.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Economics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Match meters, commitments, budgets and owners.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model changed a decision?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Difficult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evidence path needs more practice?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will you test in your own environment?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required survey when prompted.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follow-on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Solutions 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resilient AWS architectures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SysOps Administrator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Operate and troubleshoot AWS workloads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Developer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and deploy cloud applications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Deepen identity, data and threat controls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after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Telephone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6100 0613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Course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https://www.tertiarycourses.com.sg/wsq-aws-certified-cloud-practitioner-training.html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 · 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Answer all five open-ended K1-K5 questions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 ·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six A1-A6 evidence tasks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 · 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only candidate papers to LMS/TMS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 ·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Assessor records outcome and sign-off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FINAL · 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sign-off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 / SAQ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 open-ended knowledge questions · K1-K5 · 60 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 practical evidence tasks · A1-A6 · 60 min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Assessor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Competent or Not Yet Competent, with evidence recorded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 / 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Candidate acknowledgement, result record and appeal route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FINAL ·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(Assessment)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270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82296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assessment-session SSG QR code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5536" y="3063240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00784"/>
            <a:ext cx="82296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8366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your name and course details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3063240"/>
            <a:ext cx="256032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447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700784"/>
            <a:ext cx="82296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88366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Wait for the submitted confirmation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31936" y="3063240"/>
            <a:ext cx="256032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87968" y="1700784"/>
            <a:ext cx="248716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700784"/>
            <a:ext cx="82296" cy="2926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8366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202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5727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Tell the trainer immediately if it fails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left to right: input, control, state change, observable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AWS CERTIFIED CLOUD PRACTITIONER · CLF-C02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Explain the mechanism · choose the service · verify the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AWS Certified Cloud Practitioner (CLF-C02) ·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825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pic>
        <p:nvPicPr>
          <p:cNvPr id="10" name="Picture 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36" y="1394460"/>
            <a:ext cx="8758022" cy="435711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5833872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