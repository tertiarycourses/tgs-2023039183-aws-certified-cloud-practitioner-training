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0.png"/></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4.png"/></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5.png"/></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9.png"/></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6.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7.png"/></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8.png"/></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9.png"/></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0.png"/></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1.png"/></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2.png"/></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3.png"/></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4.png"/></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5.png"/></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6.png"/></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7.png"/></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8.png"/></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9.png"/></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0.png"/></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1.png"/></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2.png"/></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3.png"/></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4.png"/></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5.png"/></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6.png"/></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7.png"/></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8.png"/></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9.png"/></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0.png"/></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1.png"/></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2.png"/></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3.png"/></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4.png"/></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5.png"/></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6.png"/></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7.png"/></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8.png"/></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9.png"/></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0.png"/></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1.png"/></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2.png"/></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3.png"/></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4.png"/></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5.png"/></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6.png"/></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7.png"/></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8.png"/></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9.png"/></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0.png"/></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1.png"/></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2.png"/></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3.png"/></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4.png"/></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5.png"/></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6.png"/></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7.png"/></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8.png"/></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10058400" y="658368"/>
            <a:ext cx="141732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0" y="749808"/>
            <a:ext cx="1417320" cy="457200"/>
          </a:xfrm>
          <a:prstGeom prst="rect">
            <a:avLst/>
          </a:prstGeom>
          <a:noFill/>
        </p:spPr>
        <p:txBody>
          <a:bodyPr wrap="square" anchor="t">
            <a:spAutoFit/>
          </a:bodyPr>
          <a:lstStyle/>
          <a:p>
            <a:pPr algn="ctr">
              <a:spcAft>
                <a:spcPts val="400"/>
              </a:spcAft>
            </a:pPr>
            <a:r>
              <a:rPr sz="2000" b="1">
                <a:solidFill>
                  <a:srgbClr val="FFFFFF"/>
                </a:solidFill>
                <a:latin typeface="Arial"/>
              </a:rPr>
              <a:t>CLF-C02</a:t>
            </a:r>
          </a:p>
        </p:txBody>
      </p:sp>
      <p:sp>
        <p:nvSpPr>
          <p:cNvPr id="8" name="TextBox 7"/>
          <p:cNvSpPr txBox="1"/>
          <p:nvPr/>
        </p:nvSpPr>
        <p:spPr>
          <a:xfrm>
            <a:off x="10058400" y="1170432"/>
            <a:ext cx="1417320" cy="365760"/>
          </a:xfrm>
          <a:prstGeom prst="rect">
            <a:avLst/>
          </a:prstGeom>
          <a:noFill/>
        </p:spPr>
        <p:txBody>
          <a:bodyPr wrap="square" anchor="t">
            <a:spAutoFit/>
          </a:bodyPr>
          <a:lstStyle/>
          <a:p>
            <a:pPr algn="ctr">
              <a:spcAft>
                <a:spcPts val="400"/>
              </a:spcAft>
            </a:pPr>
            <a:r>
              <a:rPr sz="800" b="1">
                <a:solidFill>
                  <a:srgbClr val="FFFFFF"/>
                </a:solidFill>
                <a:latin typeface="Arial"/>
              </a:rPr>
              <a:t>CLOUD PRACTITIONER</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MASTER TRAINER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AWS Certified Cloud Practitioner (CLF-C02)</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TGS-2023039183</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v13  ·  31 July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About the Trainer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and organisation / role.</a:t>
            </a:r>
          </a:p>
          <a:p>
            <a:pPr>
              <a:spcAft>
                <a:spcPts val="1000"/>
              </a:spcAft>
            </a:pPr>
            <a:r>
              <a:rPr sz="2000" b="0">
                <a:solidFill>
                  <a:srgbClr val="161B26"/>
                </a:solidFill>
                <a:latin typeface="Arial"/>
              </a:rPr>
              <a:t>•  Your experience with AWS or cloud services (if any).</a:t>
            </a:r>
          </a:p>
          <a:p>
            <a:pPr>
              <a:spcAft>
                <a:spcPts val="1000"/>
              </a:spcAft>
            </a:pPr>
            <a:r>
              <a:rPr sz="2000" b="0">
                <a:solidFill>
                  <a:srgbClr val="161B26"/>
                </a:solidFill>
                <a:latin typeface="Arial"/>
              </a:rPr>
              <a:t>•  What you want to understand or achieve with AWS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Set your mobile phone to silent mode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Actively participate in the class. No question is stupid.</a:t>
            </a:r>
          </a:p>
          <a:p>
            <a:pPr>
              <a:spcAft>
                <a:spcPts val="1000"/>
              </a:spcAft>
            </a:pPr>
            <a:r>
              <a:rPr sz="2000" b="0">
                <a:solidFill>
                  <a:srgbClr val="161B26"/>
                </a:solidFill>
                <a:latin typeface="Arial"/>
              </a:rPr>
              <a:t>•  Respect each other view</a:t>
            </a:r>
          </a:p>
          <a:p>
            <a:pPr>
              <a:spcAft>
                <a:spcPts val="1000"/>
              </a:spcAft>
            </a:pPr>
            <a:r>
              <a:rPr sz="2000" b="0">
                <a:solidFill>
                  <a:srgbClr val="161B26"/>
                </a:solidFill>
                <a:latin typeface="Arial"/>
              </a:rPr>
              <a:t>•  Exit the class silently if you need to step out for phone call, toilet break</a:t>
            </a:r>
          </a:p>
          <a:p>
            <a:pPr>
              <a:spcAft>
                <a:spcPts val="1000"/>
              </a:spcAft>
            </a:pPr>
            <a:r>
              <a:rPr sz="2000" b="0">
                <a:solidFill>
                  <a:srgbClr val="161B26"/>
                </a:solidFill>
                <a:latin typeface="Arial"/>
              </a:rPr>
              <a:t>•  Ground Rules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1</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Trainer and Learners Introduction</a:t>
            </a:r>
          </a:p>
          <a:p>
            <a:pPr>
              <a:spcAft>
                <a:spcPts val="1000"/>
              </a:spcAft>
            </a:pPr>
            <a:r>
              <a:rPr sz="1800" b="0">
                <a:solidFill>
                  <a:srgbClr val="161B26"/>
                </a:solidFill>
                <a:latin typeface="Arial"/>
              </a:rPr>
              <a:t>•  Learning Outcomes</a:t>
            </a:r>
          </a:p>
          <a:p>
            <a:pPr>
              <a:spcAft>
                <a:spcPts val="1000"/>
              </a:spcAft>
            </a:pPr>
            <a:r>
              <a:rPr sz="1800" b="0">
                <a:solidFill>
                  <a:srgbClr val="161B26"/>
                </a:solidFill>
                <a:latin typeface="Arial"/>
              </a:rPr>
              <a:t>•  Course Outline</a:t>
            </a:r>
          </a:p>
          <a:p>
            <a:pPr>
              <a:spcAft>
                <a:spcPts val="1000"/>
              </a:spcAft>
            </a:pPr>
            <a:r>
              <a:rPr sz="1800" b="0">
                <a:solidFill>
                  <a:srgbClr val="161B26"/>
                </a:solidFill>
                <a:latin typeface="Arial"/>
              </a:rPr>
              <a:t>•  Topic 1: Cloud Concepts</a:t>
            </a:r>
          </a:p>
          <a:p>
            <a:pPr>
              <a:spcAft>
                <a:spcPts val="1000"/>
              </a:spcAft>
            </a:pPr>
            <a:r>
              <a:rPr sz="1800" b="0">
                <a:solidFill>
                  <a:srgbClr val="161B26"/>
                </a:solidFill>
                <a:latin typeface="Arial"/>
              </a:rPr>
              <a:t>•  Topic 2: Security and Compliance</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3: AWS Compute Services</a:t>
            </a:r>
          </a:p>
          <a:p>
            <a:pPr>
              <a:spcAft>
                <a:spcPts val="1000"/>
              </a:spcAft>
            </a:pPr>
            <a:r>
              <a:rPr sz="1800" b="0">
                <a:solidFill>
                  <a:srgbClr val="161B26"/>
                </a:solidFill>
                <a:latin typeface="Arial"/>
              </a:rPr>
              <a:t>•  Topic 4: AWS Database and Storage Services</a:t>
            </a:r>
          </a:p>
          <a:p>
            <a:pPr>
              <a:spcAft>
                <a:spcPts val="1000"/>
              </a:spcAft>
            </a:pPr>
            <a:r>
              <a:rPr sz="1800" b="0">
                <a:solidFill>
                  <a:srgbClr val="161B26"/>
                </a:solidFill>
                <a:latin typeface="Arial"/>
              </a:rPr>
              <a:t>•  End of Day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Lesson Plan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Day 2</a:t>
            </a:r>
          </a:p>
          <a:p>
            <a:pPr>
              <a:spcAft>
                <a:spcPts val="1000"/>
              </a:spcAft>
            </a:pPr>
            <a:r>
              <a:rPr sz="1800" b="0">
                <a:solidFill>
                  <a:srgbClr val="161B26"/>
                </a:solidFill>
                <a:latin typeface="Arial"/>
              </a:rPr>
              <a:t>•  Digital Attendance (AM)</a:t>
            </a:r>
          </a:p>
          <a:p>
            <a:pPr>
              <a:spcAft>
                <a:spcPts val="1000"/>
              </a:spcAft>
            </a:pPr>
            <a:r>
              <a:rPr sz="1800" b="0">
                <a:solidFill>
                  <a:srgbClr val="161B26"/>
                </a:solidFill>
                <a:latin typeface="Arial"/>
              </a:rPr>
              <a:t>•  Topic 5: AWS Networking and Other Services</a:t>
            </a:r>
          </a:p>
          <a:p>
            <a:pPr>
              <a:spcAft>
                <a:spcPts val="1000"/>
              </a:spcAft>
            </a:pPr>
            <a:r>
              <a:rPr sz="1800" b="0">
                <a:solidFill>
                  <a:srgbClr val="161B26"/>
                </a:solidFill>
                <a:latin typeface="Arial"/>
              </a:rPr>
              <a:t>•  Topic 6: AWS Analytics Services</a:t>
            </a:r>
          </a:p>
          <a:p>
            <a:pPr>
              <a:spcAft>
                <a:spcPts val="1000"/>
              </a:spcAft>
            </a:pPr>
            <a:r>
              <a:rPr sz="1800" b="0">
                <a:solidFill>
                  <a:srgbClr val="161B26"/>
                </a:solidFill>
                <a:latin typeface="Arial"/>
              </a:rPr>
              <a:t>•  Lunch Break</a:t>
            </a:r>
          </a:p>
          <a:p>
            <a:pPr>
              <a:spcAft>
                <a:spcPts val="1000"/>
              </a:spcAft>
            </a:pPr>
            <a:r>
              <a:rPr sz="1800" b="0">
                <a:solidFill>
                  <a:srgbClr val="161B26"/>
                </a:solidFill>
                <a:latin typeface="Arial"/>
              </a:rPr>
              <a:t>•  Digital Attendance (PM)</a:t>
            </a:r>
          </a:p>
          <a:p>
            <a:pPr>
              <a:spcAft>
                <a:spcPts val="1000"/>
              </a:spcAft>
            </a:pPr>
            <a:r>
              <a:rPr sz="1800" b="0">
                <a:solidFill>
                  <a:srgbClr val="161B26"/>
                </a:solidFill>
                <a:latin typeface="Arial"/>
              </a:rPr>
              <a:t>•  Topic 7: Support</a:t>
            </a:r>
          </a:p>
          <a:p>
            <a:pPr>
              <a:spcAft>
                <a:spcPts val="1000"/>
              </a:spcAft>
            </a:pPr>
            <a:r>
              <a:rPr sz="1800" b="0">
                <a:solidFill>
                  <a:srgbClr val="161B26"/>
                </a:solidFill>
                <a:latin typeface="Arial"/>
              </a:rPr>
              <a:t>•  Revision</a:t>
            </a:r>
          </a:p>
          <a:p>
            <a:pPr>
              <a:spcAft>
                <a:spcPts val="1000"/>
              </a:spcAft>
            </a:pPr>
            <a:r>
              <a:rPr sz="1800" b="0">
                <a:solidFill>
                  <a:srgbClr val="161B26"/>
                </a:solidFill>
                <a:latin typeface="Arial"/>
              </a:rPr>
              <a:t>•  Course Feedback and TRAQOM Survey</a:t>
            </a:r>
          </a:p>
          <a:p>
            <a:pPr>
              <a:spcAft>
                <a:spcPts val="1000"/>
              </a:spcAft>
            </a:pPr>
            <a:r>
              <a:rPr sz="1800" b="0">
                <a:solidFill>
                  <a:srgbClr val="161B26"/>
                </a:solidFill>
                <a:latin typeface="Arial"/>
              </a:rPr>
              <a:t>•  Digital Attendance (Assessment)</a:t>
            </a:r>
          </a:p>
          <a:p>
            <a:pPr>
              <a:spcAft>
                <a:spcPts val="1000"/>
              </a:spcAft>
            </a:pPr>
            <a:r>
              <a:rPr sz="1800" b="0">
                <a:solidFill>
                  <a:srgbClr val="161B26"/>
                </a:solidFill>
                <a:latin typeface="Arial"/>
              </a:rPr>
              <a:t>•  Final Assessment</a:t>
            </a:r>
          </a:p>
          <a:p>
            <a:pPr>
              <a:spcAft>
                <a:spcPts val="1000"/>
              </a:spcAft>
            </a:pPr>
            <a:r>
              <a:rPr sz="1800" b="0">
                <a:solidFill>
                  <a:srgbClr val="161B26"/>
                </a:solidFill>
                <a:latin typeface="Arial"/>
              </a:rPr>
              <a:t>•  End of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Title: Cloud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TSC Code: ICT-DIT-3020-1.1</a:t>
            </a:r>
          </a:p>
        </p:txBody>
      </p:sp>
      <p:sp>
        <p:nvSpPr>
          <p:cNvPr id="11" name="Rectangle 10"/>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Skills Framework</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TSC Abilities: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A1: Set up environment for the implementation of cloud solutions in accordance to user requirements</a:t>
            </a:r>
          </a:p>
          <a:p>
            <a:pPr>
              <a:spcAft>
                <a:spcPts val="1000"/>
              </a:spcAft>
            </a:pPr>
            <a:r>
              <a:rPr sz="1800" b="0">
                <a:solidFill>
                  <a:srgbClr val="161B26"/>
                </a:solidFill>
                <a:latin typeface="Arial"/>
              </a:rPr>
              <a:t>•  A2: Run tests for cloud solutions to minimise integration-related issues</a:t>
            </a:r>
          </a:p>
          <a:p>
            <a:pPr>
              <a:spcAft>
                <a:spcPts val="1000"/>
              </a:spcAft>
            </a:pPr>
            <a:r>
              <a:rPr sz="1800" b="0">
                <a:solidFill>
                  <a:srgbClr val="161B26"/>
                </a:solidFill>
                <a:latin typeface="Arial"/>
              </a:rPr>
              <a:t>•  A3: Detect issues with cloud solutions to identify solutions</a:t>
            </a:r>
          </a:p>
          <a:p>
            <a:pPr>
              <a:spcAft>
                <a:spcPts val="1000"/>
              </a:spcAft>
            </a:pPr>
            <a:r>
              <a:rPr sz="1800" b="0">
                <a:solidFill>
                  <a:srgbClr val="161B26"/>
                </a:solidFill>
                <a:latin typeface="Arial"/>
              </a:rPr>
              <a:t>•  A4: Resolve cloud integration and implementation issues</a:t>
            </a:r>
          </a:p>
          <a:p>
            <a:pPr>
              <a:spcAft>
                <a:spcPts val="1000"/>
              </a:spcAft>
            </a:pPr>
            <a:r>
              <a:rPr sz="1800" b="0">
                <a:solidFill>
                  <a:srgbClr val="161B26"/>
                </a:solidFill>
                <a:latin typeface="Arial"/>
              </a:rPr>
              <a:t>•  A5: Conduct implementation tests on cloud solutions to measure its effectiveness against defined metrics.</a:t>
            </a:r>
          </a:p>
          <a:p>
            <a:pPr>
              <a:spcAft>
                <a:spcPts val="1000"/>
              </a:spcAft>
            </a:pPr>
            <a:r>
              <a:rPr sz="1800" b="0">
                <a:solidFill>
                  <a:srgbClr val="161B26"/>
                </a:solidFill>
                <a:latin typeface="Arial"/>
              </a:rPr>
              <a:t>•  A6: Escalate unresolved issues related to implementation of cloud solutions</a:t>
            </a:r>
          </a:p>
          <a:p>
            <a:pPr>
              <a:spcAft>
                <a:spcPts val="1000"/>
              </a:spcAft>
            </a:pPr>
            <a:r>
              <a:rPr sz="1800" b="0">
                <a:solidFill>
                  <a:srgbClr val="161B26"/>
                </a:solidFill>
                <a:latin typeface="Arial"/>
              </a:rPr>
              <a:t>•  TSC Knowledge:</a:t>
            </a:r>
          </a:p>
          <a:p>
            <a:pPr>
              <a:spcAft>
                <a:spcPts val="1000"/>
              </a:spcAft>
            </a:pPr>
            <a:r>
              <a:rPr sz="1800" b="0">
                <a:solidFill>
                  <a:srgbClr val="161B26"/>
                </a:solidFill>
                <a:latin typeface="Arial"/>
              </a:rPr>
              <a:t>•  K1: Security and quality standards</a:t>
            </a:r>
          </a:p>
          <a:p>
            <a:pPr>
              <a:spcAft>
                <a:spcPts val="1000"/>
              </a:spcAft>
            </a:pPr>
            <a:r>
              <a:rPr sz="1800" b="0">
                <a:solidFill>
                  <a:srgbClr val="161B26"/>
                </a:solidFill>
                <a:latin typeface="Arial"/>
              </a:rPr>
              <a:t>•  K2: Diagnostic tools for cloud-related problems</a:t>
            </a:r>
          </a:p>
          <a:p>
            <a:pPr>
              <a:spcAft>
                <a:spcPts val="1000"/>
              </a:spcAft>
            </a:pPr>
            <a:r>
              <a:rPr sz="1800" b="0">
                <a:solidFill>
                  <a:srgbClr val="161B26"/>
                </a:solidFill>
                <a:latin typeface="Arial"/>
              </a:rPr>
              <a:t>•  K3: Types of installation tests for cloud solutions</a:t>
            </a:r>
          </a:p>
          <a:p>
            <a:pPr>
              <a:spcAft>
                <a:spcPts val="1000"/>
              </a:spcAft>
            </a:pPr>
            <a:r>
              <a:rPr sz="1800" b="0">
                <a:solidFill>
                  <a:srgbClr val="161B26"/>
                </a:solidFill>
                <a:latin typeface="Arial"/>
              </a:rPr>
              <a:t>•  K4: Technical solutions or techniques to resolve cloud integration-related issues</a:t>
            </a:r>
          </a:p>
          <a:p>
            <a:pPr>
              <a:spcAft>
                <a:spcPts val="1000"/>
              </a:spcAft>
            </a:pPr>
            <a:r>
              <a:rPr sz="1800" b="0">
                <a:solidFill>
                  <a:srgbClr val="161B26"/>
                </a:solidFill>
                <a:latin typeface="Arial"/>
              </a:rPr>
              <a:t>•  K5: Database administration and maintenance tools and techniques</a:t>
            </a:r>
          </a:p>
          <a:p>
            <a:pPr>
              <a:spcAft>
                <a:spcPts val="1000"/>
              </a:spcAft>
            </a:pPr>
            <a:r>
              <a:rPr sz="1800" b="0">
                <a:solidFill>
                  <a:srgbClr val="161B26"/>
                </a:solidFill>
                <a:latin typeface="Arial"/>
              </a:rPr>
              <a:t>•  Skills Framework TSC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Learning Outcomes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LO1: Set up and test AWS cloud solutions in accordance to security standards.</a:t>
            </a:r>
          </a:p>
          <a:p>
            <a:pPr>
              <a:spcAft>
                <a:spcPts val="1000"/>
              </a:spcAft>
            </a:pPr>
            <a:r>
              <a:rPr sz="2000" b="0">
                <a:solidFill>
                  <a:srgbClr val="161B26"/>
                </a:solidFill>
                <a:latin typeface="Arial"/>
              </a:rPr>
              <a:t>•  LO2: Detect and resolve AWS cloud integration issues related to AWS services.</a:t>
            </a:r>
          </a:p>
          <a:p>
            <a:pPr>
              <a:spcAft>
                <a:spcPts val="1000"/>
              </a:spcAft>
            </a:pPr>
            <a:r>
              <a:rPr sz="2000" b="0">
                <a:solidFill>
                  <a:srgbClr val="161B26"/>
                </a:solidFill>
                <a:latin typeface="Arial"/>
              </a:rPr>
              <a:t>•  LO3: Conduct implementation tests and escalate unresolved AWS cloud issues.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Cloud Concepts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methods of deploying and operating in the AWS Cloud.</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artificial intelligence and machine learning (AI/ML) services and analytics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Access AWS Skills Builder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training@tertiaryinfotech.com</a:t>
            </a:r>
          </a:p>
          <a:p>
            <a:pPr>
              <a:spcAft>
                <a:spcPts val="1000"/>
              </a:spcAft>
            </a:pPr>
            <a:r>
              <a:rPr sz="1800" b="0">
                <a:solidFill>
                  <a:srgbClr val="161B26"/>
                </a:solidFill>
                <a:latin typeface="Arial"/>
              </a:rPr>
              <a:t>•  training2@tertiaryinfotech.com</a:t>
            </a:r>
          </a:p>
          <a:p>
            <a:pPr>
              <a:spcAft>
                <a:spcPts val="1000"/>
              </a:spcAft>
            </a:pPr>
            <a:r>
              <a:rPr sz="1800" b="0">
                <a:solidFill>
                  <a:srgbClr val="161B26"/>
                </a:solidFill>
                <a:latin typeface="Arial"/>
              </a:rPr>
              <a:t>•  training3@tertiaryinfotech.com</a:t>
            </a:r>
          </a:p>
          <a:p>
            <a:pPr>
              <a:spcAft>
                <a:spcPts val="1000"/>
              </a:spcAft>
            </a:pPr>
            <a:r>
              <a:rPr sz="1800" b="0">
                <a:solidFill>
                  <a:srgbClr val="161B26"/>
                </a:solidFill>
                <a:latin typeface="Arial"/>
              </a:rPr>
              <a:t>•  training4@tertiaryinfotech.com</a:t>
            </a:r>
          </a:p>
          <a:p>
            <a:pPr>
              <a:spcAft>
                <a:spcPts val="1000"/>
              </a:spcAft>
            </a:pPr>
            <a:r>
              <a:rPr sz="1800" b="0">
                <a:solidFill>
                  <a:srgbClr val="161B26"/>
                </a:solidFill>
                <a:latin typeface="Arial"/>
              </a:rPr>
              <a:t>•  training5@tertiaryinfotech.com</a:t>
            </a:r>
          </a:p>
          <a:p>
            <a:pPr>
              <a:spcAft>
                <a:spcPts val="1000"/>
              </a:spcAft>
            </a:pPr>
            <a:r>
              <a:rPr sz="1800" b="0">
                <a:solidFill>
                  <a:srgbClr val="161B26"/>
                </a:solidFill>
                <a:latin typeface="Arial"/>
              </a:rPr>
              <a:t>•  PW: Tertiary@888</a:t>
            </a:r>
          </a:p>
          <a:p>
            <a:pPr>
              <a:spcAft>
                <a:spcPts val="1000"/>
              </a:spcAft>
            </a:pPr>
            <a:r>
              <a:rPr sz="1800" b="0">
                <a:solidFill>
                  <a:srgbClr val="161B26"/>
                </a:solidFill>
                <a:latin typeface="Arial"/>
              </a:rPr>
              <a:t>•  https://skillbuilder.aws/</a:t>
            </a:r>
          </a:p>
          <a:p>
            <a:pPr>
              <a:spcAft>
                <a:spcPts val="1000"/>
              </a:spcAft>
            </a:pPr>
            <a:r>
              <a:rPr sz="1800" b="0">
                <a:solidFill>
                  <a:srgbClr val="161B26"/>
                </a:solidFill>
                <a:latin typeface="Arial"/>
              </a:rPr>
              <a:t>•  Builder ID Login:</a:t>
            </a:r>
          </a:p>
          <a:p>
            <a:pPr>
              <a:spcAft>
                <a:spcPts val="1000"/>
              </a:spcAft>
            </a:pPr>
            <a:r>
              <a:rPr sz="1800" b="0">
                <a:solidFill>
                  <a:srgbClr val="161B26"/>
                </a:solidFill>
                <a:latin typeface="Arial"/>
              </a:rPr>
              <a:t>•  training6@tertiaryinfotech.com</a:t>
            </a:r>
          </a:p>
          <a:p>
            <a:pPr>
              <a:spcAft>
                <a:spcPts val="1000"/>
              </a:spcAft>
            </a:pPr>
            <a:r>
              <a:rPr sz="1800" b="0">
                <a:solidFill>
                  <a:srgbClr val="161B26"/>
                </a:solidFill>
                <a:latin typeface="Arial"/>
              </a:rPr>
              <a:t>•  training7@tertiaryinfotech.com</a:t>
            </a:r>
          </a:p>
          <a:p>
            <a:pPr>
              <a:spcAft>
                <a:spcPts val="1000"/>
              </a:spcAft>
            </a:pPr>
            <a:r>
              <a:rPr sz="1800" b="0">
                <a:solidFill>
                  <a:srgbClr val="161B26"/>
                </a:solidFill>
                <a:latin typeface="Arial"/>
              </a:rPr>
              <a:t>•  training8@tertiaryinfotech.com</a:t>
            </a:r>
          </a:p>
          <a:p>
            <a:pPr>
              <a:spcAft>
                <a:spcPts val="1000"/>
              </a:spcAft>
            </a:pPr>
            <a:r>
              <a:rPr sz="1800" b="0">
                <a:solidFill>
                  <a:srgbClr val="161B26"/>
                </a:solidFill>
                <a:latin typeface="Arial"/>
              </a:rPr>
              <a:t>•  training9@tertiaryinfotech.com</a:t>
            </a:r>
          </a:p>
          <a:p>
            <a:pPr>
              <a:spcAft>
                <a:spcPts val="1000"/>
              </a:spcAft>
            </a:pPr>
            <a:r>
              <a:rPr sz="1800" b="0">
                <a:solidFill>
                  <a:srgbClr val="161B26"/>
                </a:solidFill>
                <a:latin typeface="Arial"/>
              </a:rPr>
              <a:t>•  training10@tertiaryinfotech.com</a:t>
            </a:r>
          </a:p>
          <a:p>
            <a:pPr>
              <a:spcAft>
                <a:spcPts val="1000"/>
              </a:spcAft>
            </a:pPr>
            <a:r>
              <a:rPr sz="1800" b="0">
                <a:solidFill>
                  <a:srgbClr val="161B26"/>
                </a:solidFill>
                <a:latin typeface="Arial"/>
              </a:rPr>
              <a:t>•  PW: Tertiary@888</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Sign Up Free Trial AWS Account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88222"/>
            <a:ext cx="10479024" cy="37959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15_0.png"/>
          <p:cNvPicPr>
            <a:picLocks noChangeAspect="1"/>
          </p:cNvPicPr>
          <p:nvPr/>
        </p:nvPicPr>
        <p:blipFill>
          <a:blip r:embed="rId2"/>
          <a:stretch>
            <a:fillRect/>
          </a:stretch>
        </p:blipFill>
        <p:spPr>
          <a:xfrm>
            <a:off x="868680" y="2015654"/>
            <a:ext cx="10424160" cy="374109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Download Sample Codes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Download the sample codes use for this course below</a:t>
            </a:r>
          </a:p>
          <a:p>
            <a:pPr>
              <a:spcAft>
                <a:spcPts val="1000"/>
              </a:spcAft>
            </a:pPr>
            <a:r>
              <a:rPr sz="2000" b="0">
                <a:solidFill>
                  <a:srgbClr val="161B26"/>
                </a:solidFill>
                <a:latin typeface="Arial"/>
              </a:rPr>
              <a:t>•  https://drive.google.com/drive/folders/1KKpRQ1HWw380u4uwp2xPVnv8vNoDdTVN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Written Assessment (Short Answer Questions) - 1 hr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Practical Performance (PP) - 1 hr</a:t>
            </a:r>
          </a:p>
          <a:p>
            <a:pPr>
              <a:spcAft>
                <a:spcPts val="1000"/>
              </a:spcAft>
            </a:pPr>
            <a:r>
              <a:rPr sz="2000" b="0">
                <a:solidFill>
                  <a:srgbClr val="161B26"/>
                </a:solidFill>
                <a:latin typeface="Arial"/>
              </a:rPr>
              <a:t>•  Assessment format: Open Book</a:t>
            </a:r>
          </a:p>
          <a:p>
            <a:pPr>
              <a:spcAft>
                <a:spcPts val="1000"/>
              </a:spcAft>
            </a:pPr>
            <a:r>
              <a:rPr sz="2000" b="0">
                <a:solidFill>
                  <a:srgbClr val="161B26"/>
                </a:solidFill>
                <a:latin typeface="Arial"/>
              </a:rPr>
              <a:t>•  Open book assessment ONLY includes Slides, Learner Guide or any approved materials.</a:t>
            </a:r>
          </a:p>
          <a:p>
            <a:pPr>
              <a:spcAft>
                <a:spcPts val="1000"/>
              </a:spcAft>
            </a:pPr>
            <a:r>
              <a:rPr sz="2000" b="0">
                <a:solidFill>
                  <a:srgbClr val="161B26"/>
                </a:solidFill>
                <a:latin typeface="Arial"/>
              </a:rPr>
              <a:t>•  Appeal process</a:t>
            </a:r>
          </a:p>
          <a:p>
            <a:pPr>
              <a:spcAft>
                <a:spcPts val="1000"/>
              </a:spcAft>
            </a:pPr>
            <a:r>
              <a:rPr sz="2000" b="0">
                <a:solidFill>
                  <a:srgbClr val="161B26"/>
                </a:solidFill>
                <a:latin typeface="Arial"/>
              </a:rPr>
              <a:t>•  Final Assessment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Place phones &amp; other materials under the table or on the floor</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assessment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Use black/blue pen for assessment [hard copies]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usage of liquid paper or correction tape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Assessment scripts will be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369417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Minimum attendance rate of 75% based on SSG Digital Attendance record.</a:t>
            </a:r>
          </a:p>
        </p:txBody>
      </p:sp>
      <p:sp>
        <p:nvSpPr>
          <p:cNvPr id="12" name="Rectangle 11"/>
          <p:cNvSpPr/>
          <p:nvPr/>
        </p:nvSpPr>
        <p:spPr>
          <a:xfrm>
            <a:off x="6231636" y="1783080"/>
            <a:ext cx="5180076"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43708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4224528"/>
          </a:xfrm>
          <a:prstGeom prst="rect">
            <a:avLst/>
          </a:prstGeom>
          <a:noFill/>
        </p:spPr>
        <p:txBody>
          <a:bodyPr wrap="square" anchor="ctr">
            <a:spAutoFit/>
          </a:bodyPr>
          <a:lstStyle/>
          <a:p>
            <a:pPr algn="l">
              <a:spcAft>
                <a:spcPts val="400"/>
              </a:spcAft>
            </a:pPr>
            <a:r>
              <a:rPr sz="1500" b="0">
                <a:solidFill>
                  <a:srgbClr val="161B26"/>
                </a:solidFill>
                <a:latin typeface="Arial"/>
              </a:rPr>
              <a:t>Complete the assessment and be assessed as ‘Competent’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6</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LMS/TMS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47600" y="1801368"/>
            <a:ext cx="34663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0_0.png"/>
          <p:cNvPicPr>
            <a:picLocks noChangeAspect="1"/>
          </p:cNvPicPr>
          <p:nvPr/>
        </p:nvPicPr>
        <p:blipFill>
          <a:blip r:embed="rId2"/>
          <a:stretch>
            <a:fillRect/>
          </a:stretch>
        </p:blipFill>
        <p:spPr>
          <a:xfrm>
            <a:off x="4375032" y="1828800"/>
            <a:ext cx="34114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Concepts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websites 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6426"/>
            <a:ext cx="10479024" cy="43253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2_0.png"/>
          <p:cNvPicPr>
            <a:picLocks noChangeAspect="1"/>
          </p:cNvPicPr>
          <p:nvPr/>
        </p:nvPicPr>
        <p:blipFill>
          <a:blip r:embed="rId2"/>
          <a:stretch>
            <a:fillRect/>
          </a:stretch>
        </p:blipFill>
        <p:spPr>
          <a:xfrm>
            <a:off x="868680" y="1933858"/>
            <a:ext cx="10424160" cy="427044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a server composed of?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96160" y="1801368"/>
            <a:ext cx="816919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3_0.png"/>
          <p:cNvPicPr>
            <a:picLocks noChangeAspect="1"/>
          </p:cNvPicPr>
          <p:nvPr/>
        </p:nvPicPr>
        <p:blipFill>
          <a:blip r:embed="rId2"/>
          <a:stretch>
            <a:fillRect/>
          </a:stretch>
        </p:blipFill>
        <p:spPr>
          <a:xfrm>
            <a:off x="2023592" y="1828800"/>
            <a:ext cx="811433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IT Terminology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52898"/>
            <a:ext cx="10479024" cy="32666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4_0.png"/>
          <p:cNvPicPr>
            <a:picLocks noChangeAspect="1"/>
          </p:cNvPicPr>
          <p:nvPr/>
        </p:nvPicPr>
        <p:blipFill>
          <a:blip r:embed="rId2"/>
          <a:stretch>
            <a:fillRect/>
          </a:stretch>
        </p:blipFill>
        <p:spPr>
          <a:xfrm>
            <a:off x="868680" y="2280330"/>
            <a:ext cx="10424160" cy="321174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Network: cables, routers and servers connected with each other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Traditionally, how to build infrastructure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19456"/>
            <a:ext cx="10479024" cy="369924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5_0.png"/>
          <p:cNvPicPr>
            <a:picLocks noChangeAspect="1"/>
          </p:cNvPicPr>
          <p:nvPr/>
        </p:nvPicPr>
        <p:blipFill>
          <a:blip r:embed="rId2"/>
          <a:stretch>
            <a:fillRect/>
          </a:stretch>
        </p:blipFill>
        <p:spPr>
          <a:xfrm>
            <a:off x="868680" y="2246888"/>
            <a:ext cx="10424160" cy="364438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Problems with traditional IT approach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Pay for the rent for the data center</a:t>
            </a:r>
          </a:p>
          <a:p>
            <a:pPr>
              <a:spcAft>
                <a:spcPts val="1000"/>
              </a:spcAft>
            </a:pPr>
            <a:r>
              <a:rPr sz="1800" b="0">
                <a:solidFill>
                  <a:srgbClr val="161B26"/>
                </a:solidFill>
                <a:latin typeface="Arial"/>
              </a:rPr>
              <a:t>•  Pay for power supply, cooling, maintenance</a:t>
            </a:r>
          </a:p>
          <a:p>
            <a:pPr>
              <a:spcAft>
                <a:spcPts val="1000"/>
              </a:spcAft>
            </a:pPr>
            <a:r>
              <a:rPr sz="1800" b="0">
                <a:solidFill>
                  <a:srgbClr val="161B26"/>
                </a:solidFill>
                <a:latin typeface="Arial"/>
              </a:rPr>
              <a:t>•  Adding and replacing hardware takes time</a:t>
            </a:r>
          </a:p>
          <a:p>
            <a:pPr>
              <a:spcAft>
                <a:spcPts val="1000"/>
              </a:spcAft>
            </a:pPr>
            <a:r>
              <a:rPr sz="1800" b="0">
                <a:solidFill>
                  <a:srgbClr val="161B26"/>
                </a:solidFill>
                <a:latin typeface="Arial"/>
              </a:rPr>
              <a:t>•  Scaling is limited</a:t>
            </a:r>
          </a:p>
          <a:p>
            <a:pPr>
              <a:spcAft>
                <a:spcPts val="1000"/>
              </a:spcAft>
            </a:pPr>
            <a:r>
              <a:rPr sz="1800" b="0">
                <a:solidFill>
                  <a:srgbClr val="161B26"/>
                </a:solidFill>
                <a:latin typeface="Arial"/>
              </a:rPr>
              <a:t>•  Hire 24/7 team to monitor the infrastructure</a:t>
            </a:r>
          </a:p>
          <a:p>
            <a:pPr>
              <a:spcAft>
                <a:spcPts val="1000"/>
              </a:spcAft>
            </a:pPr>
            <a:r>
              <a:rPr sz="1800" b="0">
                <a:solidFill>
                  <a:srgbClr val="161B26"/>
                </a:solidFill>
                <a:latin typeface="Arial"/>
              </a:rPr>
              <a:t>•  How to deal with disasters? (earthquake, power shutdown, fire…)</a:t>
            </a:r>
          </a:p>
          <a:p>
            <a:pPr>
              <a:spcAft>
                <a:spcPts val="1000"/>
              </a:spcAft>
            </a:pPr>
            <a:r>
              <a:rPr sz="1800" b="0">
                <a:solidFill>
                  <a:srgbClr val="161B26"/>
                </a:solidFill>
                <a:latin typeface="Arial"/>
              </a:rPr>
              <a:t>•  Can we externalize all this?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 computing is the on-demand delivery of compute power, database storage, applications, and other IT resources</a:t>
            </a:r>
          </a:p>
          <a:p>
            <a:pPr>
              <a:spcAft>
                <a:spcPts val="1000"/>
              </a:spcAft>
            </a:pPr>
            <a:r>
              <a:rPr sz="1800" b="0">
                <a:solidFill>
                  <a:srgbClr val="161B26"/>
                </a:solidFill>
                <a:latin typeface="Arial"/>
              </a:rPr>
              <a:t>•  Through a cloud services platform with pay-as-you-go pricing</a:t>
            </a:r>
          </a:p>
          <a:p>
            <a:pPr>
              <a:spcAft>
                <a:spcPts val="1000"/>
              </a:spcAft>
            </a:pPr>
            <a:r>
              <a:rPr sz="1800" b="0">
                <a:solidFill>
                  <a:srgbClr val="161B26"/>
                </a:solidFill>
                <a:latin typeface="Arial"/>
              </a:rPr>
              <a:t>•  You can provision exactly the right type and size of computing resources you need</a:t>
            </a:r>
          </a:p>
          <a:p>
            <a:pPr>
              <a:spcAft>
                <a:spcPts val="1000"/>
              </a:spcAft>
            </a:pPr>
            <a:r>
              <a:rPr sz="1800" b="0">
                <a:solidFill>
                  <a:srgbClr val="161B26"/>
                </a:solidFill>
                <a:latin typeface="Arial"/>
              </a:rPr>
              <a:t>•  You can access as many resources as you need, almost instantly</a:t>
            </a:r>
          </a:p>
          <a:p>
            <a:pPr>
              <a:spcAft>
                <a:spcPts val="1000"/>
              </a:spcAft>
            </a:pPr>
            <a:r>
              <a:rPr sz="1800" b="0">
                <a:solidFill>
                  <a:srgbClr val="161B26"/>
                </a:solidFill>
                <a:latin typeface="Arial"/>
              </a:rPr>
              <a:t>•  Simple way to access servers, storage, databases and a set of application services</a:t>
            </a:r>
          </a:p>
          <a:p>
            <a:pPr>
              <a:spcAft>
                <a:spcPts val="1000"/>
              </a:spcAft>
            </a:pPr>
            <a:r>
              <a:rPr sz="1800" b="0">
                <a:solidFill>
                  <a:srgbClr val="161B26"/>
                </a:solidFill>
                <a:latin typeface="Arial"/>
              </a:rPr>
              <a:t>•  Amazon Web Services owns and maintains the network-connected hardware</a:t>
            </a:r>
          </a:p>
          <a:p>
            <a:pPr>
              <a:spcAft>
                <a:spcPts val="1000"/>
              </a:spcAft>
            </a:pPr>
            <a:r>
              <a:rPr sz="1800" b="0">
                <a:solidFill>
                  <a:srgbClr val="161B26"/>
                </a:solidFill>
                <a:latin typeface="Arial"/>
              </a:rPr>
              <a:t>•  required for these application services, while you provision and use what you need via a web application.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87409" y="1801368"/>
            <a:ext cx="878670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8_0.png"/>
          <p:cNvPicPr>
            <a:picLocks noChangeAspect="1"/>
          </p:cNvPicPr>
          <p:nvPr/>
        </p:nvPicPr>
        <p:blipFill>
          <a:blip r:embed="rId2"/>
          <a:stretch>
            <a:fillRect/>
          </a:stretch>
        </p:blipFill>
        <p:spPr>
          <a:xfrm>
            <a:off x="1714841" y="1828800"/>
            <a:ext cx="873183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You’ve been using some Cloud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46399"/>
            <a:ext cx="10479024" cy="40453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29_0.png"/>
          <p:cNvPicPr>
            <a:picLocks noChangeAspect="1"/>
          </p:cNvPicPr>
          <p:nvPr/>
        </p:nvPicPr>
        <p:blipFill>
          <a:blip r:embed="rId2"/>
          <a:stretch>
            <a:fillRect/>
          </a:stretch>
        </p:blipFill>
        <p:spPr>
          <a:xfrm>
            <a:off x="868680" y="2073831"/>
            <a:ext cx="10424160" cy="399049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Deployment Models of the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63791"/>
            <a:ext cx="10479024" cy="36448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0_0.png"/>
          <p:cNvPicPr>
            <a:picLocks noChangeAspect="1"/>
          </p:cNvPicPr>
          <p:nvPr/>
        </p:nvPicPr>
        <p:blipFill>
          <a:blip r:embed="rId2"/>
          <a:stretch>
            <a:fillRect/>
          </a:stretch>
        </p:blipFill>
        <p:spPr>
          <a:xfrm>
            <a:off x="868680" y="2091223"/>
            <a:ext cx="10424160" cy="358995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Private Cloud: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The Five Characteristics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self service:</a:t>
            </a:r>
          </a:p>
          <a:p>
            <a:pPr>
              <a:spcAft>
                <a:spcPts val="1000"/>
              </a:spcAft>
            </a:pPr>
            <a:r>
              <a:rPr sz="1800" b="0">
                <a:solidFill>
                  <a:srgbClr val="161B26"/>
                </a:solidFill>
                <a:latin typeface="Arial"/>
              </a:rPr>
              <a:t>•  Users can provision resources and use them without human interaction from the service provider</a:t>
            </a:r>
          </a:p>
          <a:p>
            <a:pPr>
              <a:spcAft>
                <a:spcPts val="1000"/>
              </a:spcAft>
            </a:pPr>
            <a:r>
              <a:rPr sz="1800" b="0">
                <a:solidFill>
                  <a:srgbClr val="161B26"/>
                </a:solidFill>
                <a:latin typeface="Arial"/>
              </a:rPr>
              <a:t>•  Broad network access:</a:t>
            </a:r>
          </a:p>
          <a:p>
            <a:pPr>
              <a:spcAft>
                <a:spcPts val="1000"/>
              </a:spcAft>
            </a:pPr>
            <a:r>
              <a:rPr sz="1800" b="0">
                <a:solidFill>
                  <a:srgbClr val="161B26"/>
                </a:solidFill>
                <a:latin typeface="Arial"/>
              </a:rPr>
              <a:t>•  Resources available over the network, and can be accessed by diverse client platforms</a:t>
            </a:r>
          </a:p>
          <a:p>
            <a:pPr>
              <a:spcAft>
                <a:spcPts val="1000"/>
              </a:spcAft>
            </a:pPr>
            <a:r>
              <a:rPr sz="1800" b="0">
                <a:solidFill>
                  <a:srgbClr val="161B26"/>
                </a:solidFill>
                <a:latin typeface="Arial"/>
              </a:rPr>
              <a:t>•  Multi-tenancy and resource pooling:</a:t>
            </a:r>
          </a:p>
          <a:p>
            <a:pPr>
              <a:spcAft>
                <a:spcPts val="1000"/>
              </a:spcAft>
            </a:pPr>
            <a:r>
              <a:rPr sz="1800" b="0">
                <a:solidFill>
                  <a:srgbClr val="161B26"/>
                </a:solidFill>
                <a:latin typeface="Arial"/>
              </a:rPr>
              <a:t>•  Multiple customers can share the same infrastructure and applications with security and privacy</a:t>
            </a:r>
          </a:p>
          <a:p>
            <a:pPr>
              <a:spcAft>
                <a:spcPts val="1000"/>
              </a:spcAft>
            </a:pPr>
            <a:r>
              <a:rPr sz="1800" b="0">
                <a:solidFill>
                  <a:srgbClr val="161B26"/>
                </a:solidFill>
                <a:latin typeface="Arial"/>
              </a:rPr>
              <a:t>•  Multiple customers are serviced from the same physical resources</a:t>
            </a:r>
          </a:p>
          <a:p>
            <a:pPr>
              <a:spcAft>
                <a:spcPts val="1000"/>
              </a:spcAft>
            </a:pPr>
            <a:r>
              <a:rPr sz="1800" b="0">
                <a:solidFill>
                  <a:srgbClr val="161B26"/>
                </a:solidFill>
                <a:latin typeface="Arial"/>
              </a:rPr>
              <a:t>•  Rapid elasticity and scalability:</a:t>
            </a:r>
          </a:p>
          <a:p>
            <a:pPr>
              <a:spcAft>
                <a:spcPts val="1000"/>
              </a:spcAft>
            </a:pPr>
            <a:r>
              <a:rPr sz="1800" b="0">
                <a:solidFill>
                  <a:srgbClr val="161B26"/>
                </a:solidFill>
                <a:latin typeface="Arial"/>
              </a:rPr>
              <a:t>•  Automatically and quickly acquire and dispose resources when needed</a:t>
            </a:r>
          </a:p>
          <a:p>
            <a:pPr>
              <a:spcAft>
                <a:spcPts val="1000"/>
              </a:spcAft>
            </a:pPr>
            <a:r>
              <a:rPr sz="1800" b="0">
                <a:solidFill>
                  <a:srgbClr val="161B26"/>
                </a:solidFill>
                <a:latin typeface="Arial"/>
              </a:rPr>
              <a:t>•  Quickly and easily scale based on demand</a:t>
            </a:r>
          </a:p>
          <a:p>
            <a:pPr>
              <a:spcAft>
                <a:spcPts val="1000"/>
              </a:spcAft>
            </a:pPr>
            <a:r>
              <a:rPr sz="1800" b="0">
                <a:solidFill>
                  <a:srgbClr val="161B26"/>
                </a:solidFill>
                <a:latin typeface="Arial"/>
              </a:rPr>
              <a:t>•  Measured service:</a:t>
            </a:r>
          </a:p>
          <a:p>
            <a:pPr>
              <a:spcAft>
                <a:spcPts val="1000"/>
              </a:spcAft>
            </a:pPr>
            <a:r>
              <a:rPr sz="1800" b="0">
                <a:solidFill>
                  <a:srgbClr val="161B26"/>
                </a:solidFill>
                <a:latin typeface="Arial"/>
              </a:rPr>
              <a:t>•  Usage is measured, users pay correctly for what they have used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Six Advantages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Trade capital expense (CAPEX) for operational expense (OPEX)</a:t>
            </a:r>
          </a:p>
          <a:p>
            <a:pPr>
              <a:spcAft>
                <a:spcPts val="1000"/>
              </a:spcAft>
            </a:pPr>
            <a:r>
              <a:rPr sz="1800" b="0">
                <a:solidFill>
                  <a:srgbClr val="161B26"/>
                </a:solidFill>
                <a:latin typeface="Arial"/>
              </a:rPr>
              <a:t>•  Pay On-Demand: don’t own hardware</a:t>
            </a:r>
          </a:p>
          <a:p>
            <a:pPr>
              <a:spcAft>
                <a:spcPts val="1000"/>
              </a:spcAft>
            </a:pPr>
            <a:r>
              <a:rPr sz="1800" b="0">
                <a:solidFill>
                  <a:srgbClr val="161B26"/>
                </a:solidFill>
                <a:latin typeface="Arial"/>
              </a:rPr>
              <a:t>•  Reduced Total Cost of Ownership (TCO) &amp; Operational Expense (OPEX)</a:t>
            </a:r>
          </a:p>
          <a:p>
            <a:pPr>
              <a:spcAft>
                <a:spcPts val="1000"/>
              </a:spcAft>
            </a:pPr>
            <a:r>
              <a:rPr sz="1800" b="0">
                <a:solidFill>
                  <a:srgbClr val="161B26"/>
                </a:solidFill>
                <a:latin typeface="Arial"/>
              </a:rPr>
              <a:t>•  Benefit from massive economies of scale</a:t>
            </a:r>
          </a:p>
          <a:p>
            <a:pPr>
              <a:spcAft>
                <a:spcPts val="1000"/>
              </a:spcAft>
            </a:pPr>
            <a:r>
              <a:rPr sz="1800" b="0">
                <a:solidFill>
                  <a:srgbClr val="161B26"/>
                </a:solidFill>
                <a:latin typeface="Arial"/>
              </a:rPr>
              <a:t>•  Prices are reduced as AWS is more efficient due to large scale</a:t>
            </a:r>
          </a:p>
          <a:p>
            <a:pPr>
              <a:spcAft>
                <a:spcPts val="1000"/>
              </a:spcAft>
            </a:pPr>
            <a:r>
              <a:rPr sz="1800" b="0">
                <a:solidFill>
                  <a:srgbClr val="161B26"/>
                </a:solidFill>
                <a:latin typeface="Arial"/>
              </a:rPr>
              <a:t>•  Stop guessing capacity</a:t>
            </a:r>
          </a:p>
          <a:p>
            <a:pPr>
              <a:spcAft>
                <a:spcPts val="1000"/>
              </a:spcAft>
            </a:pPr>
            <a:r>
              <a:rPr sz="1800" b="0">
                <a:solidFill>
                  <a:srgbClr val="161B26"/>
                </a:solidFill>
                <a:latin typeface="Arial"/>
              </a:rPr>
              <a:t>•  Scale based on actual measured usage</a:t>
            </a:r>
          </a:p>
          <a:p>
            <a:pPr>
              <a:spcAft>
                <a:spcPts val="1000"/>
              </a:spcAft>
            </a:pPr>
            <a:r>
              <a:rPr sz="1800" b="0">
                <a:solidFill>
                  <a:srgbClr val="161B26"/>
                </a:solidFill>
                <a:latin typeface="Arial"/>
              </a:rPr>
              <a:t>•  Increase speed and agility</a:t>
            </a:r>
          </a:p>
          <a:p>
            <a:pPr>
              <a:spcAft>
                <a:spcPts val="1000"/>
              </a:spcAft>
            </a:pPr>
            <a:r>
              <a:rPr sz="1800" b="0">
                <a:solidFill>
                  <a:srgbClr val="161B26"/>
                </a:solidFill>
                <a:latin typeface="Arial"/>
              </a:rPr>
              <a:t>•  Stop spending money running and maintaining data centers</a:t>
            </a:r>
          </a:p>
          <a:p>
            <a:pPr>
              <a:spcAft>
                <a:spcPts val="1000"/>
              </a:spcAft>
            </a:pPr>
            <a:r>
              <a:rPr sz="1800" b="0">
                <a:solidFill>
                  <a:srgbClr val="161B26"/>
                </a:solidFill>
                <a:latin typeface="Arial"/>
              </a:rPr>
              <a:t>•  Go global in minutes: leverage the AWS global infrastructure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Problems solved by the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Flexibility: change resource types when needed</a:t>
            </a:r>
          </a:p>
          <a:p>
            <a:pPr>
              <a:spcAft>
                <a:spcPts val="1000"/>
              </a:spcAft>
            </a:pPr>
            <a:r>
              <a:rPr sz="2000" b="0">
                <a:solidFill>
                  <a:srgbClr val="161B26"/>
                </a:solidFill>
                <a:latin typeface="Arial"/>
              </a:rPr>
              <a:t>•  Cost-Effectiveness: pay as you go, for what you us</a:t>
            </a:r>
          </a:p>
          <a:p>
            <a:pPr>
              <a:spcAft>
                <a:spcPts val="1000"/>
              </a:spcAft>
            </a:pPr>
            <a:r>
              <a:rPr sz="2000" b="0">
                <a:solidFill>
                  <a:srgbClr val="161B26"/>
                </a:solidFill>
                <a:latin typeface="Arial"/>
              </a:rPr>
              <a:t>•  Scalability: accommodate larger loads by making hardware stronger or adding additional nodes</a:t>
            </a:r>
          </a:p>
          <a:p>
            <a:pPr>
              <a:spcAft>
                <a:spcPts val="1000"/>
              </a:spcAft>
            </a:pPr>
            <a:r>
              <a:rPr sz="2000" b="0">
                <a:solidFill>
                  <a:srgbClr val="161B26"/>
                </a:solidFill>
                <a:latin typeface="Arial"/>
              </a:rPr>
              <a:t>•  Elasticity: ability to scale out and scale-in when needed</a:t>
            </a:r>
          </a:p>
          <a:p>
            <a:pPr>
              <a:spcAft>
                <a:spcPts val="1000"/>
              </a:spcAft>
            </a:pPr>
            <a:r>
              <a:rPr sz="2000" b="0">
                <a:solidFill>
                  <a:srgbClr val="161B26"/>
                </a:solidFill>
                <a:latin typeface="Arial"/>
              </a:rPr>
              <a:t>•  High-availability and fault-tolerance: build across data centers</a:t>
            </a:r>
          </a:p>
          <a:p>
            <a:pPr>
              <a:spcAft>
                <a:spcPts val="1000"/>
              </a:spcAft>
            </a:pPr>
            <a:r>
              <a:rPr sz="2000" b="0">
                <a:solidFill>
                  <a:srgbClr val="161B26"/>
                </a:solidFill>
                <a:latin typeface="Arial"/>
              </a:rPr>
              <a:t>•  Agility: rapidly develop, test and launch software applications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Cloud Computing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a Service (IaaS)</a:t>
            </a:r>
          </a:p>
          <a:p>
            <a:pPr>
              <a:spcAft>
                <a:spcPts val="1000"/>
              </a:spcAft>
            </a:pPr>
            <a:r>
              <a:rPr sz="1800" b="0">
                <a:solidFill>
                  <a:srgbClr val="161B26"/>
                </a:solidFill>
                <a:latin typeface="Arial"/>
              </a:rPr>
              <a:t>•  Provide building blocks for cloud IT</a:t>
            </a:r>
          </a:p>
          <a:p>
            <a:pPr>
              <a:spcAft>
                <a:spcPts val="1000"/>
              </a:spcAft>
            </a:pPr>
            <a:r>
              <a:rPr sz="1800" b="0">
                <a:solidFill>
                  <a:srgbClr val="161B26"/>
                </a:solidFill>
                <a:latin typeface="Arial"/>
              </a:rPr>
              <a:t>•  Provides networking, computers, data storage space</a:t>
            </a:r>
          </a:p>
          <a:p>
            <a:pPr>
              <a:spcAft>
                <a:spcPts val="1000"/>
              </a:spcAft>
            </a:pPr>
            <a:r>
              <a:rPr sz="1800" b="0">
                <a:solidFill>
                  <a:srgbClr val="161B26"/>
                </a:solidFill>
                <a:latin typeface="Arial"/>
              </a:rPr>
              <a:t>•  Highest level of flexibility</a:t>
            </a:r>
          </a:p>
          <a:p>
            <a:pPr>
              <a:spcAft>
                <a:spcPts val="1000"/>
              </a:spcAft>
            </a:pPr>
            <a:r>
              <a:rPr sz="1800" b="0">
                <a:solidFill>
                  <a:srgbClr val="161B26"/>
                </a:solidFill>
                <a:latin typeface="Arial"/>
              </a:rPr>
              <a:t>•  Easy parallel with traditional on-premises IT</a:t>
            </a:r>
          </a:p>
          <a:p>
            <a:pPr>
              <a:spcAft>
                <a:spcPts val="1000"/>
              </a:spcAft>
            </a:pPr>
            <a:r>
              <a:rPr sz="1800" b="0">
                <a:solidFill>
                  <a:srgbClr val="161B26"/>
                </a:solidFill>
                <a:latin typeface="Arial"/>
              </a:rPr>
              <a:t>•  Platform as a Service (PaaS)</a:t>
            </a:r>
          </a:p>
          <a:p>
            <a:pPr>
              <a:spcAft>
                <a:spcPts val="1000"/>
              </a:spcAft>
            </a:pPr>
            <a:r>
              <a:rPr sz="1800" b="0">
                <a:solidFill>
                  <a:srgbClr val="161B26"/>
                </a:solidFill>
                <a:latin typeface="Arial"/>
              </a:rPr>
              <a:t>•  Removes the need for your organization to manage the underlying infrastructure</a:t>
            </a:r>
          </a:p>
          <a:p>
            <a:pPr>
              <a:spcAft>
                <a:spcPts val="1000"/>
              </a:spcAft>
            </a:pPr>
            <a:r>
              <a:rPr sz="1800" b="0">
                <a:solidFill>
                  <a:srgbClr val="161B26"/>
                </a:solidFill>
                <a:latin typeface="Arial"/>
              </a:rPr>
              <a:t>•  Focus on the deployment and management of your applications</a:t>
            </a:r>
          </a:p>
          <a:p>
            <a:pPr>
              <a:spcAft>
                <a:spcPts val="1000"/>
              </a:spcAft>
            </a:pPr>
            <a:r>
              <a:rPr sz="1800" b="0">
                <a:solidFill>
                  <a:srgbClr val="161B26"/>
                </a:solidFill>
                <a:latin typeface="Arial"/>
              </a:rPr>
              <a:t>•  Software as a Service (SaaS)</a:t>
            </a:r>
          </a:p>
          <a:p>
            <a:pPr>
              <a:spcAft>
                <a:spcPts val="1000"/>
              </a:spcAft>
            </a:pPr>
            <a:r>
              <a:rPr sz="1800" b="0">
                <a:solidFill>
                  <a:srgbClr val="161B26"/>
                </a:solidFill>
                <a:latin typeface="Arial"/>
              </a:rPr>
              <a:t>•  Completed product that is run and managed by the service provider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36279" y="1801368"/>
            <a:ext cx="768896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5_0.png"/>
          <p:cNvPicPr>
            <a:picLocks noChangeAspect="1"/>
          </p:cNvPicPr>
          <p:nvPr/>
        </p:nvPicPr>
        <p:blipFill>
          <a:blip r:embed="rId2"/>
          <a:stretch>
            <a:fillRect/>
          </a:stretch>
        </p:blipFill>
        <p:spPr>
          <a:xfrm>
            <a:off x="2263711" y="1828800"/>
            <a:ext cx="763409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of Cloud Computing Types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a Service:</a:t>
            </a:r>
          </a:p>
          <a:p>
            <a:pPr>
              <a:spcAft>
                <a:spcPts val="1000"/>
              </a:spcAft>
            </a:pPr>
            <a:r>
              <a:rPr sz="1800" b="0">
                <a:solidFill>
                  <a:srgbClr val="161B26"/>
                </a:solidFill>
                <a:latin typeface="Arial"/>
              </a:rPr>
              <a:t>•  Amazon EC2 (on AWS)</a:t>
            </a:r>
          </a:p>
          <a:p>
            <a:pPr>
              <a:spcAft>
                <a:spcPts val="1000"/>
              </a:spcAft>
            </a:pPr>
            <a:r>
              <a:rPr sz="1800" b="0">
                <a:solidFill>
                  <a:srgbClr val="161B26"/>
                </a:solidFill>
                <a:latin typeface="Arial"/>
              </a:rPr>
              <a:t>•  GCP, Azure, Rackspace, Digital Ocean, Linode</a:t>
            </a:r>
          </a:p>
          <a:p>
            <a:pPr>
              <a:spcAft>
                <a:spcPts val="1000"/>
              </a:spcAft>
            </a:pPr>
            <a:r>
              <a:rPr sz="1800" b="0">
                <a:solidFill>
                  <a:srgbClr val="161B26"/>
                </a:solidFill>
                <a:latin typeface="Arial"/>
              </a:rPr>
              <a:t>•  Platform as a Service:</a:t>
            </a:r>
          </a:p>
          <a:p>
            <a:pPr>
              <a:spcAft>
                <a:spcPts val="1000"/>
              </a:spcAft>
            </a:pPr>
            <a:r>
              <a:rPr sz="1800" b="0">
                <a:solidFill>
                  <a:srgbClr val="161B26"/>
                </a:solidFill>
                <a:latin typeface="Arial"/>
              </a:rPr>
              <a:t>•  Elastic Beanstalk (on AWS)</a:t>
            </a:r>
          </a:p>
          <a:p>
            <a:pPr>
              <a:spcAft>
                <a:spcPts val="1000"/>
              </a:spcAft>
            </a:pPr>
            <a:r>
              <a:rPr sz="1800" b="0">
                <a:solidFill>
                  <a:srgbClr val="161B26"/>
                </a:solidFill>
                <a:latin typeface="Arial"/>
              </a:rPr>
              <a:t>•  Heroku, Google App Engine (GCP), Windows Azure (Microsoft)</a:t>
            </a:r>
          </a:p>
          <a:p>
            <a:pPr>
              <a:spcAft>
                <a:spcPts val="1000"/>
              </a:spcAft>
            </a:pPr>
            <a:r>
              <a:rPr sz="1800" b="0">
                <a:solidFill>
                  <a:srgbClr val="161B26"/>
                </a:solidFill>
                <a:latin typeface="Arial"/>
              </a:rPr>
              <a:t>•  Software as a Service:</a:t>
            </a:r>
          </a:p>
          <a:p>
            <a:pPr>
              <a:spcAft>
                <a:spcPts val="1000"/>
              </a:spcAft>
            </a:pPr>
            <a:r>
              <a:rPr sz="1800" b="0">
                <a:solidFill>
                  <a:srgbClr val="161B26"/>
                </a:solidFill>
                <a:latin typeface="Arial"/>
              </a:rPr>
              <a:t>•  Many AWS services (ex: Rekognition for Machine Learning)</a:t>
            </a:r>
          </a:p>
          <a:p>
            <a:pPr>
              <a:spcAft>
                <a:spcPts val="1000"/>
              </a:spcAft>
            </a:pPr>
            <a:r>
              <a:rPr sz="1800" b="0">
                <a:solidFill>
                  <a:srgbClr val="161B26"/>
                </a:solidFill>
                <a:latin typeface="Arial"/>
              </a:rPr>
              <a:t>•  Google Apps (Gmail), Dropbox, Zoom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of the Cloud – Quick Overview</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9882" y="1801368"/>
            <a:ext cx="480175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7_0.png"/>
          <p:cNvPicPr>
            <a:picLocks noChangeAspect="1"/>
          </p:cNvPicPr>
          <p:nvPr/>
        </p:nvPicPr>
        <p:blipFill>
          <a:blip r:embed="rId2"/>
          <a:stretch>
            <a:fillRect/>
          </a:stretch>
        </p:blipFill>
        <p:spPr>
          <a:xfrm>
            <a:off x="3707314" y="1828800"/>
            <a:ext cx="474689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has 3 pricing fundamentals, following the pay-as-you-go pricing 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History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1336"/>
            <a:ext cx="10479024" cy="43354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8_0.png"/>
          <p:cNvPicPr>
            <a:picLocks noChangeAspect="1"/>
          </p:cNvPicPr>
          <p:nvPr/>
        </p:nvPicPr>
        <p:blipFill>
          <a:blip r:embed="rId2"/>
          <a:stretch>
            <a:fillRect/>
          </a:stretch>
        </p:blipFill>
        <p:spPr>
          <a:xfrm>
            <a:off x="868680" y="1928768"/>
            <a:ext cx="10424160" cy="42806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Number Facts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3008" y="1801368"/>
            <a:ext cx="45155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39_0.png"/>
          <p:cNvPicPr>
            <a:picLocks noChangeAspect="1"/>
          </p:cNvPicPr>
          <p:nvPr/>
        </p:nvPicPr>
        <p:blipFill>
          <a:blip r:embed="rId2"/>
          <a:stretch>
            <a:fillRect/>
          </a:stretch>
        </p:blipFill>
        <p:spPr>
          <a:xfrm>
            <a:off x="3850440" y="1828800"/>
            <a:ext cx="44606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 2019, AWS had $35.02 billion in annual revenue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Use Cases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3052015"/>
            <a:ext cx="10479024" cy="166836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0_0.png"/>
          <p:cNvPicPr>
            <a:picLocks noChangeAspect="1"/>
          </p:cNvPicPr>
          <p:nvPr/>
        </p:nvPicPr>
        <p:blipFill>
          <a:blip r:embed="rId2"/>
          <a:stretch>
            <a:fillRect/>
          </a:stretch>
        </p:blipFill>
        <p:spPr>
          <a:xfrm>
            <a:off x="868680" y="3079447"/>
            <a:ext cx="10424160" cy="161350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enables you to build sophisticated, scalable applications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Infrastructure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41167" y="1801368"/>
            <a:ext cx="687918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1_0.png"/>
          <p:cNvPicPr>
            <a:picLocks noChangeAspect="1"/>
          </p:cNvPicPr>
          <p:nvPr/>
        </p:nvPicPr>
        <p:blipFill>
          <a:blip r:embed="rId2"/>
          <a:stretch>
            <a:fillRect/>
          </a:stretch>
        </p:blipFill>
        <p:spPr>
          <a:xfrm>
            <a:off x="2668599" y="1828800"/>
            <a:ext cx="682432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Regions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Regions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58259" y="1801368"/>
            <a:ext cx="76450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2_0.png"/>
          <p:cNvPicPr>
            <a:picLocks noChangeAspect="1"/>
          </p:cNvPicPr>
          <p:nvPr/>
        </p:nvPicPr>
        <p:blipFill>
          <a:blip r:embed="rId2"/>
          <a:stretch>
            <a:fillRect/>
          </a:stretch>
        </p:blipFill>
        <p:spPr>
          <a:xfrm>
            <a:off x="2285691" y="1828800"/>
            <a:ext cx="759013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has Regions all around the world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to choose an AWS Region?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5268" y="1801368"/>
            <a:ext cx="76709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3_0.png"/>
          <p:cNvPicPr>
            <a:picLocks noChangeAspect="1"/>
          </p:cNvPicPr>
          <p:nvPr/>
        </p:nvPicPr>
        <p:blipFill>
          <a:blip r:embed="rId2"/>
          <a:stretch>
            <a:fillRect/>
          </a:stretch>
        </p:blipFill>
        <p:spPr>
          <a:xfrm>
            <a:off x="2272700" y="1828800"/>
            <a:ext cx="76161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Compliance with data governance and legal requirements: data never leaves a region without your explicit permission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Availability Zones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775650" y="1801368"/>
            <a:ext cx="46102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4_0.png"/>
          <p:cNvPicPr>
            <a:picLocks noChangeAspect="1"/>
          </p:cNvPicPr>
          <p:nvPr/>
        </p:nvPicPr>
        <p:blipFill>
          <a:blip r:embed="rId2"/>
          <a:stretch>
            <a:fillRect/>
          </a:stretch>
        </p:blipFill>
        <p:spPr>
          <a:xfrm>
            <a:off x="3803082" y="1828800"/>
            <a:ext cx="455535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Each region has many availability zones (usually 3, min is 3, max is 6). Example: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Points of Presence (Edge Locations)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25673" y="1801368"/>
            <a:ext cx="751017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5_0.png"/>
          <p:cNvPicPr>
            <a:picLocks noChangeAspect="1"/>
          </p:cNvPicPr>
          <p:nvPr/>
        </p:nvPicPr>
        <p:blipFill>
          <a:blip r:embed="rId2"/>
          <a:stretch>
            <a:fillRect/>
          </a:stretch>
        </p:blipFill>
        <p:spPr>
          <a:xfrm>
            <a:off x="2353105" y="1828800"/>
            <a:ext cx="745530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has 400+ Points of Presence (400+ Edge Locations &amp; 10+</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Tour of the AWS Console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has Global Services:</a:t>
            </a:r>
          </a:p>
          <a:p>
            <a:pPr>
              <a:spcAft>
                <a:spcPts val="1000"/>
              </a:spcAft>
            </a:pPr>
            <a:r>
              <a:rPr sz="1800" b="0">
                <a:solidFill>
                  <a:srgbClr val="161B26"/>
                </a:solidFill>
                <a:latin typeface="Arial"/>
              </a:rPr>
              <a:t>•  Identity and Access Management (IAM)</a:t>
            </a:r>
          </a:p>
          <a:p>
            <a:pPr>
              <a:spcAft>
                <a:spcPts val="1000"/>
              </a:spcAft>
            </a:pPr>
            <a:r>
              <a:rPr sz="1800" b="0">
                <a:solidFill>
                  <a:srgbClr val="161B26"/>
                </a:solidFill>
                <a:latin typeface="Arial"/>
              </a:rPr>
              <a:t>•  Route 53 (DNS service)</a:t>
            </a:r>
          </a:p>
          <a:p>
            <a:pPr>
              <a:spcAft>
                <a:spcPts val="1000"/>
              </a:spcAft>
            </a:pPr>
            <a:r>
              <a:rPr sz="1800" b="0">
                <a:solidFill>
                  <a:srgbClr val="161B26"/>
                </a:solidFill>
                <a:latin typeface="Arial"/>
              </a:rPr>
              <a:t>•  CloudFront (Content Delivery Network)</a:t>
            </a:r>
          </a:p>
          <a:p>
            <a:pPr>
              <a:spcAft>
                <a:spcPts val="1000"/>
              </a:spcAft>
            </a:pPr>
            <a:r>
              <a:rPr sz="1800" b="0">
                <a:solidFill>
                  <a:srgbClr val="161B26"/>
                </a:solidFill>
                <a:latin typeface="Arial"/>
              </a:rPr>
              <a:t>•  WAF (Web Application Firewall)</a:t>
            </a:r>
          </a:p>
          <a:p>
            <a:pPr>
              <a:spcAft>
                <a:spcPts val="1000"/>
              </a:spcAft>
            </a:pPr>
            <a:r>
              <a:rPr sz="1800" b="0">
                <a:solidFill>
                  <a:srgbClr val="161B26"/>
                </a:solidFill>
                <a:latin typeface="Arial"/>
              </a:rPr>
              <a:t>•  Most AWS services are Region-scoped:</a:t>
            </a:r>
          </a:p>
          <a:p>
            <a:pPr>
              <a:spcAft>
                <a:spcPts val="1000"/>
              </a:spcAft>
            </a:pPr>
            <a:r>
              <a:rPr sz="1800" b="0">
                <a:solidFill>
                  <a:srgbClr val="161B26"/>
                </a:solidFill>
                <a:latin typeface="Arial"/>
              </a:rPr>
              <a:t>•  Amazon EC2 (Infrastructure as a Service)</a:t>
            </a:r>
          </a:p>
          <a:p>
            <a:pPr>
              <a:spcAft>
                <a:spcPts val="1000"/>
              </a:spcAft>
            </a:pPr>
            <a:r>
              <a:rPr sz="1800" b="0">
                <a:solidFill>
                  <a:srgbClr val="161B26"/>
                </a:solidFill>
                <a:latin typeface="Arial"/>
              </a:rPr>
              <a:t>•  Elastic Beanstalk (Platform as a Service)</a:t>
            </a:r>
          </a:p>
          <a:p>
            <a:pPr>
              <a:spcAft>
                <a:spcPts val="1000"/>
              </a:spcAft>
            </a:pPr>
            <a:r>
              <a:rPr sz="1800" b="0">
                <a:solidFill>
                  <a:srgbClr val="161B26"/>
                </a:solidFill>
                <a:latin typeface="Arial"/>
              </a:rPr>
              <a:t>•  Lambda (Function as a Service)</a:t>
            </a:r>
          </a:p>
          <a:p>
            <a:pPr>
              <a:spcAft>
                <a:spcPts val="1000"/>
              </a:spcAft>
            </a:pPr>
            <a:r>
              <a:rPr sz="1800" b="0">
                <a:solidFill>
                  <a:srgbClr val="161B26"/>
                </a:solidFill>
                <a:latin typeface="Arial"/>
              </a:rPr>
              <a:t>•  Rekognition (Software as a Service)</a:t>
            </a:r>
          </a:p>
          <a:p>
            <a:pPr>
              <a:spcAft>
                <a:spcPts val="1000"/>
              </a:spcAft>
            </a:pPr>
            <a:r>
              <a:rPr sz="1800" b="0">
                <a:solidFill>
                  <a:srgbClr val="161B26"/>
                </a:solidFill>
                <a:latin typeface="Arial"/>
              </a:rPr>
              <a:t>•  Region Table: https://aws.amazon.com/about-aws/global-infrastructure/regional-product-services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Services (&gt;200)</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9582" y="1801368"/>
            <a:ext cx="99023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7_0.png"/>
          <p:cNvPicPr>
            <a:picLocks noChangeAspect="1"/>
          </p:cNvPicPr>
          <p:nvPr/>
        </p:nvPicPr>
        <p:blipFill>
          <a:blip r:embed="rId2"/>
          <a:stretch>
            <a:fillRect/>
          </a:stretch>
        </p:blipFill>
        <p:spPr>
          <a:xfrm>
            <a:off x="1157014" y="1828800"/>
            <a:ext cx="984749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67898" y="1801368"/>
            <a:ext cx="742572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048_0.png"/>
          <p:cNvPicPr>
            <a:picLocks noChangeAspect="1"/>
          </p:cNvPicPr>
          <p:nvPr/>
        </p:nvPicPr>
        <p:blipFill>
          <a:blip r:embed="rId2"/>
          <a:stretch>
            <a:fillRect/>
          </a:stretch>
        </p:blipFill>
        <p:spPr>
          <a:xfrm>
            <a:off x="2395330" y="1828800"/>
            <a:ext cx="737085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https://aws.amazon.com/compliance/shared-responsibility-model/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1</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Acceptable Use Policy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https://aws.amazon.com/aup/</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Illegal, Harmful, or Offensive Use or Content</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Security Violations</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Network Abuse</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E-Mail or Other Message Abuse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Security and Compliance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IAM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IAM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account root user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1801368"/>
            <a:ext cx="102961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2_0.png"/>
          <p:cNvPicPr>
            <a:picLocks noChangeAspect="1"/>
          </p:cNvPicPr>
          <p:nvPr/>
        </p:nvPicPr>
        <p:blipFill>
          <a:blip r:embed="rId2"/>
          <a:stretch>
            <a:fillRect/>
          </a:stretch>
        </p:blipFill>
        <p:spPr>
          <a:xfrm>
            <a:off x="960120" y="1828800"/>
            <a:ext cx="1024128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Users &amp;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https://aws.amazon.com/aup/</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Illegal, Harmful, or Offensive Use or Content</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Security Violations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Network Abuse</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E-Mail or Other Message Abuse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Users &amp;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44822"/>
            <a:ext cx="10479024" cy="24827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4_0.png"/>
          <p:cNvPicPr>
            <a:picLocks noChangeAspect="1"/>
          </p:cNvPicPr>
          <p:nvPr/>
        </p:nvPicPr>
        <p:blipFill>
          <a:blip r:embed="rId2"/>
          <a:stretch>
            <a:fillRect/>
          </a:stretch>
        </p:blipFill>
        <p:spPr>
          <a:xfrm>
            <a:off x="868680" y="2672254"/>
            <a:ext cx="10424160" cy="242789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 = Identity and Access Management, Global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27450" y="1801368"/>
            <a:ext cx="55066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5_0.png"/>
          <p:cNvPicPr>
            <a:picLocks noChangeAspect="1"/>
          </p:cNvPicPr>
          <p:nvPr/>
        </p:nvPicPr>
        <p:blipFill>
          <a:blip r:embed="rId2"/>
          <a:stretch>
            <a:fillRect/>
          </a:stretch>
        </p:blipFill>
        <p:spPr>
          <a:xfrm>
            <a:off x="3354882" y="1828800"/>
            <a:ext cx="54517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roles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02480" y="1801368"/>
            <a:ext cx="335655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6_0.png"/>
          <p:cNvPicPr>
            <a:picLocks noChangeAspect="1"/>
          </p:cNvPicPr>
          <p:nvPr/>
        </p:nvPicPr>
        <p:blipFill>
          <a:blip r:embed="rId2"/>
          <a:stretch>
            <a:fillRect/>
          </a:stretch>
        </p:blipFill>
        <p:spPr>
          <a:xfrm>
            <a:off x="4429912" y="1828800"/>
            <a:ext cx="330169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An IAM role is an identity that you can assume to gain temporary access to permissions.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Permissions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19966" y="1801368"/>
            <a:ext cx="452158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7_0.png"/>
          <p:cNvPicPr>
            <a:picLocks noChangeAspect="1"/>
          </p:cNvPicPr>
          <p:nvPr/>
        </p:nvPicPr>
        <p:blipFill>
          <a:blip r:embed="rId2"/>
          <a:stretch>
            <a:fillRect/>
          </a:stretch>
        </p:blipFill>
        <p:spPr>
          <a:xfrm>
            <a:off x="3847398" y="1828800"/>
            <a:ext cx="446672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Users or Groups can be assigned JSON documents called policies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Policies inheritance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23335" y="1801368"/>
            <a:ext cx="951485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8_0.png"/>
          <p:cNvPicPr>
            <a:picLocks noChangeAspect="1"/>
          </p:cNvPicPr>
          <p:nvPr/>
        </p:nvPicPr>
        <p:blipFill>
          <a:blip r:embed="rId2"/>
          <a:stretch>
            <a:fillRect/>
          </a:stretch>
        </p:blipFill>
        <p:spPr>
          <a:xfrm>
            <a:off x="1350767" y="1828800"/>
            <a:ext cx="945998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Policies Structure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32053" y="1801368"/>
            <a:ext cx="469741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59_0.png"/>
          <p:cNvPicPr>
            <a:picLocks noChangeAspect="1"/>
          </p:cNvPicPr>
          <p:nvPr/>
        </p:nvPicPr>
        <p:blipFill>
          <a:blip r:embed="rId2"/>
          <a:stretch>
            <a:fillRect/>
          </a:stretch>
        </p:blipFill>
        <p:spPr>
          <a:xfrm>
            <a:off x="3759485" y="1828800"/>
            <a:ext cx="464254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Consists of</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IAM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66000" y="1801368"/>
            <a:ext cx="86295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0_0.png"/>
          <p:cNvPicPr>
            <a:picLocks noChangeAspect="1"/>
          </p:cNvPicPr>
          <p:nvPr/>
        </p:nvPicPr>
        <p:blipFill>
          <a:blip r:embed="rId2"/>
          <a:stretch>
            <a:fillRect/>
          </a:stretch>
        </p:blipFill>
        <p:spPr>
          <a:xfrm>
            <a:off x="1793432" y="1828800"/>
            <a:ext cx="85746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 Password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Strong passwords = higher security for your account</a:t>
            </a:r>
          </a:p>
          <a:p>
            <a:pPr>
              <a:spcAft>
                <a:spcPts val="1000"/>
              </a:spcAft>
            </a:pPr>
            <a:r>
              <a:rPr sz="1800" b="0">
                <a:solidFill>
                  <a:srgbClr val="161B26"/>
                </a:solidFill>
                <a:latin typeface="Arial"/>
              </a:rPr>
              <a:t>•  In AWS, you can setup a password policy:</a:t>
            </a:r>
          </a:p>
          <a:p>
            <a:pPr>
              <a:spcAft>
                <a:spcPts val="1000"/>
              </a:spcAft>
            </a:pPr>
            <a:r>
              <a:rPr sz="1800" b="0">
                <a:solidFill>
                  <a:srgbClr val="161B26"/>
                </a:solidFill>
                <a:latin typeface="Arial"/>
              </a:rPr>
              <a:t>•  Set a minimum password length</a:t>
            </a:r>
          </a:p>
          <a:p>
            <a:pPr>
              <a:spcAft>
                <a:spcPts val="1000"/>
              </a:spcAft>
            </a:pPr>
            <a:r>
              <a:rPr sz="1800" b="0">
                <a:solidFill>
                  <a:srgbClr val="161B26"/>
                </a:solidFill>
                <a:latin typeface="Arial"/>
              </a:rPr>
              <a:t>•  Require specific character types:</a:t>
            </a:r>
          </a:p>
          <a:p>
            <a:pPr>
              <a:spcAft>
                <a:spcPts val="1000"/>
              </a:spcAft>
            </a:pPr>
            <a:r>
              <a:rPr sz="1800" b="0">
                <a:solidFill>
                  <a:srgbClr val="161B26"/>
                </a:solidFill>
                <a:latin typeface="Arial"/>
              </a:rPr>
              <a:t>•  including uppercase letters</a:t>
            </a:r>
          </a:p>
          <a:p>
            <a:pPr>
              <a:spcAft>
                <a:spcPts val="1000"/>
              </a:spcAft>
            </a:pPr>
            <a:r>
              <a:rPr sz="1800" b="0">
                <a:solidFill>
                  <a:srgbClr val="161B26"/>
                </a:solidFill>
                <a:latin typeface="Arial"/>
              </a:rPr>
              <a:t>•  lowercase letters</a:t>
            </a:r>
          </a:p>
          <a:p>
            <a:pPr>
              <a:spcAft>
                <a:spcPts val="1000"/>
              </a:spcAft>
            </a:pPr>
            <a:r>
              <a:rPr sz="1800" b="0">
                <a:solidFill>
                  <a:srgbClr val="161B26"/>
                </a:solidFill>
                <a:latin typeface="Arial"/>
              </a:rPr>
              <a:t>•  numbers</a:t>
            </a:r>
          </a:p>
          <a:p>
            <a:pPr>
              <a:spcAft>
                <a:spcPts val="1000"/>
              </a:spcAft>
            </a:pPr>
            <a:r>
              <a:rPr sz="1800" b="0">
                <a:solidFill>
                  <a:srgbClr val="161B26"/>
                </a:solidFill>
                <a:latin typeface="Arial"/>
              </a:rPr>
              <a:t>•  non-alphanumeric characters</a:t>
            </a:r>
          </a:p>
          <a:p>
            <a:pPr>
              <a:spcAft>
                <a:spcPts val="1000"/>
              </a:spcAft>
            </a:pPr>
            <a:r>
              <a:rPr sz="1800" b="0">
                <a:solidFill>
                  <a:srgbClr val="161B26"/>
                </a:solidFill>
                <a:latin typeface="Arial"/>
              </a:rPr>
              <a:t>•  Allow all IAM users to change their own passwords</a:t>
            </a:r>
          </a:p>
          <a:p>
            <a:pPr>
              <a:spcAft>
                <a:spcPts val="1000"/>
              </a:spcAft>
            </a:pPr>
            <a:r>
              <a:rPr sz="1800" b="0">
                <a:solidFill>
                  <a:srgbClr val="161B26"/>
                </a:solidFill>
                <a:latin typeface="Arial"/>
              </a:rPr>
              <a:t>•  Require users to change their password after some time (password expiration)</a:t>
            </a:r>
          </a:p>
          <a:p>
            <a:pPr>
              <a:spcAft>
                <a:spcPts val="1000"/>
              </a:spcAft>
            </a:pPr>
            <a:r>
              <a:rPr sz="1800" b="0">
                <a:solidFill>
                  <a:srgbClr val="161B26"/>
                </a:solidFill>
                <a:latin typeface="Arial"/>
              </a:rPr>
              <a:t>•  Prevent password re-use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Multi-factor authentication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81288"/>
            <a:ext cx="10479024" cy="32098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2_0.png"/>
          <p:cNvPicPr>
            <a:picLocks noChangeAspect="1"/>
          </p:cNvPicPr>
          <p:nvPr/>
        </p:nvPicPr>
        <p:blipFill>
          <a:blip r:embed="rId2"/>
          <a:stretch>
            <a:fillRect/>
          </a:stretch>
        </p:blipFill>
        <p:spPr>
          <a:xfrm>
            <a:off x="868680" y="2308720"/>
            <a:ext cx="10424160" cy="315496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 IAM, multi-factor authentication (MFA) provides an extra layer of security for your AWS account.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Factor Authentication - MFA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01913"/>
            <a:ext cx="10479024" cy="17685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3_0.png"/>
          <p:cNvPicPr>
            <a:picLocks noChangeAspect="1"/>
          </p:cNvPicPr>
          <p:nvPr/>
        </p:nvPicPr>
        <p:blipFill>
          <a:blip r:embed="rId2"/>
          <a:stretch>
            <a:fillRect/>
          </a:stretch>
        </p:blipFill>
        <p:spPr>
          <a:xfrm>
            <a:off x="868680" y="3029345"/>
            <a:ext cx="10424160" cy="171371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Users have access to your account and can possibly change configurations or delete resources in your AWS account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MFA devices options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83276" y="1801368"/>
            <a:ext cx="4994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4_0.png"/>
          <p:cNvPicPr>
            <a:picLocks noChangeAspect="1"/>
          </p:cNvPicPr>
          <p:nvPr/>
        </p:nvPicPr>
        <p:blipFill>
          <a:blip r:embed="rId2"/>
          <a:stretch>
            <a:fillRect/>
          </a:stretch>
        </p:blipFill>
        <p:spPr>
          <a:xfrm>
            <a:off x="3610708" y="1828800"/>
            <a:ext cx="4940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MFA devices options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64128" y="1801368"/>
            <a:ext cx="50332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5_0.png"/>
          <p:cNvPicPr>
            <a:picLocks noChangeAspect="1"/>
          </p:cNvPicPr>
          <p:nvPr/>
        </p:nvPicPr>
        <p:blipFill>
          <a:blip r:embed="rId2"/>
          <a:stretch>
            <a:fillRect/>
          </a:stretch>
        </p:blipFill>
        <p:spPr>
          <a:xfrm>
            <a:off x="3591560" y="1828800"/>
            <a:ext cx="497840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can users access AWS ?</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To access AWS, you have three options:</a:t>
            </a:r>
          </a:p>
          <a:p>
            <a:pPr>
              <a:spcAft>
                <a:spcPts val="1000"/>
              </a:spcAft>
            </a:pPr>
            <a:r>
              <a:rPr sz="1800" b="0">
                <a:solidFill>
                  <a:srgbClr val="161B26"/>
                </a:solidFill>
                <a:latin typeface="Arial"/>
              </a:rPr>
              <a:t>•  AWS Management Console (protected by password + MFA)</a:t>
            </a:r>
          </a:p>
          <a:p>
            <a:pPr>
              <a:spcAft>
                <a:spcPts val="1000"/>
              </a:spcAft>
            </a:pPr>
            <a:r>
              <a:rPr sz="1800" b="0">
                <a:solidFill>
                  <a:srgbClr val="161B26"/>
                </a:solidFill>
                <a:latin typeface="Arial"/>
              </a:rPr>
              <a:t>•  AWS Command Line Interface (CLI): protected by access keys</a:t>
            </a:r>
          </a:p>
          <a:p>
            <a:pPr>
              <a:spcAft>
                <a:spcPts val="1000"/>
              </a:spcAft>
            </a:pPr>
            <a:r>
              <a:rPr sz="1800" b="0">
                <a:solidFill>
                  <a:srgbClr val="161B26"/>
                </a:solidFill>
                <a:latin typeface="Arial"/>
              </a:rPr>
              <a:t>•  AWS Software Developer Kit (SDK) - for code: protected by access keys</a:t>
            </a:r>
          </a:p>
          <a:p>
            <a:pPr>
              <a:spcAft>
                <a:spcPts val="1000"/>
              </a:spcAft>
            </a:pPr>
            <a:r>
              <a:rPr sz="1800" b="0">
                <a:solidFill>
                  <a:srgbClr val="161B26"/>
                </a:solidFill>
                <a:latin typeface="Arial"/>
              </a:rPr>
              <a:t>•  Access Keys are generated through the AWS Console</a:t>
            </a:r>
          </a:p>
          <a:p>
            <a:pPr>
              <a:spcAft>
                <a:spcPts val="1000"/>
              </a:spcAft>
            </a:pPr>
            <a:r>
              <a:rPr sz="1800" b="0">
                <a:solidFill>
                  <a:srgbClr val="161B26"/>
                </a:solidFill>
                <a:latin typeface="Arial"/>
              </a:rPr>
              <a:t>•  Users manage their own access keys</a:t>
            </a:r>
          </a:p>
          <a:p>
            <a:pPr>
              <a:spcAft>
                <a:spcPts val="1000"/>
              </a:spcAft>
            </a:pPr>
            <a:r>
              <a:rPr sz="1800" b="0">
                <a:solidFill>
                  <a:srgbClr val="161B26"/>
                </a:solidFill>
                <a:latin typeface="Arial"/>
              </a:rPr>
              <a:t>•  Access Keys are secret, just like a password. Don’t share them</a:t>
            </a:r>
          </a:p>
          <a:p>
            <a:pPr>
              <a:spcAft>
                <a:spcPts val="1000"/>
              </a:spcAft>
            </a:pPr>
            <a:r>
              <a:rPr sz="1800" b="0">
                <a:solidFill>
                  <a:srgbClr val="161B26"/>
                </a:solidFill>
                <a:latin typeface="Arial"/>
              </a:rPr>
              <a:t>•  Access Key ID ~= username</a:t>
            </a:r>
          </a:p>
          <a:p>
            <a:pPr>
              <a:spcAft>
                <a:spcPts val="1000"/>
              </a:spcAft>
            </a:pPr>
            <a:r>
              <a:rPr sz="1800" b="0">
                <a:solidFill>
                  <a:srgbClr val="161B26"/>
                </a:solidFill>
                <a:latin typeface="Arial"/>
              </a:rPr>
              <a:t>•  Secret Access Key ~= password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(Fake) Access Keys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325"/>
            <a:ext cx="10479024" cy="422351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7_0.png"/>
          <p:cNvPicPr>
            <a:picLocks noChangeAspect="1"/>
          </p:cNvPicPr>
          <p:nvPr/>
        </p:nvPicPr>
        <p:blipFill>
          <a:blip r:embed="rId2"/>
          <a:stretch>
            <a:fillRect/>
          </a:stretch>
        </p:blipFill>
        <p:spPr>
          <a:xfrm>
            <a:off x="868680" y="1984757"/>
            <a:ext cx="10424160" cy="416864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the AWS CLI?</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43627"/>
            <a:ext cx="10479024" cy="268514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8_0.png"/>
          <p:cNvPicPr>
            <a:picLocks noChangeAspect="1"/>
          </p:cNvPicPr>
          <p:nvPr/>
        </p:nvPicPr>
        <p:blipFill>
          <a:blip r:embed="rId2"/>
          <a:stretch>
            <a:fillRect/>
          </a:stretch>
        </p:blipFill>
        <p:spPr>
          <a:xfrm>
            <a:off x="868680" y="2571059"/>
            <a:ext cx="10424160" cy="263028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tool that enables you to interact with AWS services using commands in your command-line shell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Roles for Services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55304" y="1801368"/>
            <a:ext cx="385091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69_0.png"/>
          <p:cNvPicPr>
            <a:picLocks noChangeAspect="1"/>
          </p:cNvPicPr>
          <p:nvPr/>
        </p:nvPicPr>
        <p:blipFill>
          <a:blip r:embed="rId2"/>
          <a:stretch>
            <a:fillRect/>
          </a:stretch>
        </p:blipFill>
        <p:spPr>
          <a:xfrm>
            <a:off x="4182736" y="1828800"/>
            <a:ext cx="379604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Some AWS service will need to perform actions on your behalf</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Security Tools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IAM Credentials Report (account-level)</a:t>
            </a:r>
          </a:p>
          <a:p>
            <a:pPr>
              <a:spcAft>
                <a:spcPts val="1000"/>
              </a:spcAft>
            </a:pPr>
            <a:r>
              <a:rPr sz="2000" b="0">
                <a:solidFill>
                  <a:srgbClr val="161B26"/>
                </a:solidFill>
                <a:latin typeface="Arial"/>
              </a:rPr>
              <a:t>•  a report that lists all your account's users and the status of their various credentials</a:t>
            </a:r>
          </a:p>
          <a:p>
            <a:pPr>
              <a:spcAft>
                <a:spcPts val="1000"/>
              </a:spcAft>
            </a:pPr>
            <a:r>
              <a:rPr sz="2000" b="0">
                <a:solidFill>
                  <a:srgbClr val="161B26"/>
                </a:solidFill>
                <a:latin typeface="Arial"/>
              </a:rPr>
              <a:t>•  IAM Access Advisor (user-level)</a:t>
            </a:r>
          </a:p>
          <a:p>
            <a:pPr>
              <a:spcAft>
                <a:spcPts val="1000"/>
              </a:spcAft>
            </a:pPr>
            <a:r>
              <a:rPr sz="2000" b="0">
                <a:solidFill>
                  <a:srgbClr val="161B26"/>
                </a:solidFill>
                <a:latin typeface="Arial"/>
              </a:rPr>
              <a:t>•  Access advisor shows the service permissions granted to a user and when those services were last accessed.</a:t>
            </a:r>
          </a:p>
          <a:p>
            <a:pPr>
              <a:spcAft>
                <a:spcPts val="1000"/>
              </a:spcAft>
            </a:pPr>
            <a:r>
              <a:rPr sz="2000" b="0">
                <a:solidFill>
                  <a:srgbClr val="161B26"/>
                </a:solidFill>
                <a:latin typeface="Arial"/>
              </a:rPr>
              <a:t>•  You can use this information to revise your policies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Guidelines &amp; Best Practices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Don’t use the root account except for AWS account setup</a:t>
            </a:r>
          </a:p>
          <a:p>
            <a:pPr>
              <a:spcAft>
                <a:spcPts val="1000"/>
              </a:spcAft>
            </a:pPr>
            <a:r>
              <a:rPr sz="1800" b="0">
                <a:solidFill>
                  <a:srgbClr val="161B26"/>
                </a:solidFill>
                <a:latin typeface="Arial"/>
              </a:rPr>
              <a:t>•  One physical user = One AWS user</a:t>
            </a:r>
          </a:p>
          <a:p>
            <a:pPr>
              <a:spcAft>
                <a:spcPts val="1000"/>
              </a:spcAft>
            </a:pPr>
            <a:r>
              <a:rPr sz="1800" b="0">
                <a:solidFill>
                  <a:srgbClr val="161B26"/>
                </a:solidFill>
                <a:latin typeface="Arial"/>
              </a:rPr>
              <a:t>•  Assign users to groups and assign permissions to groups</a:t>
            </a:r>
          </a:p>
          <a:p>
            <a:pPr>
              <a:spcAft>
                <a:spcPts val="1000"/>
              </a:spcAft>
            </a:pPr>
            <a:r>
              <a:rPr sz="1800" b="0">
                <a:solidFill>
                  <a:srgbClr val="161B26"/>
                </a:solidFill>
                <a:latin typeface="Arial"/>
              </a:rPr>
              <a:t>•  Create a strong password policy</a:t>
            </a:r>
          </a:p>
          <a:p>
            <a:pPr>
              <a:spcAft>
                <a:spcPts val="1000"/>
              </a:spcAft>
            </a:pPr>
            <a:r>
              <a:rPr sz="1800" b="0">
                <a:solidFill>
                  <a:srgbClr val="161B26"/>
                </a:solidFill>
                <a:latin typeface="Arial"/>
              </a:rPr>
              <a:t>•  Use and enforce the use of Multi Factor Authentication (MFA)</a:t>
            </a:r>
          </a:p>
          <a:p>
            <a:pPr>
              <a:spcAft>
                <a:spcPts val="1000"/>
              </a:spcAft>
            </a:pPr>
            <a:r>
              <a:rPr sz="1800" b="0">
                <a:solidFill>
                  <a:srgbClr val="161B26"/>
                </a:solidFill>
                <a:latin typeface="Arial"/>
              </a:rPr>
              <a:t>•  Create and use Roles for giving permissions to AWS services</a:t>
            </a:r>
          </a:p>
          <a:p>
            <a:pPr>
              <a:spcAft>
                <a:spcPts val="1000"/>
              </a:spcAft>
            </a:pPr>
            <a:r>
              <a:rPr sz="1800" b="0">
                <a:solidFill>
                  <a:srgbClr val="161B26"/>
                </a:solidFill>
                <a:latin typeface="Arial"/>
              </a:rPr>
              <a:t>•  Use Access Keys for Programmatic Access (CLI / SDK)</a:t>
            </a:r>
          </a:p>
          <a:p>
            <a:pPr>
              <a:spcAft>
                <a:spcPts val="1000"/>
              </a:spcAft>
            </a:pPr>
            <a:r>
              <a:rPr sz="1800" b="0">
                <a:solidFill>
                  <a:srgbClr val="161B26"/>
                </a:solidFill>
                <a:latin typeface="Arial"/>
              </a:rPr>
              <a:t>•  Audit permissions of your account using IAM Credentials Report &amp; IAM Access Advisor</a:t>
            </a:r>
          </a:p>
          <a:p>
            <a:pPr>
              <a:spcAft>
                <a:spcPts val="1000"/>
              </a:spcAft>
            </a:pPr>
            <a:r>
              <a:rPr sz="1800" b="0">
                <a:solidFill>
                  <a:srgbClr val="161B26"/>
                </a:solidFill>
                <a:latin typeface="Arial"/>
              </a:rPr>
              <a:t>•  Never share IAM users &amp; Access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IAM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55405" y="1801368"/>
            <a:ext cx="100507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72_0.png"/>
          <p:cNvPicPr>
            <a:picLocks noChangeAspect="1"/>
          </p:cNvPicPr>
          <p:nvPr/>
        </p:nvPicPr>
        <p:blipFill>
          <a:blip r:embed="rId2"/>
          <a:stretch>
            <a:fillRect/>
          </a:stretch>
        </p:blipFill>
        <p:spPr>
          <a:xfrm>
            <a:off x="1082837" y="1828800"/>
            <a:ext cx="99958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IAM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28234" y="1801368"/>
            <a:ext cx="93050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73_0.png"/>
          <p:cNvPicPr>
            <a:picLocks noChangeAspect="1"/>
          </p:cNvPicPr>
          <p:nvPr/>
        </p:nvPicPr>
        <p:blipFill>
          <a:blip r:embed="rId2"/>
          <a:stretch>
            <a:fillRect/>
          </a:stretch>
        </p:blipFill>
        <p:spPr>
          <a:xfrm>
            <a:off x="1455666" y="1828800"/>
            <a:ext cx="92501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Section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Users: mapped to a physical user, has a password for AWS Console</a:t>
            </a:r>
          </a:p>
          <a:p>
            <a:pPr>
              <a:spcAft>
                <a:spcPts val="1000"/>
              </a:spcAft>
            </a:pPr>
            <a:r>
              <a:rPr sz="1800" b="0">
                <a:solidFill>
                  <a:srgbClr val="161B26"/>
                </a:solidFill>
                <a:latin typeface="Arial"/>
              </a:rPr>
              <a:t>•  Groups: contains users only</a:t>
            </a:r>
          </a:p>
          <a:p>
            <a:pPr>
              <a:spcAft>
                <a:spcPts val="1000"/>
              </a:spcAft>
            </a:pPr>
            <a:r>
              <a:rPr sz="1800" b="0">
                <a:solidFill>
                  <a:srgbClr val="161B26"/>
                </a:solidFill>
                <a:latin typeface="Arial"/>
              </a:rPr>
              <a:t>•  Policies: JSON document that outlines permissions for users or groups</a:t>
            </a:r>
          </a:p>
          <a:p>
            <a:pPr>
              <a:spcAft>
                <a:spcPts val="1000"/>
              </a:spcAft>
            </a:pPr>
            <a:r>
              <a:rPr sz="1800" b="0">
                <a:solidFill>
                  <a:srgbClr val="161B26"/>
                </a:solidFill>
                <a:latin typeface="Arial"/>
              </a:rPr>
              <a:t>•  Roles: for EC2 instances or AWS services</a:t>
            </a:r>
          </a:p>
          <a:p>
            <a:pPr>
              <a:spcAft>
                <a:spcPts val="1000"/>
              </a:spcAft>
            </a:pPr>
            <a:r>
              <a:rPr sz="1800" b="0">
                <a:solidFill>
                  <a:srgbClr val="161B26"/>
                </a:solidFill>
                <a:latin typeface="Arial"/>
              </a:rPr>
              <a:t>•  Security: MFA + Password Policy</a:t>
            </a:r>
          </a:p>
          <a:p>
            <a:pPr>
              <a:spcAft>
                <a:spcPts val="1000"/>
              </a:spcAft>
            </a:pPr>
            <a:r>
              <a:rPr sz="1800" b="0">
                <a:solidFill>
                  <a:srgbClr val="161B26"/>
                </a:solidFill>
                <a:latin typeface="Arial"/>
              </a:rPr>
              <a:t>•  AWS CLI: manage your AWS services using the command-line</a:t>
            </a:r>
          </a:p>
          <a:p>
            <a:pPr>
              <a:spcAft>
                <a:spcPts val="1000"/>
              </a:spcAft>
            </a:pPr>
            <a:r>
              <a:rPr sz="1800" b="0">
                <a:solidFill>
                  <a:srgbClr val="161B26"/>
                </a:solidFill>
                <a:latin typeface="Arial"/>
              </a:rPr>
              <a:t>•  AWS SDK: manage your AWS services using a programming language</a:t>
            </a:r>
          </a:p>
          <a:p>
            <a:pPr>
              <a:spcAft>
                <a:spcPts val="1000"/>
              </a:spcAft>
            </a:pPr>
            <a:r>
              <a:rPr sz="1800" b="0">
                <a:solidFill>
                  <a:srgbClr val="161B26"/>
                </a:solidFill>
                <a:latin typeface="Arial"/>
              </a:rPr>
              <a:t>•  Access Keys: access AWS using the CLI or SDK</a:t>
            </a:r>
          </a:p>
          <a:p>
            <a:pPr>
              <a:spcAft>
                <a:spcPts val="1000"/>
              </a:spcAft>
            </a:pPr>
            <a:r>
              <a:rPr sz="1800" b="0">
                <a:solidFill>
                  <a:srgbClr val="161B26"/>
                </a:solidFill>
                <a:latin typeface="Arial"/>
              </a:rPr>
              <a:t>•  Audit: IAM Credential Reports &amp; IAM Access Advisor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Compute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EC2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is one of the most popular of AWS’ offering</a:t>
            </a:r>
          </a:p>
          <a:p>
            <a:pPr>
              <a:spcAft>
                <a:spcPts val="1000"/>
              </a:spcAft>
            </a:pPr>
            <a:r>
              <a:rPr sz="1800" b="0">
                <a:solidFill>
                  <a:srgbClr val="161B26"/>
                </a:solidFill>
                <a:latin typeface="Arial"/>
              </a:rPr>
              <a:t>•  EC2 = Elastic Compute Cloud = Infrastructure as a Service</a:t>
            </a:r>
          </a:p>
          <a:p>
            <a:pPr>
              <a:spcAft>
                <a:spcPts val="1000"/>
              </a:spcAft>
            </a:pPr>
            <a:r>
              <a:rPr sz="1800" b="0">
                <a:solidFill>
                  <a:srgbClr val="161B26"/>
                </a:solidFill>
                <a:latin typeface="Arial"/>
              </a:rPr>
              <a:t>•  It mainly consists in the capability of :</a:t>
            </a:r>
          </a:p>
          <a:p>
            <a:pPr>
              <a:spcAft>
                <a:spcPts val="1000"/>
              </a:spcAft>
            </a:pPr>
            <a:r>
              <a:rPr sz="1800" b="0">
                <a:solidFill>
                  <a:srgbClr val="161B26"/>
                </a:solidFill>
                <a:latin typeface="Arial"/>
              </a:rPr>
              <a:t>•  Renting virtual machines (EC2)</a:t>
            </a:r>
          </a:p>
          <a:p>
            <a:pPr>
              <a:spcAft>
                <a:spcPts val="1000"/>
              </a:spcAft>
            </a:pPr>
            <a:r>
              <a:rPr sz="1800" b="0">
                <a:solidFill>
                  <a:srgbClr val="161B26"/>
                </a:solidFill>
                <a:latin typeface="Arial"/>
              </a:rPr>
              <a:t>•  Storing data on virtual drives (EBS)</a:t>
            </a:r>
          </a:p>
          <a:p>
            <a:pPr>
              <a:spcAft>
                <a:spcPts val="1000"/>
              </a:spcAft>
            </a:pPr>
            <a:r>
              <a:rPr sz="1800" b="0">
                <a:solidFill>
                  <a:srgbClr val="161B26"/>
                </a:solidFill>
                <a:latin typeface="Arial"/>
              </a:rPr>
              <a:t>•  Distributing load across machines (ELB)</a:t>
            </a:r>
          </a:p>
          <a:p>
            <a:pPr>
              <a:spcAft>
                <a:spcPts val="1000"/>
              </a:spcAft>
            </a:pPr>
            <a:r>
              <a:rPr sz="1800" b="0">
                <a:solidFill>
                  <a:srgbClr val="161B26"/>
                </a:solidFill>
                <a:latin typeface="Arial"/>
              </a:rPr>
              <a:t>•  Scaling the services using an auto-scaling group (ASG)</a:t>
            </a:r>
          </a:p>
          <a:p>
            <a:pPr>
              <a:spcAft>
                <a:spcPts val="1000"/>
              </a:spcAft>
            </a:pPr>
            <a:r>
              <a:rPr sz="1800" b="0">
                <a:solidFill>
                  <a:srgbClr val="161B26"/>
                </a:solidFill>
                <a:latin typeface="Arial"/>
              </a:rPr>
              <a:t>•  Knowing EC2 is fundamental to understand how the Cloud works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sizing &amp; configuration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Operating System (OS): Linux, Windows or Mac OS</a:t>
            </a:r>
          </a:p>
          <a:p>
            <a:pPr>
              <a:spcAft>
                <a:spcPts val="1000"/>
              </a:spcAft>
            </a:pPr>
            <a:r>
              <a:rPr sz="1800" b="0">
                <a:solidFill>
                  <a:srgbClr val="161B26"/>
                </a:solidFill>
                <a:latin typeface="Arial"/>
              </a:rPr>
              <a:t>•  How much compute power &amp; cores (CPU)</a:t>
            </a:r>
          </a:p>
          <a:p>
            <a:pPr>
              <a:spcAft>
                <a:spcPts val="1000"/>
              </a:spcAft>
            </a:pPr>
            <a:r>
              <a:rPr sz="1800" b="0">
                <a:solidFill>
                  <a:srgbClr val="161B26"/>
                </a:solidFill>
                <a:latin typeface="Arial"/>
              </a:rPr>
              <a:t>•  How much random-access memory (RAM)</a:t>
            </a:r>
          </a:p>
          <a:p>
            <a:pPr>
              <a:spcAft>
                <a:spcPts val="1000"/>
              </a:spcAft>
            </a:pPr>
            <a:r>
              <a:rPr sz="1800" b="0">
                <a:solidFill>
                  <a:srgbClr val="161B26"/>
                </a:solidFill>
                <a:latin typeface="Arial"/>
              </a:rPr>
              <a:t>•  How much storage space:</a:t>
            </a:r>
          </a:p>
          <a:p>
            <a:pPr>
              <a:spcAft>
                <a:spcPts val="1000"/>
              </a:spcAft>
            </a:pPr>
            <a:r>
              <a:rPr sz="1800" b="0">
                <a:solidFill>
                  <a:srgbClr val="161B26"/>
                </a:solidFill>
                <a:latin typeface="Arial"/>
              </a:rPr>
              <a:t>•  Network-attached (EBS &amp; EFS)</a:t>
            </a:r>
          </a:p>
          <a:p>
            <a:pPr>
              <a:spcAft>
                <a:spcPts val="1000"/>
              </a:spcAft>
            </a:pPr>
            <a:r>
              <a:rPr sz="1800" b="0">
                <a:solidFill>
                  <a:srgbClr val="161B26"/>
                </a:solidFill>
                <a:latin typeface="Arial"/>
              </a:rPr>
              <a:t>•  hardware (EC2 Instance Store)</a:t>
            </a:r>
          </a:p>
          <a:p>
            <a:pPr>
              <a:spcAft>
                <a:spcPts val="1000"/>
              </a:spcAft>
            </a:pPr>
            <a:r>
              <a:rPr sz="1800" b="0">
                <a:solidFill>
                  <a:srgbClr val="161B26"/>
                </a:solidFill>
                <a:latin typeface="Arial"/>
              </a:rPr>
              <a:t>•  Network card: speed of the card, Public IP address</a:t>
            </a:r>
          </a:p>
          <a:p>
            <a:pPr>
              <a:spcAft>
                <a:spcPts val="1000"/>
              </a:spcAft>
            </a:pPr>
            <a:r>
              <a:rPr sz="1800" b="0">
                <a:solidFill>
                  <a:srgbClr val="161B26"/>
                </a:solidFill>
                <a:latin typeface="Arial"/>
              </a:rPr>
              <a:t>•  Firewall rules: security group</a:t>
            </a:r>
          </a:p>
          <a:p>
            <a:pPr>
              <a:spcAft>
                <a:spcPts val="1000"/>
              </a:spcAft>
            </a:pPr>
            <a:r>
              <a:rPr sz="1800" b="0">
                <a:solidFill>
                  <a:srgbClr val="161B26"/>
                </a:solidFill>
                <a:latin typeface="Arial"/>
              </a:rPr>
              <a:t>•  Bootstrap script (configure at first launch): EC2 User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User Data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 is possible to bootstrap our instances using an EC2 User data script.</a:t>
            </a:r>
          </a:p>
          <a:p>
            <a:pPr>
              <a:spcAft>
                <a:spcPts val="1000"/>
              </a:spcAft>
            </a:pPr>
            <a:r>
              <a:rPr sz="1800" b="0">
                <a:solidFill>
                  <a:srgbClr val="161B26"/>
                </a:solidFill>
                <a:latin typeface="Arial"/>
              </a:rPr>
              <a:t>•  bootstrapping means launching commands when a machine starts</a:t>
            </a:r>
          </a:p>
          <a:p>
            <a:pPr>
              <a:spcAft>
                <a:spcPts val="1000"/>
              </a:spcAft>
            </a:pPr>
            <a:r>
              <a:rPr sz="1800" b="0">
                <a:solidFill>
                  <a:srgbClr val="161B26"/>
                </a:solidFill>
                <a:latin typeface="Arial"/>
              </a:rPr>
              <a:t>•  That script is only run once at the instance first start</a:t>
            </a:r>
          </a:p>
          <a:p>
            <a:pPr>
              <a:spcAft>
                <a:spcPts val="1000"/>
              </a:spcAft>
            </a:pPr>
            <a:r>
              <a:rPr sz="1800" b="0">
                <a:solidFill>
                  <a:srgbClr val="161B26"/>
                </a:solidFill>
                <a:latin typeface="Arial"/>
              </a:rPr>
              <a:t>•  EC2 user data is used to automate boot tasks such as:</a:t>
            </a:r>
          </a:p>
          <a:p>
            <a:pPr>
              <a:spcAft>
                <a:spcPts val="1000"/>
              </a:spcAft>
            </a:pPr>
            <a:r>
              <a:rPr sz="1800" b="0">
                <a:solidFill>
                  <a:srgbClr val="161B26"/>
                </a:solidFill>
                <a:latin typeface="Arial"/>
              </a:rPr>
              <a:t>•  Installing updates</a:t>
            </a:r>
          </a:p>
          <a:p>
            <a:pPr>
              <a:spcAft>
                <a:spcPts val="1000"/>
              </a:spcAft>
            </a:pPr>
            <a:r>
              <a:rPr sz="1800" b="0">
                <a:solidFill>
                  <a:srgbClr val="161B26"/>
                </a:solidFill>
                <a:latin typeface="Arial"/>
              </a:rPr>
              <a:t>•  Installing software</a:t>
            </a:r>
          </a:p>
          <a:p>
            <a:pPr>
              <a:spcAft>
                <a:spcPts val="1000"/>
              </a:spcAft>
            </a:pPr>
            <a:r>
              <a:rPr sz="1800" b="0">
                <a:solidFill>
                  <a:srgbClr val="161B26"/>
                </a:solidFill>
                <a:latin typeface="Arial"/>
              </a:rPr>
              <a:t>•  Downloading common files from the internet</a:t>
            </a:r>
          </a:p>
          <a:p>
            <a:pPr>
              <a:spcAft>
                <a:spcPts val="1000"/>
              </a:spcAft>
            </a:pPr>
            <a:r>
              <a:rPr sz="1800" b="0">
                <a:solidFill>
                  <a:srgbClr val="161B26"/>
                </a:solidFill>
                <a:latin typeface="Arial"/>
              </a:rPr>
              <a:t>•  Anything you can think of</a:t>
            </a:r>
          </a:p>
          <a:p>
            <a:pPr>
              <a:spcAft>
                <a:spcPts val="1000"/>
              </a:spcAft>
            </a:pPr>
            <a:r>
              <a:rPr sz="1800" b="0">
                <a:solidFill>
                  <a:srgbClr val="161B26"/>
                </a:solidFill>
                <a:latin typeface="Arial"/>
              </a:rPr>
              <a:t>•  The EC2 User Data Script runs with the root user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Activity: Launching an EC2 Instance running Linux</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be launching our first virtual server using the AWS Console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get a first high-level approach to the various parameters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see that our web server is launched using EC2 user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We’ll learn how to start / stop / terminate our instance.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63962"/>
            <a:ext cx="10479024" cy="22102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1_0.png"/>
          <p:cNvPicPr>
            <a:picLocks noChangeAspect="1"/>
          </p:cNvPicPr>
          <p:nvPr/>
        </p:nvPicPr>
        <p:blipFill>
          <a:blip r:embed="rId2"/>
          <a:stretch>
            <a:fillRect/>
          </a:stretch>
        </p:blipFill>
        <p:spPr>
          <a:xfrm>
            <a:off x="868680" y="2991394"/>
            <a:ext cx="10424160" cy="215537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General Purpose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70868"/>
            <a:ext cx="10479024" cy="2430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2_0.png"/>
          <p:cNvPicPr>
            <a:picLocks noChangeAspect="1"/>
          </p:cNvPicPr>
          <p:nvPr/>
        </p:nvPicPr>
        <p:blipFill>
          <a:blip r:embed="rId2"/>
          <a:stretch>
            <a:fillRect/>
          </a:stretch>
        </p:blipFill>
        <p:spPr>
          <a:xfrm>
            <a:off x="868680" y="2698300"/>
            <a:ext cx="10424160" cy="2375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Great for a diversity of workloads such as web servers or code repositories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Compute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92866"/>
            <a:ext cx="10479024" cy="258666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3_0.png"/>
          <p:cNvPicPr>
            <a:picLocks noChangeAspect="1"/>
          </p:cNvPicPr>
          <p:nvPr/>
        </p:nvPicPr>
        <p:blipFill>
          <a:blip r:embed="rId2"/>
          <a:stretch>
            <a:fillRect/>
          </a:stretch>
        </p:blipFill>
        <p:spPr>
          <a:xfrm>
            <a:off x="868680" y="2620298"/>
            <a:ext cx="10424160" cy="253180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Great for compute-intensive tasks that require high performance processors: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Memory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03780"/>
            <a:ext cx="10479024" cy="196483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4_0.png"/>
          <p:cNvPicPr>
            <a:picLocks noChangeAspect="1"/>
          </p:cNvPicPr>
          <p:nvPr/>
        </p:nvPicPr>
        <p:blipFill>
          <a:blip r:embed="rId2"/>
          <a:stretch>
            <a:fillRect/>
          </a:stretch>
        </p:blipFill>
        <p:spPr>
          <a:xfrm>
            <a:off x="868680" y="2931212"/>
            <a:ext cx="10424160" cy="190997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Fast performance for workloads that process large data sets in memory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 Storage Optimized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15776"/>
            <a:ext cx="10479024" cy="23066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5_0.png"/>
          <p:cNvPicPr>
            <a:picLocks noChangeAspect="1"/>
          </p:cNvPicPr>
          <p:nvPr/>
        </p:nvPicPr>
        <p:blipFill>
          <a:blip r:embed="rId2"/>
          <a:stretch>
            <a:fillRect/>
          </a:stretch>
        </p:blipFill>
        <p:spPr>
          <a:xfrm>
            <a:off x="868680" y="2943208"/>
            <a:ext cx="10424160" cy="2251744"/>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Types: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76938"/>
            <a:ext cx="10479024" cy="398428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6_0.png"/>
          <p:cNvPicPr>
            <a:picLocks noChangeAspect="1"/>
          </p:cNvPicPr>
          <p:nvPr/>
        </p:nvPicPr>
        <p:blipFill>
          <a:blip r:embed="rId2"/>
          <a:stretch>
            <a:fillRect/>
          </a:stretch>
        </p:blipFill>
        <p:spPr>
          <a:xfrm>
            <a:off x="868680" y="2104370"/>
            <a:ext cx="10424160" cy="392941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Introduction to Security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77174"/>
            <a:ext cx="10479024" cy="281805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7_0.png"/>
          <p:cNvPicPr>
            <a:picLocks noChangeAspect="1"/>
          </p:cNvPicPr>
          <p:nvPr/>
        </p:nvPicPr>
        <p:blipFill>
          <a:blip r:embed="rId2"/>
          <a:stretch>
            <a:fillRect/>
          </a:stretch>
        </p:blipFill>
        <p:spPr>
          <a:xfrm>
            <a:off x="868680" y="2504606"/>
            <a:ext cx="10424160" cy="276318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Security Groups are the fundamental of network security in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Deeper Dive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43634"/>
            <a:ext cx="10479024" cy="14851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8_0.png"/>
          <p:cNvPicPr>
            <a:picLocks noChangeAspect="1"/>
          </p:cNvPicPr>
          <p:nvPr/>
        </p:nvPicPr>
        <p:blipFill>
          <a:blip r:embed="rId2"/>
          <a:stretch>
            <a:fillRect/>
          </a:stretch>
        </p:blipFill>
        <p:spPr>
          <a:xfrm>
            <a:off x="868680" y="3171066"/>
            <a:ext cx="10424160" cy="143026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Security groups are acting as a “firewall” on EC2 instances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Diagram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49690"/>
            <a:ext cx="10479024" cy="423877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89_0.png"/>
          <p:cNvPicPr>
            <a:picLocks noChangeAspect="1"/>
          </p:cNvPicPr>
          <p:nvPr/>
        </p:nvPicPr>
        <p:blipFill>
          <a:blip r:embed="rId2"/>
          <a:stretch>
            <a:fillRect/>
          </a:stretch>
        </p:blipFill>
        <p:spPr>
          <a:xfrm>
            <a:off x="868680" y="1977122"/>
            <a:ext cx="10424160" cy="4183915"/>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 Good to know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be attached to multiple instances</a:t>
            </a:r>
          </a:p>
          <a:p>
            <a:pPr>
              <a:spcAft>
                <a:spcPts val="1000"/>
              </a:spcAft>
            </a:pPr>
            <a:r>
              <a:rPr sz="1800" b="0">
                <a:solidFill>
                  <a:srgbClr val="161B26"/>
                </a:solidFill>
                <a:latin typeface="Arial"/>
              </a:rPr>
              <a:t>•  Locked down to a region / VPC combination</a:t>
            </a:r>
          </a:p>
          <a:p>
            <a:pPr>
              <a:spcAft>
                <a:spcPts val="1000"/>
              </a:spcAft>
            </a:pPr>
            <a:r>
              <a:rPr sz="1800" b="0">
                <a:solidFill>
                  <a:srgbClr val="161B26"/>
                </a:solidFill>
                <a:latin typeface="Arial"/>
              </a:rPr>
              <a:t>•  Does live “outside” the EC2 – if traffic is blocked the EC2 instance won’t see it</a:t>
            </a:r>
          </a:p>
          <a:p>
            <a:pPr>
              <a:spcAft>
                <a:spcPts val="1000"/>
              </a:spcAft>
            </a:pPr>
            <a:r>
              <a:rPr sz="1800" b="0">
                <a:solidFill>
                  <a:srgbClr val="161B26"/>
                </a:solidFill>
                <a:latin typeface="Arial"/>
              </a:rPr>
              <a:t>•  It’s good to maintain one separate security group for SSH access</a:t>
            </a:r>
          </a:p>
          <a:p>
            <a:pPr>
              <a:spcAft>
                <a:spcPts val="1000"/>
              </a:spcAft>
            </a:pPr>
            <a:r>
              <a:rPr sz="1800" b="0">
                <a:solidFill>
                  <a:srgbClr val="161B26"/>
                </a:solidFill>
                <a:latin typeface="Arial"/>
              </a:rPr>
              <a:t>•  If your application is not accessible (time out), then it’s a security group issue</a:t>
            </a:r>
          </a:p>
          <a:p>
            <a:pPr>
              <a:spcAft>
                <a:spcPts val="1000"/>
              </a:spcAft>
            </a:pPr>
            <a:r>
              <a:rPr sz="1800" b="0">
                <a:solidFill>
                  <a:srgbClr val="161B26"/>
                </a:solidFill>
                <a:latin typeface="Arial"/>
              </a:rPr>
              <a:t>•  If your application gives a “connection refused“ error, then it’s an application error or it’s not launched</a:t>
            </a:r>
          </a:p>
          <a:p>
            <a:pPr>
              <a:spcAft>
                <a:spcPts val="1000"/>
              </a:spcAft>
            </a:pPr>
            <a:r>
              <a:rPr sz="1800" b="0">
                <a:solidFill>
                  <a:srgbClr val="161B26"/>
                </a:solidFill>
                <a:latin typeface="Arial"/>
              </a:rPr>
              <a:t>•  All inbound traffic is blocked by default</a:t>
            </a:r>
          </a:p>
          <a:p>
            <a:pPr>
              <a:spcAft>
                <a:spcPts val="1000"/>
              </a:spcAft>
            </a:pPr>
            <a:r>
              <a:rPr sz="1800" b="0">
                <a:solidFill>
                  <a:srgbClr val="161B26"/>
                </a:solidFill>
                <a:latin typeface="Arial"/>
              </a:rPr>
              <a:t>•  All outbound traffic is authorised by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Referencing other security groups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5988" y="1801368"/>
            <a:ext cx="102695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91_0.png"/>
          <p:cNvPicPr>
            <a:picLocks noChangeAspect="1"/>
          </p:cNvPicPr>
          <p:nvPr/>
        </p:nvPicPr>
        <p:blipFill>
          <a:blip r:embed="rId2"/>
          <a:stretch>
            <a:fillRect/>
          </a:stretch>
        </p:blipFill>
        <p:spPr>
          <a:xfrm>
            <a:off x="973420" y="1828800"/>
            <a:ext cx="1021467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Diagram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Classic Ports to know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22 = SSH (Secure Shell) - log into a Linux instance</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21 = FTP (File Transfer Protocol) – upload files into a file share</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22 = SFTP (Secure File Transfer Protocol) – upload files using SSH</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80 = HTTP – access unsecured websites</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443 = HTTPS – access secured websites</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3389 = RDP (Remote Desktop Protocol) – log into a Windows instance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SSH Summary Table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45938" y="1801368"/>
            <a:ext cx="88696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93_0.png"/>
          <p:cNvPicPr>
            <a:picLocks noChangeAspect="1"/>
          </p:cNvPicPr>
          <p:nvPr/>
        </p:nvPicPr>
        <p:blipFill>
          <a:blip r:embed="rId2"/>
          <a:stretch>
            <a:fillRect/>
          </a:stretch>
        </p:blipFill>
        <p:spPr>
          <a:xfrm>
            <a:off x="1673370" y="1828800"/>
            <a:ext cx="881478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Security Tools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28234" y="1801368"/>
            <a:ext cx="93050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094_0.png"/>
          <p:cNvPicPr>
            <a:picLocks noChangeAspect="1"/>
          </p:cNvPicPr>
          <p:nvPr/>
        </p:nvPicPr>
        <p:blipFill>
          <a:blip r:embed="rId2"/>
          <a:stretch>
            <a:fillRect/>
          </a:stretch>
        </p:blipFill>
        <p:spPr>
          <a:xfrm>
            <a:off x="1455666" y="1828800"/>
            <a:ext cx="92501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Connect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to your EC2 instance within your browser</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No need to use your key file that was downloaded</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The “magic” is that a temporary key is uploaded onto EC2 by AWS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Works only out-of-the-box with Amazon Linux 2</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Need to make sure the port 22 is still opened!</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Instances Purchasing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 – short workload, predictable pricing, pay by second</a:t>
            </a:r>
          </a:p>
          <a:p>
            <a:pPr>
              <a:spcAft>
                <a:spcPts val="1000"/>
              </a:spcAft>
            </a:pPr>
            <a:r>
              <a:rPr sz="1800" b="0">
                <a:solidFill>
                  <a:srgbClr val="161B26"/>
                </a:solidFill>
                <a:latin typeface="Arial"/>
              </a:rPr>
              <a:t>•  Reserved (1 &amp; 3 years)</a:t>
            </a:r>
          </a:p>
          <a:p>
            <a:pPr>
              <a:spcAft>
                <a:spcPts val="1000"/>
              </a:spcAft>
            </a:pPr>
            <a:r>
              <a:rPr sz="1800" b="0">
                <a:solidFill>
                  <a:srgbClr val="161B26"/>
                </a:solidFill>
                <a:latin typeface="Arial"/>
              </a:rPr>
              <a:t>•  Reserved Instances – long workloads</a:t>
            </a:r>
          </a:p>
          <a:p>
            <a:pPr>
              <a:spcAft>
                <a:spcPts val="1000"/>
              </a:spcAft>
            </a:pPr>
            <a:r>
              <a:rPr sz="1800" b="0">
                <a:solidFill>
                  <a:srgbClr val="161B26"/>
                </a:solidFill>
                <a:latin typeface="Arial"/>
              </a:rPr>
              <a:t>•  Convertible Reserved Instances – long workloads with flexible instances</a:t>
            </a:r>
          </a:p>
          <a:p>
            <a:pPr>
              <a:spcAft>
                <a:spcPts val="1000"/>
              </a:spcAft>
            </a:pPr>
            <a:r>
              <a:rPr sz="1800" b="0">
                <a:solidFill>
                  <a:srgbClr val="161B26"/>
                </a:solidFill>
                <a:latin typeface="Arial"/>
              </a:rPr>
              <a:t>•  Savings Plans (1 &amp; 3 years) –commitment to an amount of usage, long workload</a:t>
            </a:r>
          </a:p>
          <a:p>
            <a:pPr>
              <a:spcAft>
                <a:spcPts val="1000"/>
              </a:spcAft>
            </a:pPr>
            <a:r>
              <a:rPr sz="1800" b="0">
                <a:solidFill>
                  <a:srgbClr val="161B26"/>
                </a:solidFill>
                <a:latin typeface="Arial"/>
              </a:rPr>
              <a:t>•  Spot Instances – short workloads, cheap, can lose instances (less reliable)</a:t>
            </a:r>
          </a:p>
          <a:p>
            <a:pPr>
              <a:spcAft>
                <a:spcPts val="1000"/>
              </a:spcAft>
            </a:pPr>
            <a:r>
              <a:rPr sz="1800" b="0">
                <a:solidFill>
                  <a:srgbClr val="161B26"/>
                </a:solidFill>
                <a:latin typeface="Arial"/>
              </a:rPr>
              <a:t>•  Dedicated Hosts – book an entire physical server, control instance placement</a:t>
            </a:r>
          </a:p>
          <a:p>
            <a:pPr>
              <a:spcAft>
                <a:spcPts val="1000"/>
              </a:spcAft>
            </a:pPr>
            <a:r>
              <a:rPr sz="1800" b="0">
                <a:solidFill>
                  <a:srgbClr val="161B26"/>
                </a:solidFill>
                <a:latin typeface="Arial"/>
              </a:rPr>
              <a:t>•  Dedicated Instances – no other customers will share your hardware</a:t>
            </a:r>
          </a:p>
          <a:p>
            <a:pPr>
              <a:spcAft>
                <a:spcPts val="1000"/>
              </a:spcAft>
            </a:pPr>
            <a:r>
              <a:rPr sz="1800" b="0">
                <a:solidFill>
                  <a:srgbClr val="161B26"/>
                </a:solidFill>
                <a:latin typeface="Arial"/>
              </a:rPr>
              <a:t>•  Capacity Reservations – reserve capacity in a specific AZ for any duration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On Demand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Pay for what you use:</a:t>
            </a:r>
          </a:p>
          <a:p>
            <a:pPr>
              <a:spcAft>
                <a:spcPts val="1000"/>
              </a:spcAft>
            </a:pPr>
            <a:r>
              <a:rPr sz="2000" b="0">
                <a:solidFill>
                  <a:srgbClr val="161B26"/>
                </a:solidFill>
                <a:latin typeface="Arial"/>
              </a:rPr>
              <a:t>•  Linux or Windows - billing per second, after the first minute</a:t>
            </a:r>
          </a:p>
          <a:p>
            <a:pPr>
              <a:spcAft>
                <a:spcPts val="1000"/>
              </a:spcAft>
            </a:pPr>
            <a:r>
              <a:rPr sz="2000" b="0">
                <a:solidFill>
                  <a:srgbClr val="161B26"/>
                </a:solidFill>
                <a:latin typeface="Arial"/>
              </a:rPr>
              <a:t>•  All other operating systems - billing per hour</a:t>
            </a:r>
          </a:p>
          <a:p>
            <a:pPr>
              <a:spcAft>
                <a:spcPts val="1000"/>
              </a:spcAft>
            </a:pPr>
            <a:r>
              <a:rPr sz="2000" b="0">
                <a:solidFill>
                  <a:srgbClr val="161B26"/>
                </a:solidFill>
                <a:latin typeface="Arial"/>
              </a:rPr>
              <a:t>•  Has the highest cost but no upfront payment</a:t>
            </a:r>
          </a:p>
          <a:p>
            <a:pPr>
              <a:spcAft>
                <a:spcPts val="1000"/>
              </a:spcAft>
            </a:pPr>
            <a:r>
              <a:rPr sz="2000" b="0">
                <a:solidFill>
                  <a:srgbClr val="161B26"/>
                </a:solidFill>
                <a:latin typeface="Arial"/>
              </a:rPr>
              <a:t>•  No long-term commitment</a:t>
            </a:r>
          </a:p>
          <a:p>
            <a:pPr>
              <a:spcAft>
                <a:spcPts val="1000"/>
              </a:spcAft>
            </a:pPr>
            <a:r>
              <a:rPr sz="2000" b="0">
                <a:solidFill>
                  <a:srgbClr val="161B26"/>
                </a:solidFill>
                <a:latin typeface="Arial"/>
              </a:rPr>
              <a:t>•  Recommended for short-term and un-interrupted workloads, where you can't predict how the application will behave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Reserved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Up to 72% discount compared to On-demand</a:t>
            </a:r>
          </a:p>
          <a:p>
            <a:pPr>
              <a:spcAft>
                <a:spcPts val="1000"/>
              </a:spcAft>
            </a:pPr>
            <a:r>
              <a:rPr sz="1800" b="0">
                <a:solidFill>
                  <a:srgbClr val="161B26"/>
                </a:solidFill>
                <a:latin typeface="Arial"/>
              </a:rPr>
              <a:t>•  You reserve a specific instance attributes (Instance Type, Region, Tenancy, OS)</a:t>
            </a:r>
          </a:p>
          <a:p>
            <a:pPr>
              <a:spcAft>
                <a:spcPts val="1000"/>
              </a:spcAft>
            </a:pPr>
            <a:r>
              <a:rPr sz="1800" b="0">
                <a:solidFill>
                  <a:srgbClr val="161B26"/>
                </a:solidFill>
                <a:latin typeface="Arial"/>
              </a:rPr>
              <a:t>•  Reservation Period – 1 year (+discount) or 3 years (+++discount)</a:t>
            </a:r>
          </a:p>
          <a:p>
            <a:pPr>
              <a:spcAft>
                <a:spcPts val="1000"/>
              </a:spcAft>
            </a:pPr>
            <a:r>
              <a:rPr sz="1800" b="0">
                <a:solidFill>
                  <a:srgbClr val="161B26"/>
                </a:solidFill>
                <a:latin typeface="Arial"/>
              </a:rPr>
              <a:t>•  Payment Options – No Upfront (+), Partial Upfront (++), All Upfront (+++)</a:t>
            </a:r>
          </a:p>
          <a:p>
            <a:pPr>
              <a:spcAft>
                <a:spcPts val="1000"/>
              </a:spcAft>
            </a:pPr>
            <a:r>
              <a:rPr sz="1800" b="0">
                <a:solidFill>
                  <a:srgbClr val="161B26"/>
                </a:solidFill>
                <a:latin typeface="Arial"/>
              </a:rPr>
              <a:t>•  Reserved Instance’s Scope – Regional or Zonal (reserve capacity in an AZ)</a:t>
            </a:r>
          </a:p>
          <a:p>
            <a:pPr>
              <a:spcAft>
                <a:spcPts val="1000"/>
              </a:spcAft>
            </a:pPr>
            <a:r>
              <a:rPr sz="1800" b="0">
                <a:solidFill>
                  <a:srgbClr val="161B26"/>
                </a:solidFill>
                <a:latin typeface="Arial"/>
              </a:rPr>
              <a:t>•  Recommended for steady-state usage applications (think database)</a:t>
            </a:r>
          </a:p>
          <a:p>
            <a:pPr>
              <a:spcAft>
                <a:spcPts val="1000"/>
              </a:spcAft>
            </a:pPr>
            <a:r>
              <a:rPr sz="1800" b="0">
                <a:solidFill>
                  <a:srgbClr val="161B26"/>
                </a:solidFill>
                <a:latin typeface="Arial"/>
              </a:rPr>
              <a:t>•  You can buy and sell in the Reserved Instance Marketplace</a:t>
            </a:r>
          </a:p>
          <a:p>
            <a:pPr>
              <a:spcAft>
                <a:spcPts val="1000"/>
              </a:spcAft>
            </a:pPr>
            <a:r>
              <a:rPr sz="1800" b="0">
                <a:solidFill>
                  <a:srgbClr val="161B26"/>
                </a:solidFill>
                <a:latin typeface="Arial"/>
              </a:rPr>
              <a:t>•  Convertible Reserved Instance</a:t>
            </a:r>
          </a:p>
          <a:p>
            <a:pPr>
              <a:spcAft>
                <a:spcPts val="1000"/>
              </a:spcAft>
            </a:pPr>
            <a:r>
              <a:rPr sz="1800" b="0">
                <a:solidFill>
                  <a:srgbClr val="161B26"/>
                </a:solidFill>
                <a:latin typeface="Arial"/>
              </a:rPr>
              <a:t>•  Can change the EC2 instance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Savings Plans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Get a discount based on long-term usage (up to 72% - same as RIs)</a:t>
            </a:r>
          </a:p>
          <a:p>
            <a:pPr>
              <a:spcAft>
                <a:spcPts val="1000"/>
              </a:spcAft>
            </a:pPr>
            <a:r>
              <a:rPr sz="1800" b="0">
                <a:solidFill>
                  <a:srgbClr val="161B26"/>
                </a:solidFill>
                <a:latin typeface="Arial"/>
              </a:rPr>
              <a:t>•  Commit to a certain type of usage ($10/hour for 1 or 3 years)</a:t>
            </a:r>
          </a:p>
          <a:p>
            <a:pPr>
              <a:spcAft>
                <a:spcPts val="1000"/>
              </a:spcAft>
            </a:pPr>
            <a:r>
              <a:rPr sz="1800" b="0">
                <a:solidFill>
                  <a:srgbClr val="161B26"/>
                </a:solidFill>
                <a:latin typeface="Arial"/>
              </a:rPr>
              <a:t>•  Usage beyond EC2 Savings Plans is billed at the On-Demand price</a:t>
            </a:r>
          </a:p>
          <a:p>
            <a:pPr>
              <a:spcAft>
                <a:spcPts val="1000"/>
              </a:spcAft>
            </a:pPr>
            <a:r>
              <a:rPr sz="1800" b="0">
                <a:solidFill>
                  <a:srgbClr val="161B26"/>
                </a:solidFill>
                <a:latin typeface="Arial"/>
              </a:rPr>
              <a:t>•  Locked to a specific instance family &amp; AWS region (e.g., M5 in us-east-1)</a:t>
            </a:r>
          </a:p>
          <a:p>
            <a:pPr>
              <a:spcAft>
                <a:spcPts val="1000"/>
              </a:spcAft>
            </a:pPr>
            <a:r>
              <a:rPr sz="1800" b="0">
                <a:solidFill>
                  <a:srgbClr val="161B26"/>
                </a:solidFill>
                <a:latin typeface="Arial"/>
              </a:rPr>
              <a:t>•  Flexible across:</a:t>
            </a:r>
          </a:p>
          <a:p>
            <a:pPr>
              <a:spcAft>
                <a:spcPts val="1000"/>
              </a:spcAft>
            </a:pPr>
            <a:r>
              <a:rPr sz="1800" b="0">
                <a:solidFill>
                  <a:srgbClr val="161B26"/>
                </a:solidFill>
                <a:latin typeface="Arial"/>
              </a:rPr>
              <a:t>•  Instance Size (e.g., m5.xlarge, m5.2xlarge)</a:t>
            </a:r>
          </a:p>
          <a:p>
            <a:pPr>
              <a:spcAft>
                <a:spcPts val="1000"/>
              </a:spcAft>
            </a:pPr>
            <a:r>
              <a:rPr sz="1800" b="0">
                <a:solidFill>
                  <a:srgbClr val="161B26"/>
                </a:solidFill>
                <a:latin typeface="Arial"/>
              </a:rPr>
              <a:t>•  OS (e.g., Linux, Windows)</a:t>
            </a:r>
          </a:p>
          <a:p>
            <a:pPr>
              <a:spcAft>
                <a:spcPts val="1000"/>
              </a:spcAft>
            </a:pPr>
            <a:r>
              <a:rPr sz="1800" b="0">
                <a:solidFill>
                  <a:srgbClr val="161B26"/>
                </a:solidFill>
                <a:latin typeface="Arial"/>
              </a:rPr>
              <a:t>•  Tenancy (Host, Dedicated, Default)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Spot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Can get a discount of up to 90% compared to On-demand</a:t>
            </a:r>
          </a:p>
          <a:p>
            <a:pPr>
              <a:spcAft>
                <a:spcPts val="1000"/>
              </a:spcAft>
            </a:pPr>
            <a:r>
              <a:rPr sz="1800" b="0">
                <a:solidFill>
                  <a:srgbClr val="161B26"/>
                </a:solidFill>
                <a:latin typeface="Arial"/>
              </a:rPr>
              <a:t>•  Instances that you can “lose” at any point of time if your max price is less than the</a:t>
            </a:r>
          </a:p>
          <a:p>
            <a:pPr>
              <a:spcAft>
                <a:spcPts val="1000"/>
              </a:spcAft>
            </a:pPr>
            <a:r>
              <a:rPr sz="1800" b="0">
                <a:solidFill>
                  <a:srgbClr val="161B26"/>
                </a:solidFill>
                <a:latin typeface="Arial"/>
              </a:rPr>
              <a:t>•  current spot price</a:t>
            </a:r>
          </a:p>
          <a:p>
            <a:pPr>
              <a:spcAft>
                <a:spcPts val="1000"/>
              </a:spcAft>
            </a:pPr>
            <a:r>
              <a:rPr sz="1800" b="0">
                <a:solidFill>
                  <a:srgbClr val="161B26"/>
                </a:solidFill>
                <a:latin typeface="Arial"/>
              </a:rPr>
              <a:t>•  The MOST cost-efficient instances in AWS</a:t>
            </a:r>
          </a:p>
          <a:p>
            <a:pPr>
              <a:spcAft>
                <a:spcPts val="1000"/>
              </a:spcAft>
            </a:pPr>
            <a:r>
              <a:rPr sz="1800" b="0">
                <a:solidFill>
                  <a:srgbClr val="161B26"/>
                </a:solidFill>
                <a:latin typeface="Arial"/>
              </a:rPr>
              <a:t>•  Useful for workloads that are resilient to failure</a:t>
            </a:r>
          </a:p>
          <a:p>
            <a:pPr>
              <a:spcAft>
                <a:spcPts val="1000"/>
              </a:spcAft>
            </a:pPr>
            <a:r>
              <a:rPr sz="1800" b="0">
                <a:solidFill>
                  <a:srgbClr val="161B26"/>
                </a:solidFill>
                <a:latin typeface="Arial"/>
              </a:rPr>
              <a:t>•  Batch jobs</a:t>
            </a:r>
          </a:p>
          <a:p>
            <a:pPr>
              <a:spcAft>
                <a:spcPts val="1000"/>
              </a:spcAft>
            </a:pPr>
            <a:r>
              <a:rPr sz="1800" b="0">
                <a:solidFill>
                  <a:srgbClr val="161B26"/>
                </a:solidFill>
                <a:latin typeface="Arial"/>
              </a:rPr>
              <a:t>•  Data analysis</a:t>
            </a:r>
          </a:p>
          <a:p>
            <a:pPr>
              <a:spcAft>
                <a:spcPts val="1000"/>
              </a:spcAft>
            </a:pPr>
            <a:r>
              <a:rPr sz="1800" b="0">
                <a:solidFill>
                  <a:srgbClr val="161B26"/>
                </a:solidFill>
                <a:latin typeface="Arial"/>
              </a:rPr>
              <a:t>•  Image processing</a:t>
            </a:r>
          </a:p>
          <a:p>
            <a:pPr>
              <a:spcAft>
                <a:spcPts val="1000"/>
              </a:spcAft>
            </a:pPr>
            <a:r>
              <a:rPr sz="1800" b="0">
                <a:solidFill>
                  <a:srgbClr val="161B26"/>
                </a:solidFill>
                <a:latin typeface="Arial"/>
              </a:rPr>
              <a:t>•  Any distributed workloads</a:t>
            </a:r>
          </a:p>
          <a:p>
            <a:pPr>
              <a:spcAft>
                <a:spcPts val="1000"/>
              </a:spcAft>
            </a:pPr>
            <a:r>
              <a:rPr sz="1800" b="0">
                <a:solidFill>
                  <a:srgbClr val="161B26"/>
                </a:solidFill>
                <a:latin typeface="Arial"/>
              </a:rPr>
              <a:t>•  Workloads with a flexible start and end time</a:t>
            </a:r>
          </a:p>
          <a:p>
            <a:pPr>
              <a:spcAft>
                <a:spcPts val="1000"/>
              </a:spcAft>
            </a:pPr>
            <a:r>
              <a:rPr sz="1800" b="0">
                <a:solidFill>
                  <a:srgbClr val="161B26"/>
                </a:solidFill>
                <a:latin typeface="Arial"/>
              </a:rPr>
              <a:t>•  Not suitable for critical jobs or databases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Hosts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physical server with EC2 instance capacity fully dedicated to your use</a:t>
            </a:r>
          </a:p>
          <a:p>
            <a:pPr>
              <a:spcAft>
                <a:spcPts val="1000"/>
              </a:spcAft>
            </a:pPr>
            <a:r>
              <a:rPr sz="1800" b="0">
                <a:solidFill>
                  <a:srgbClr val="161B26"/>
                </a:solidFill>
                <a:latin typeface="Arial"/>
              </a:rPr>
              <a:t>•  Allows you address compliance requirements and use your existing server bound software licenses (per-socket, per-core, pe—VM software licenses)</a:t>
            </a:r>
          </a:p>
          <a:p>
            <a:pPr>
              <a:spcAft>
                <a:spcPts val="1000"/>
              </a:spcAft>
            </a:pPr>
            <a:r>
              <a:rPr sz="1800" b="0">
                <a:solidFill>
                  <a:srgbClr val="161B26"/>
                </a:solidFill>
                <a:latin typeface="Arial"/>
              </a:rPr>
              <a:t>•  Purchasing Options:</a:t>
            </a:r>
          </a:p>
          <a:p>
            <a:pPr>
              <a:spcAft>
                <a:spcPts val="1000"/>
              </a:spcAft>
            </a:pPr>
            <a:r>
              <a:rPr sz="1800" b="0">
                <a:solidFill>
                  <a:srgbClr val="161B26"/>
                </a:solidFill>
                <a:latin typeface="Arial"/>
              </a:rPr>
              <a:t>•  On-demand – pay per second for active Dedicated Host</a:t>
            </a:r>
          </a:p>
          <a:p>
            <a:pPr>
              <a:spcAft>
                <a:spcPts val="1000"/>
              </a:spcAft>
            </a:pPr>
            <a:r>
              <a:rPr sz="1800" b="0">
                <a:solidFill>
                  <a:srgbClr val="161B26"/>
                </a:solidFill>
                <a:latin typeface="Arial"/>
              </a:rPr>
              <a:t>•  Reserved - 1 or 3 years (No Upfront, Partial Upfront, All Upfront)</a:t>
            </a:r>
          </a:p>
          <a:p>
            <a:pPr>
              <a:spcAft>
                <a:spcPts val="1000"/>
              </a:spcAft>
            </a:pPr>
            <a:r>
              <a:rPr sz="1800" b="0">
                <a:solidFill>
                  <a:srgbClr val="161B26"/>
                </a:solidFill>
                <a:latin typeface="Arial"/>
              </a:rPr>
              <a:t>•  The most expensive option</a:t>
            </a:r>
          </a:p>
          <a:p>
            <a:pPr>
              <a:spcAft>
                <a:spcPts val="1000"/>
              </a:spcAft>
            </a:pPr>
            <a:r>
              <a:rPr sz="1800" b="0">
                <a:solidFill>
                  <a:srgbClr val="161B26"/>
                </a:solidFill>
                <a:latin typeface="Arial"/>
              </a:rPr>
              <a:t>•  Useful for software that have complicated licensing model (BYOL – Bring Your Own License)</a:t>
            </a:r>
          </a:p>
          <a:p>
            <a:pPr>
              <a:spcAft>
                <a:spcPts val="1000"/>
              </a:spcAft>
            </a:pPr>
            <a:r>
              <a:rPr sz="1800" b="0">
                <a:solidFill>
                  <a:srgbClr val="161B26"/>
                </a:solidFill>
                <a:latin typeface="Arial"/>
              </a:rPr>
              <a:t>•  Or for companies that have strong regulatory or compliance needs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Dedicated Instances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70474" y="1801368"/>
            <a:ext cx="362057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02_0.png"/>
          <p:cNvPicPr>
            <a:picLocks noChangeAspect="1"/>
          </p:cNvPicPr>
          <p:nvPr/>
        </p:nvPicPr>
        <p:blipFill>
          <a:blip r:embed="rId2"/>
          <a:stretch>
            <a:fillRect/>
          </a:stretch>
        </p:blipFill>
        <p:spPr>
          <a:xfrm>
            <a:off x="4297906" y="1828800"/>
            <a:ext cx="356570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Instances run on hardware that’s dedicated to you</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Capacity Reservations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Reserve On-Demand instances capacity in a specific AZ for any duration</a:t>
            </a:r>
          </a:p>
          <a:p>
            <a:pPr>
              <a:spcAft>
                <a:spcPts val="1000"/>
              </a:spcAft>
            </a:pPr>
            <a:r>
              <a:rPr sz="2000" b="0">
                <a:solidFill>
                  <a:srgbClr val="161B26"/>
                </a:solidFill>
                <a:latin typeface="Arial"/>
              </a:rPr>
              <a:t>•  You always have access to EC2 capacity when you need it</a:t>
            </a:r>
          </a:p>
          <a:p>
            <a:pPr>
              <a:spcAft>
                <a:spcPts val="1000"/>
              </a:spcAft>
            </a:pPr>
            <a:r>
              <a:rPr sz="2000" b="0">
                <a:solidFill>
                  <a:srgbClr val="161B26"/>
                </a:solidFill>
                <a:latin typeface="Arial"/>
              </a:rPr>
              <a:t>•  No time commitment (create/cancel anytime), no billing discounts</a:t>
            </a:r>
          </a:p>
          <a:p>
            <a:pPr>
              <a:spcAft>
                <a:spcPts val="1000"/>
              </a:spcAft>
            </a:pPr>
            <a:r>
              <a:rPr sz="2000" b="0">
                <a:solidFill>
                  <a:srgbClr val="161B26"/>
                </a:solidFill>
                <a:latin typeface="Arial"/>
              </a:rPr>
              <a:t>•  Combine with Regional Reserved Instances and Savings Plans to benefit from billing discounts</a:t>
            </a:r>
          </a:p>
          <a:p>
            <a:pPr>
              <a:spcAft>
                <a:spcPts val="1000"/>
              </a:spcAft>
            </a:pPr>
            <a:r>
              <a:rPr sz="2000" b="0">
                <a:solidFill>
                  <a:srgbClr val="161B26"/>
                </a:solidFill>
                <a:latin typeface="Arial"/>
              </a:rPr>
              <a:t>•  You’re charged at On-Demand rate whether you run instances or not</a:t>
            </a:r>
          </a:p>
          <a:p>
            <a:pPr>
              <a:spcAft>
                <a:spcPts val="1000"/>
              </a:spcAft>
            </a:pPr>
            <a:r>
              <a:rPr sz="2000" b="0">
                <a:solidFill>
                  <a:srgbClr val="161B26"/>
                </a:solidFill>
                <a:latin typeface="Arial"/>
              </a:rPr>
              <a:t>•  Suitable for short-term, uninterrupted workloads that needs to be in a specific AZ</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Which purchasing option is right for 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44186" y="1801368"/>
            <a:ext cx="56731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04_0.png"/>
          <p:cNvPicPr>
            <a:picLocks noChangeAspect="1"/>
          </p:cNvPicPr>
          <p:nvPr/>
        </p:nvPicPr>
        <p:blipFill>
          <a:blip r:embed="rId2"/>
          <a:stretch>
            <a:fillRect/>
          </a:stretch>
        </p:blipFill>
        <p:spPr>
          <a:xfrm>
            <a:off x="3271618" y="1828800"/>
            <a:ext cx="561828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 demand: coming and staying in resort whenever we like, we pay the full price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Price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27143"/>
            <a:ext cx="10479024" cy="391811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05_0.png"/>
          <p:cNvPicPr>
            <a:picLocks noChangeAspect="1"/>
          </p:cNvPicPr>
          <p:nvPr/>
        </p:nvPicPr>
        <p:blipFill>
          <a:blip r:embed="rId2"/>
          <a:stretch>
            <a:fillRect/>
          </a:stretch>
        </p:blipFill>
        <p:spPr>
          <a:xfrm>
            <a:off x="868680" y="1954575"/>
            <a:ext cx="10424160" cy="386325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 m4.large – us-east-1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8453" y="1801368"/>
            <a:ext cx="952461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06_0.png"/>
          <p:cNvPicPr>
            <a:picLocks noChangeAspect="1"/>
          </p:cNvPicPr>
          <p:nvPr/>
        </p:nvPicPr>
        <p:blipFill>
          <a:blip r:embed="rId2"/>
          <a:stretch>
            <a:fillRect/>
          </a:stretch>
        </p:blipFill>
        <p:spPr>
          <a:xfrm>
            <a:off x="1345885" y="1828800"/>
            <a:ext cx="946974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EC2 Instance: AMI (OS) + Instance Size (CPU + RAM) + Storage +security groups + EC2 User Data</a:t>
            </a:r>
          </a:p>
          <a:p>
            <a:pPr>
              <a:spcAft>
                <a:spcPts val="1000"/>
              </a:spcAft>
            </a:pPr>
            <a:r>
              <a:rPr sz="2000" b="0">
                <a:solidFill>
                  <a:srgbClr val="161B26"/>
                </a:solidFill>
                <a:latin typeface="Arial"/>
              </a:rPr>
              <a:t>•  Security Groups: Firewall attached to the EC2 instance</a:t>
            </a:r>
          </a:p>
          <a:p>
            <a:pPr>
              <a:spcAft>
                <a:spcPts val="1000"/>
              </a:spcAft>
            </a:pPr>
            <a:r>
              <a:rPr sz="2000" b="0">
                <a:solidFill>
                  <a:srgbClr val="161B26"/>
                </a:solidFill>
                <a:latin typeface="Arial"/>
              </a:rPr>
              <a:t>•  EC2 User Data: Script launched at the first start of an instance</a:t>
            </a:r>
          </a:p>
          <a:p>
            <a:pPr>
              <a:spcAft>
                <a:spcPts val="1000"/>
              </a:spcAft>
            </a:pPr>
            <a:r>
              <a:rPr sz="2000" b="0">
                <a:solidFill>
                  <a:srgbClr val="161B26"/>
                </a:solidFill>
                <a:latin typeface="Arial"/>
              </a:rPr>
              <a:t>•  SSH: start a terminal into our EC2 Instances (port 22)</a:t>
            </a:r>
          </a:p>
          <a:p>
            <a:pPr>
              <a:spcAft>
                <a:spcPts val="1000"/>
              </a:spcAft>
            </a:pPr>
            <a:r>
              <a:rPr sz="2000" b="0">
                <a:solidFill>
                  <a:srgbClr val="161B26"/>
                </a:solidFill>
                <a:latin typeface="Arial"/>
              </a:rPr>
              <a:t>•  EC2 Instance Role: link to IAM roles</a:t>
            </a:r>
          </a:p>
          <a:p>
            <a:pPr>
              <a:spcAft>
                <a:spcPts val="1000"/>
              </a:spcAft>
            </a:pPr>
            <a:r>
              <a:rPr sz="2000" b="0">
                <a:solidFill>
                  <a:srgbClr val="161B26"/>
                </a:solidFill>
                <a:latin typeface="Arial"/>
              </a:rPr>
              <a:t>•  Purchasing Options: On-Demand, Spot, Reserved (Standard + Convertible), Dedicated Host, Dedicated Instance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EC2 INSTANCE STORAGE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EC2 Instance Storage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EBS Volume?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An EBS (Elastic Block Store) Volume is a network drive you can attach to your instances while they run</a:t>
            </a:r>
          </a:p>
          <a:p>
            <a:pPr>
              <a:spcAft>
                <a:spcPts val="1000"/>
              </a:spcAft>
            </a:pPr>
            <a:r>
              <a:rPr sz="2000" b="0">
                <a:solidFill>
                  <a:srgbClr val="161B26"/>
                </a:solidFill>
                <a:latin typeface="Arial"/>
              </a:rPr>
              <a:t>•  It allows your instances to persist data, even after their termination</a:t>
            </a:r>
          </a:p>
          <a:p>
            <a:pPr>
              <a:spcAft>
                <a:spcPts val="1000"/>
              </a:spcAft>
            </a:pPr>
            <a:r>
              <a:rPr sz="2000" b="0">
                <a:solidFill>
                  <a:srgbClr val="161B26"/>
                </a:solidFill>
                <a:latin typeface="Arial"/>
              </a:rPr>
              <a:t>•  They can only be mounted to one instance at a time (at the CCP level)</a:t>
            </a:r>
          </a:p>
          <a:p>
            <a:pPr>
              <a:spcAft>
                <a:spcPts val="1000"/>
              </a:spcAft>
            </a:pPr>
            <a:r>
              <a:rPr sz="2000" b="0">
                <a:solidFill>
                  <a:srgbClr val="161B26"/>
                </a:solidFill>
                <a:latin typeface="Arial"/>
              </a:rPr>
              <a:t>•  They are bound to a specific availability zone</a:t>
            </a:r>
          </a:p>
          <a:p>
            <a:pPr>
              <a:spcAft>
                <a:spcPts val="1000"/>
              </a:spcAft>
            </a:pPr>
            <a:r>
              <a:rPr sz="2000" b="0">
                <a:solidFill>
                  <a:srgbClr val="161B26"/>
                </a:solidFill>
                <a:latin typeface="Arial"/>
              </a:rPr>
              <a:t>•  Analogy: Think of them as a “network USB stick”</a:t>
            </a:r>
          </a:p>
          <a:p>
            <a:pPr>
              <a:spcAft>
                <a:spcPts val="1000"/>
              </a:spcAft>
            </a:pPr>
            <a:r>
              <a:rPr sz="2000" b="0">
                <a:solidFill>
                  <a:srgbClr val="161B26"/>
                </a:solidFill>
                <a:latin typeface="Arial"/>
              </a:rPr>
              <a:t>•  Free tier: 30 GB of free EBS storage of type General Purpose (SSD) or Magnetic per month</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It’s a network drive (i.e. not a physical drive)</a:t>
            </a:r>
          </a:p>
          <a:p>
            <a:pPr>
              <a:spcAft>
                <a:spcPts val="1000"/>
              </a:spcAft>
            </a:pPr>
            <a:r>
              <a:rPr sz="1800" b="0">
                <a:solidFill>
                  <a:srgbClr val="161B26"/>
                </a:solidFill>
                <a:latin typeface="Arial"/>
              </a:rPr>
              <a:t>•  It uses the network to communicate the instance, which means there might be a bit of latency</a:t>
            </a:r>
          </a:p>
          <a:p>
            <a:pPr>
              <a:spcAft>
                <a:spcPts val="1000"/>
              </a:spcAft>
            </a:pPr>
            <a:r>
              <a:rPr sz="1800" b="0">
                <a:solidFill>
                  <a:srgbClr val="161B26"/>
                </a:solidFill>
                <a:latin typeface="Arial"/>
              </a:rPr>
              <a:t>•  It can be detached from an EC2 instance and attached to another one quickly</a:t>
            </a:r>
          </a:p>
          <a:p>
            <a:pPr>
              <a:spcAft>
                <a:spcPts val="1000"/>
              </a:spcAft>
            </a:pPr>
            <a:r>
              <a:rPr sz="1800" b="0">
                <a:solidFill>
                  <a:srgbClr val="161B26"/>
                </a:solidFill>
                <a:latin typeface="Arial"/>
              </a:rPr>
              <a:t>•  It’s locked to an Availability Zone (AZ)</a:t>
            </a:r>
          </a:p>
          <a:p>
            <a:pPr>
              <a:spcAft>
                <a:spcPts val="1000"/>
              </a:spcAft>
            </a:pPr>
            <a:r>
              <a:rPr sz="1800" b="0">
                <a:solidFill>
                  <a:srgbClr val="161B26"/>
                </a:solidFill>
                <a:latin typeface="Arial"/>
              </a:rPr>
              <a:t>•  An EBS Volume in us-east-1a cannot be attached to us-east-1b</a:t>
            </a:r>
          </a:p>
          <a:p>
            <a:pPr>
              <a:spcAft>
                <a:spcPts val="1000"/>
              </a:spcAft>
            </a:pPr>
            <a:r>
              <a:rPr sz="1800" b="0">
                <a:solidFill>
                  <a:srgbClr val="161B26"/>
                </a:solidFill>
                <a:latin typeface="Arial"/>
              </a:rPr>
              <a:t>•  To move a volume across, you first need to snapshot it</a:t>
            </a:r>
          </a:p>
          <a:p>
            <a:pPr>
              <a:spcAft>
                <a:spcPts val="1000"/>
              </a:spcAft>
            </a:pPr>
            <a:r>
              <a:rPr sz="1800" b="0">
                <a:solidFill>
                  <a:srgbClr val="161B26"/>
                </a:solidFill>
                <a:latin typeface="Arial"/>
              </a:rPr>
              <a:t>•  Have a provisioned capacity (size in GBs, and IOPS)</a:t>
            </a:r>
          </a:p>
          <a:p>
            <a:pPr>
              <a:spcAft>
                <a:spcPts val="1000"/>
              </a:spcAft>
            </a:pPr>
            <a:r>
              <a:rPr sz="1800" b="0">
                <a:solidFill>
                  <a:srgbClr val="161B26"/>
                </a:solidFill>
                <a:latin typeface="Arial"/>
              </a:rPr>
              <a:t>•  You get billed for all the provisioned capacity</a:t>
            </a:r>
          </a:p>
          <a:p>
            <a:pPr>
              <a:spcAft>
                <a:spcPts val="1000"/>
              </a:spcAft>
            </a:pPr>
            <a:r>
              <a:rPr sz="1800" b="0">
                <a:solidFill>
                  <a:srgbClr val="161B26"/>
                </a:solidFill>
                <a:latin typeface="Arial"/>
              </a:rPr>
              <a:t>•  You can increase the capacity of the drive over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Volume -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3928" y="1801368"/>
            <a:ext cx="99536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1_0.png"/>
          <p:cNvPicPr>
            <a:picLocks noChangeAspect="1"/>
          </p:cNvPicPr>
          <p:nvPr/>
        </p:nvPicPr>
        <p:blipFill>
          <a:blip r:embed="rId2"/>
          <a:stretch>
            <a:fillRect/>
          </a:stretch>
        </p:blipFill>
        <p:spPr>
          <a:xfrm>
            <a:off x="1131360" y="1828800"/>
            <a:ext cx="989879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 Delete on Termination attribute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22969"/>
            <a:ext cx="10479024" cy="21264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2_0.png"/>
          <p:cNvPicPr>
            <a:picLocks noChangeAspect="1"/>
          </p:cNvPicPr>
          <p:nvPr/>
        </p:nvPicPr>
        <p:blipFill>
          <a:blip r:embed="rId2"/>
          <a:stretch>
            <a:fillRect/>
          </a:stretch>
        </p:blipFill>
        <p:spPr>
          <a:xfrm>
            <a:off x="868680" y="2850401"/>
            <a:ext cx="10424160" cy="207159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Controls the EBS behaviour when an EC2 instance terminates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21408"/>
            <a:ext cx="10479024" cy="35295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3_0.png"/>
          <p:cNvPicPr>
            <a:picLocks noChangeAspect="1"/>
          </p:cNvPicPr>
          <p:nvPr/>
        </p:nvPicPr>
        <p:blipFill>
          <a:blip r:embed="rId2"/>
          <a:stretch>
            <a:fillRect/>
          </a:stretch>
        </p:blipFill>
        <p:spPr>
          <a:xfrm>
            <a:off x="868680" y="2148840"/>
            <a:ext cx="10424160" cy="34747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Make a backup (snapshot) of your EBS volume at a point in time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Snapshots Features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29852" y="1801368"/>
            <a:ext cx="33018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4_0.png"/>
          <p:cNvPicPr>
            <a:picLocks noChangeAspect="1"/>
          </p:cNvPicPr>
          <p:nvPr/>
        </p:nvPicPr>
        <p:blipFill>
          <a:blip r:embed="rId2"/>
          <a:stretch>
            <a:fillRect/>
          </a:stretch>
        </p:blipFill>
        <p:spPr>
          <a:xfrm>
            <a:off x="4457284" y="1828800"/>
            <a:ext cx="32469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EBS Snapshot Archive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AMI = Amazon Machine Image</a:t>
            </a:r>
          </a:p>
          <a:p>
            <a:pPr>
              <a:spcAft>
                <a:spcPts val="1000"/>
              </a:spcAft>
            </a:pPr>
            <a:r>
              <a:rPr sz="1800" b="0">
                <a:solidFill>
                  <a:srgbClr val="161B26"/>
                </a:solidFill>
                <a:latin typeface="Arial"/>
              </a:rPr>
              <a:t>•  AMI are a customization of an EC2 instance</a:t>
            </a:r>
          </a:p>
          <a:p>
            <a:pPr>
              <a:spcAft>
                <a:spcPts val="1000"/>
              </a:spcAft>
            </a:pPr>
            <a:r>
              <a:rPr sz="1800" b="0">
                <a:solidFill>
                  <a:srgbClr val="161B26"/>
                </a:solidFill>
                <a:latin typeface="Arial"/>
              </a:rPr>
              <a:t>•  You add your own software, configuration, operating system, monitoring…</a:t>
            </a:r>
          </a:p>
          <a:p>
            <a:pPr>
              <a:spcAft>
                <a:spcPts val="1000"/>
              </a:spcAft>
            </a:pPr>
            <a:r>
              <a:rPr sz="1800" b="0">
                <a:solidFill>
                  <a:srgbClr val="161B26"/>
                </a:solidFill>
                <a:latin typeface="Arial"/>
              </a:rPr>
              <a:t>•  Faster boot / configuration time because all your software is pre-packaged</a:t>
            </a:r>
          </a:p>
          <a:p>
            <a:pPr>
              <a:spcAft>
                <a:spcPts val="1000"/>
              </a:spcAft>
            </a:pPr>
            <a:r>
              <a:rPr sz="1800" b="0">
                <a:solidFill>
                  <a:srgbClr val="161B26"/>
                </a:solidFill>
                <a:latin typeface="Arial"/>
              </a:rPr>
              <a:t>•  AMI are built for a specific region (and can be copied across regions)</a:t>
            </a:r>
          </a:p>
          <a:p>
            <a:pPr>
              <a:spcAft>
                <a:spcPts val="1000"/>
              </a:spcAft>
            </a:pPr>
            <a:r>
              <a:rPr sz="1800" b="0">
                <a:solidFill>
                  <a:srgbClr val="161B26"/>
                </a:solidFill>
                <a:latin typeface="Arial"/>
              </a:rPr>
              <a:t>•  You can launch EC2 instances from:</a:t>
            </a:r>
          </a:p>
          <a:p>
            <a:pPr>
              <a:spcAft>
                <a:spcPts val="1000"/>
              </a:spcAft>
            </a:pPr>
            <a:r>
              <a:rPr sz="1800" b="0">
                <a:solidFill>
                  <a:srgbClr val="161B26"/>
                </a:solidFill>
                <a:latin typeface="Arial"/>
              </a:rPr>
              <a:t>•  A Public AMI: AWS provided</a:t>
            </a:r>
          </a:p>
          <a:p>
            <a:pPr>
              <a:spcAft>
                <a:spcPts val="1000"/>
              </a:spcAft>
            </a:pPr>
            <a:r>
              <a:rPr sz="1800" b="0">
                <a:solidFill>
                  <a:srgbClr val="161B26"/>
                </a:solidFill>
                <a:latin typeface="Arial"/>
              </a:rPr>
              <a:t>•  Your own AMI: you make and maintain them yourself</a:t>
            </a:r>
          </a:p>
          <a:p>
            <a:pPr>
              <a:spcAft>
                <a:spcPts val="1000"/>
              </a:spcAft>
            </a:pPr>
            <a:r>
              <a:rPr sz="1800" b="0">
                <a:solidFill>
                  <a:srgbClr val="161B26"/>
                </a:solidFill>
                <a:latin typeface="Arial"/>
              </a:rPr>
              <a:t>•  An AWS Marketplace AMI: an AMI someone else made (and potentially sells)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AMI Process (from an EC2 instance)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64566"/>
            <a:ext cx="10479024" cy="284326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6_0.png"/>
          <p:cNvPicPr>
            <a:picLocks noChangeAspect="1"/>
          </p:cNvPicPr>
          <p:nvPr/>
        </p:nvPicPr>
        <p:blipFill>
          <a:blip r:embed="rId2"/>
          <a:stretch>
            <a:fillRect/>
          </a:stretch>
        </p:blipFill>
        <p:spPr>
          <a:xfrm>
            <a:off x="868680" y="2491998"/>
            <a:ext cx="10424160" cy="278840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Start an EC2 instance and customize 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Image Builder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38985"/>
            <a:ext cx="10479024" cy="22944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7_0.png"/>
          <p:cNvPicPr>
            <a:picLocks noChangeAspect="1"/>
          </p:cNvPicPr>
          <p:nvPr/>
        </p:nvPicPr>
        <p:blipFill>
          <a:blip r:embed="rId2"/>
          <a:stretch>
            <a:fillRect/>
          </a:stretch>
        </p:blipFill>
        <p:spPr>
          <a:xfrm>
            <a:off x="868680" y="2766417"/>
            <a:ext cx="10424160" cy="223956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Used to automate the creation of Virtual Machines or container images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 are network drives with good but “limited” performance</a:t>
            </a:r>
          </a:p>
          <a:p>
            <a:pPr>
              <a:spcAft>
                <a:spcPts val="1000"/>
              </a:spcAft>
            </a:pPr>
            <a:r>
              <a:rPr sz="1800" b="0">
                <a:solidFill>
                  <a:srgbClr val="161B26"/>
                </a:solidFill>
                <a:latin typeface="Arial"/>
              </a:rPr>
              <a:t>•  If you need a high-performance hardware disk, use EC2 Instance Store</a:t>
            </a:r>
          </a:p>
          <a:p>
            <a:pPr>
              <a:spcAft>
                <a:spcPts val="1000"/>
              </a:spcAft>
            </a:pPr>
            <a:r>
              <a:rPr sz="1800" b="0">
                <a:solidFill>
                  <a:srgbClr val="161B26"/>
                </a:solidFill>
                <a:latin typeface="Arial"/>
              </a:rPr>
              <a:t>•  Better I/O performance</a:t>
            </a:r>
          </a:p>
          <a:p>
            <a:pPr>
              <a:spcAft>
                <a:spcPts val="1000"/>
              </a:spcAft>
            </a:pPr>
            <a:r>
              <a:rPr sz="1800" b="0">
                <a:solidFill>
                  <a:srgbClr val="161B26"/>
                </a:solidFill>
                <a:latin typeface="Arial"/>
              </a:rPr>
              <a:t>•  EC2 Instance Store lose their storage if they’re stopped (ephemeral)</a:t>
            </a:r>
          </a:p>
          <a:p>
            <a:pPr>
              <a:spcAft>
                <a:spcPts val="1000"/>
              </a:spcAft>
            </a:pPr>
            <a:r>
              <a:rPr sz="1800" b="0">
                <a:solidFill>
                  <a:srgbClr val="161B26"/>
                </a:solidFill>
                <a:latin typeface="Arial"/>
              </a:rPr>
              <a:t>•  Good for buffer / cache / scratch data / temporary content</a:t>
            </a:r>
          </a:p>
          <a:p>
            <a:pPr>
              <a:spcAft>
                <a:spcPts val="1000"/>
              </a:spcAft>
            </a:pPr>
            <a:r>
              <a:rPr sz="1800" b="0">
                <a:solidFill>
                  <a:srgbClr val="161B26"/>
                </a:solidFill>
                <a:latin typeface="Arial"/>
              </a:rPr>
              <a:t>•  Risk of data loss if hardware fails</a:t>
            </a:r>
          </a:p>
          <a:p>
            <a:pPr>
              <a:spcAft>
                <a:spcPts val="1000"/>
              </a:spcAft>
            </a:pPr>
            <a:r>
              <a:rPr sz="1800" b="0">
                <a:solidFill>
                  <a:srgbClr val="161B26"/>
                </a:solidFill>
                <a:latin typeface="Arial"/>
              </a:rPr>
              <a:t>•  Backups and Replication are your responsibility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Local EC2 Instance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16978" y="1801368"/>
            <a:ext cx="452756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19_0.png"/>
          <p:cNvPicPr>
            <a:picLocks noChangeAspect="1"/>
          </p:cNvPicPr>
          <p:nvPr/>
        </p:nvPicPr>
        <p:blipFill>
          <a:blip r:embed="rId2"/>
          <a:stretch>
            <a:fillRect/>
          </a:stretch>
        </p:blipFill>
        <p:spPr>
          <a:xfrm>
            <a:off x="3844410" y="1828800"/>
            <a:ext cx="447269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 Elastic File System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07362" y="1801368"/>
            <a:ext cx="754679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0_0.png"/>
          <p:cNvPicPr>
            <a:picLocks noChangeAspect="1"/>
          </p:cNvPicPr>
          <p:nvPr/>
        </p:nvPicPr>
        <p:blipFill>
          <a:blip r:embed="rId2"/>
          <a:stretch>
            <a:fillRect/>
          </a:stretch>
        </p:blipFill>
        <p:spPr>
          <a:xfrm>
            <a:off x="2334794" y="1828800"/>
            <a:ext cx="749193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Managed NFS (network file system) that can be mounted on 100s of EC2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EBS vs EFS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06159" y="1801368"/>
            <a:ext cx="914920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1_0.png"/>
          <p:cNvPicPr>
            <a:picLocks noChangeAspect="1"/>
          </p:cNvPicPr>
          <p:nvPr/>
        </p:nvPicPr>
        <p:blipFill>
          <a:blip r:embed="rId2"/>
          <a:stretch>
            <a:fillRect/>
          </a:stretch>
        </p:blipFill>
        <p:spPr>
          <a:xfrm>
            <a:off x="1533591" y="1828800"/>
            <a:ext cx="909433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EFS Infrequent Access (EFS-IA)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86377" y="1801368"/>
            <a:ext cx="27887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2_0.png"/>
          <p:cNvPicPr>
            <a:picLocks noChangeAspect="1"/>
          </p:cNvPicPr>
          <p:nvPr/>
        </p:nvPicPr>
        <p:blipFill>
          <a:blip r:embed="rId2"/>
          <a:stretch>
            <a:fillRect/>
          </a:stretch>
        </p:blipFill>
        <p:spPr>
          <a:xfrm>
            <a:off x="4713809" y="1828800"/>
            <a:ext cx="27339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Storage class that is cost-optimized for files not accessed every day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Shared Responsibility Model for EC2 Storage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23756" y="1801368"/>
            <a:ext cx="971400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3_0.png"/>
          <p:cNvPicPr>
            <a:picLocks noChangeAspect="1"/>
          </p:cNvPicPr>
          <p:nvPr/>
        </p:nvPicPr>
        <p:blipFill>
          <a:blip r:embed="rId2"/>
          <a:stretch>
            <a:fillRect/>
          </a:stretch>
        </p:blipFill>
        <p:spPr>
          <a:xfrm>
            <a:off x="1251188" y="1828800"/>
            <a:ext cx="965914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91999"/>
            <a:ext cx="10479024" cy="27884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4_0.png"/>
          <p:cNvPicPr>
            <a:picLocks noChangeAspect="1"/>
          </p:cNvPicPr>
          <p:nvPr/>
        </p:nvPicPr>
        <p:blipFill>
          <a:blip r:embed="rId2"/>
          <a:stretch>
            <a:fillRect/>
          </a:stretch>
        </p:blipFill>
        <p:spPr>
          <a:xfrm>
            <a:off x="868680" y="2519431"/>
            <a:ext cx="10424160" cy="27335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3rd party high-performance file systems on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Windows File Server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88527" y="1801368"/>
            <a:ext cx="4184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5_0.png"/>
          <p:cNvPicPr>
            <a:picLocks noChangeAspect="1"/>
          </p:cNvPicPr>
          <p:nvPr/>
        </p:nvPicPr>
        <p:blipFill>
          <a:blip r:embed="rId2"/>
          <a:stretch>
            <a:fillRect/>
          </a:stretch>
        </p:blipFill>
        <p:spPr>
          <a:xfrm>
            <a:off x="4015959" y="1828800"/>
            <a:ext cx="4129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highly reliable, and scalable Windows native shared file system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FSx for Lustre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15636"/>
            <a:ext cx="10479024" cy="35411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26_0.png"/>
          <p:cNvPicPr>
            <a:picLocks noChangeAspect="1"/>
          </p:cNvPicPr>
          <p:nvPr/>
        </p:nvPicPr>
        <p:blipFill>
          <a:blip r:embed="rId2"/>
          <a:stretch>
            <a:fillRect/>
          </a:stretch>
        </p:blipFill>
        <p:spPr>
          <a:xfrm>
            <a:off x="868680" y="2143068"/>
            <a:ext cx="10424160" cy="348626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high-performance, scalable file storage for High Performance Computing (HPC)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EC2 Instance Storage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EBS volumes:</a:t>
            </a:r>
          </a:p>
          <a:p>
            <a:pPr>
              <a:spcAft>
                <a:spcPts val="1000"/>
              </a:spcAft>
            </a:pPr>
            <a:r>
              <a:rPr sz="1800" b="0">
                <a:solidFill>
                  <a:srgbClr val="161B26"/>
                </a:solidFill>
                <a:latin typeface="Arial"/>
              </a:rPr>
              <a:t>•  network drives attached to one EC2 instance at a time</a:t>
            </a:r>
          </a:p>
          <a:p>
            <a:pPr>
              <a:spcAft>
                <a:spcPts val="1000"/>
              </a:spcAft>
            </a:pPr>
            <a:r>
              <a:rPr sz="1800" b="0">
                <a:solidFill>
                  <a:srgbClr val="161B26"/>
                </a:solidFill>
                <a:latin typeface="Arial"/>
              </a:rPr>
              <a:t>•  Mapped to an Availability Zones</a:t>
            </a:r>
          </a:p>
          <a:p>
            <a:pPr>
              <a:spcAft>
                <a:spcPts val="1000"/>
              </a:spcAft>
            </a:pPr>
            <a:r>
              <a:rPr sz="1800" b="0">
                <a:solidFill>
                  <a:srgbClr val="161B26"/>
                </a:solidFill>
                <a:latin typeface="Arial"/>
              </a:rPr>
              <a:t>•  Can use EBS Snapshots for backups / transferring EBS volumes across AZ</a:t>
            </a:r>
          </a:p>
          <a:p>
            <a:pPr>
              <a:spcAft>
                <a:spcPts val="1000"/>
              </a:spcAft>
            </a:pPr>
            <a:r>
              <a:rPr sz="1800" b="0">
                <a:solidFill>
                  <a:srgbClr val="161B26"/>
                </a:solidFill>
                <a:latin typeface="Arial"/>
              </a:rPr>
              <a:t>•  AMI: create ready-to-use EC2 instances with our customizations</a:t>
            </a:r>
          </a:p>
          <a:p>
            <a:pPr>
              <a:spcAft>
                <a:spcPts val="1000"/>
              </a:spcAft>
            </a:pPr>
            <a:r>
              <a:rPr sz="1800" b="0">
                <a:solidFill>
                  <a:srgbClr val="161B26"/>
                </a:solidFill>
                <a:latin typeface="Arial"/>
              </a:rPr>
              <a:t>•  EC2 Image Builder: automatically build, test and distribute AMIs</a:t>
            </a:r>
          </a:p>
          <a:p>
            <a:pPr>
              <a:spcAft>
                <a:spcPts val="1000"/>
              </a:spcAft>
            </a:pPr>
            <a:r>
              <a:rPr sz="1800" b="0">
                <a:solidFill>
                  <a:srgbClr val="161B26"/>
                </a:solidFill>
                <a:latin typeface="Arial"/>
              </a:rPr>
              <a:t>•  EC2 Instance Store:</a:t>
            </a:r>
          </a:p>
          <a:p>
            <a:pPr>
              <a:spcAft>
                <a:spcPts val="1000"/>
              </a:spcAft>
            </a:pPr>
            <a:r>
              <a:rPr sz="1800" b="0">
                <a:solidFill>
                  <a:srgbClr val="161B26"/>
                </a:solidFill>
                <a:latin typeface="Arial"/>
              </a:rPr>
              <a:t>•  High performance hardware disk attached to our EC2 instance</a:t>
            </a:r>
          </a:p>
          <a:p>
            <a:pPr>
              <a:spcAft>
                <a:spcPts val="1000"/>
              </a:spcAft>
            </a:pPr>
            <a:r>
              <a:rPr sz="1800" b="0">
                <a:solidFill>
                  <a:srgbClr val="161B26"/>
                </a:solidFill>
                <a:latin typeface="Arial"/>
              </a:rPr>
              <a:t>•  Lost if our instance is stopped / terminated</a:t>
            </a:r>
          </a:p>
          <a:p>
            <a:pPr>
              <a:spcAft>
                <a:spcPts val="1000"/>
              </a:spcAft>
            </a:pPr>
            <a:r>
              <a:rPr sz="1800" b="0">
                <a:solidFill>
                  <a:srgbClr val="161B26"/>
                </a:solidFill>
                <a:latin typeface="Arial"/>
              </a:rPr>
              <a:t>•  EFS: network file system, can be attached to 100s of instances in a region</a:t>
            </a:r>
          </a:p>
          <a:p>
            <a:pPr>
              <a:spcAft>
                <a:spcPts val="1000"/>
              </a:spcAft>
            </a:pPr>
            <a:r>
              <a:rPr sz="1800" b="0">
                <a:solidFill>
                  <a:srgbClr val="161B26"/>
                </a:solidFill>
                <a:latin typeface="Arial"/>
              </a:rPr>
              <a:t>•  EFS-IA: cost-optimized storage class for infrequent accessed files</a:t>
            </a:r>
          </a:p>
          <a:p>
            <a:pPr>
              <a:spcAft>
                <a:spcPts val="1000"/>
              </a:spcAft>
            </a:pPr>
            <a:r>
              <a:rPr sz="1800" b="0">
                <a:solidFill>
                  <a:srgbClr val="161B26"/>
                </a:solidFill>
                <a:latin typeface="Arial"/>
              </a:rPr>
              <a:t>•  FSx for Windows: Network File System for Windows servers</a:t>
            </a:r>
          </a:p>
          <a:p>
            <a:pPr>
              <a:spcAft>
                <a:spcPts val="1000"/>
              </a:spcAft>
            </a:pPr>
            <a:r>
              <a:rPr sz="1800" b="0">
                <a:solidFill>
                  <a:srgbClr val="161B26"/>
                </a:solidFill>
                <a:latin typeface="Arial"/>
              </a:rPr>
              <a:t>•  FSx for Lustre: High Performance Computing Linux file system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OTHER COMPUTE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Other Compute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Docker?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is a software development platform to deploy apps</a:t>
            </a:r>
          </a:p>
          <a:p>
            <a:pPr>
              <a:spcAft>
                <a:spcPts val="1000"/>
              </a:spcAft>
            </a:pPr>
            <a:r>
              <a:rPr sz="1800" b="0">
                <a:solidFill>
                  <a:srgbClr val="161B26"/>
                </a:solidFill>
                <a:latin typeface="Arial"/>
              </a:rPr>
              <a:t>•  Apps are packaged in containers that can be run on any OS</a:t>
            </a:r>
          </a:p>
          <a:p>
            <a:pPr>
              <a:spcAft>
                <a:spcPts val="1000"/>
              </a:spcAft>
            </a:pPr>
            <a:r>
              <a:rPr sz="1800" b="0">
                <a:solidFill>
                  <a:srgbClr val="161B26"/>
                </a:solidFill>
                <a:latin typeface="Arial"/>
              </a:rPr>
              <a:t>•  Apps run the same, regardless of where they’re run</a:t>
            </a:r>
          </a:p>
          <a:p>
            <a:pPr>
              <a:spcAft>
                <a:spcPts val="1000"/>
              </a:spcAft>
            </a:pPr>
            <a:r>
              <a:rPr sz="1800" b="0">
                <a:solidFill>
                  <a:srgbClr val="161B26"/>
                </a:solidFill>
                <a:latin typeface="Arial"/>
              </a:rPr>
              <a:t>•  Any machine</a:t>
            </a:r>
          </a:p>
          <a:p>
            <a:pPr>
              <a:spcAft>
                <a:spcPts val="1000"/>
              </a:spcAft>
            </a:pPr>
            <a:r>
              <a:rPr sz="1800" b="0">
                <a:solidFill>
                  <a:srgbClr val="161B26"/>
                </a:solidFill>
                <a:latin typeface="Arial"/>
              </a:rPr>
              <a:t>•  No compatibility issues</a:t>
            </a:r>
          </a:p>
          <a:p>
            <a:pPr>
              <a:spcAft>
                <a:spcPts val="1000"/>
              </a:spcAft>
            </a:pPr>
            <a:r>
              <a:rPr sz="1800" b="0">
                <a:solidFill>
                  <a:srgbClr val="161B26"/>
                </a:solidFill>
                <a:latin typeface="Arial"/>
              </a:rPr>
              <a:t>•  Predictable behavior</a:t>
            </a:r>
          </a:p>
          <a:p>
            <a:pPr>
              <a:spcAft>
                <a:spcPts val="1000"/>
              </a:spcAft>
            </a:pPr>
            <a:r>
              <a:rPr sz="1800" b="0">
                <a:solidFill>
                  <a:srgbClr val="161B26"/>
                </a:solidFill>
                <a:latin typeface="Arial"/>
              </a:rPr>
              <a:t>•  Less work</a:t>
            </a:r>
          </a:p>
          <a:p>
            <a:pPr>
              <a:spcAft>
                <a:spcPts val="1000"/>
              </a:spcAft>
            </a:pPr>
            <a:r>
              <a:rPr sz="1800" b="0">
                <a:solidFill>
                  <a:srgbClr val="161B26"/>
                </a:solidFill>
                <a:latin typeface="Arial"/>
              </a:rPr>
              <a:t>•  Easier to maintain and deploy</a:t>
            </a:r>
          </a:p>
          <a:p>
            <a:pPr>
              <a:spcAft>
                <a:spcPts val="1000"/>
              </a:spcAft>
            </a:pPr>
            <a:r>
              <a:rPr sz="1800" b="0">
                <a:solidFill>
                  <a:srgbClr val="161B26"/>
                </a:solidFill>
                <a:latin typeface="Arial"/>
              </a:rPr>
              <a:t>•  Works with any language, any OS, any technology</a:t>
            </a:r>
          </a:p>
          <a:p>
            <a:pPr>
              <a:spcAft>
                <a:spcPts val="1000"/>
              </a:spcAft>
            </a:pPr>
            <a:r>
              <a:rPr sz="1800" b="0">
                <a:solidFill>
                  <a:srgbClr val="161B26"/>
                </a:solidFill>
                <a:latin typeface="Arial"/>
              </a:rPr>
              <a:t>•  Scale containers up and down very quickly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Docker on an OS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83057" y="1801368"/>
            <a:ext cx="49954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0_0.png"/>
          <p:cNvPicPr>
            <a:picLocks noChangeAspect="1"/>
          </p:cNvPicPr>
          <p:nvPr/>
        </p:nvPicPr>
        <p:blipFill>
          <a:blip r:embed="rId2"/>
          <a:stretch>
            <a:fillRect/>
          </a:stretch>
        </p:blipFill>
        <p:spPr>
          <a:xfrm>
            <a:off x="3610489" y="1828800"/>
            <a:ext cx="49405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Where Docker images are stored?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images are stored in Docker Repositories</a:t>
            </a:r>
          </a:p>
          <a:p>
            <a:pPr>
              <a:spcAft>
                <a:spcPts val="1000"/>
              </a:spcAft>
            </a:pPr>
            <a:r>
              <a:rPr sz="1800" b="0">
                <a:solidFill>
                  <a:srgbClr val="161B26"/>
                </a:solidFill>
                <a:latin typeface="Arial"/>
              </a:rPr>
              <a:t>•  Public: Docker Hub https://hub.docker.com/</a:t>
            </a:r>
          </a:p>
          <a:p>
            <a:pPr>
              <a:spcAft>
                <a:spcPts val="1000"/>
              </a:spcAft>
            </a:pPr>
            <a:r>
              <a:rPr sz="1800" b="0">
                <a:solidFill>
                  <a:srgbClr val="161B26"/>
                </a:solidFill>
                <a:latin typeface="Arial"/>
              </a:rPr>
              <a:t>•  Find base images for many technologies or OS:</a:t>
            </a:r>
          </a:p>
          <a:p>
            <a:pPr>
              <a:spcAft>
                <a:spcPts val="1000"/>
              </a:spcAft>
            </a:pPr>
            <a:r>
              <a:rPr sz="1800" b="0">
                <a:solidFill>
                  <a:srgbClr val="161B26"/>
                </a:solidFill>
                <a:latin typeface="Arial"/>
              </a:rPr>
              <a:t>•  Ubuntu</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NodeJS, Java…</a:t>
            </a:r>
          </a:p>
          <a:p>
            <a:pPr>
              <a:spcAft>
                <a:spcPts val="1000"/>
              </a:spcAft>
            </a:pPr>
            <a:r>
              <a:rPr sz="1800" b="0">
                <a:solidFill>
                  <a:srgbClr val="161B26"/>
                </a:solidFill>
                <a:latin typeface="Arial"/>
              </a:rPr>
              <a:t>•  Private: Amazon ECR (Elastic Container Registry)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Docker versus Virtual Machines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3085" y="1801368"/>
            <a:ext cx="1023535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2_0.png"/>
          <p:cNvPicPr>
            <a:picLocks noChangeAspect="1"/>
          </p:cNvPicPr>
          <p:nvPr/>
        </p:nvPicPr>
        <p:blipFill>
          <a:blip r:embed="rId2"/>
          <a:stretch>
            <a:fillRect/>
          </a:stretch>
        </p:blipFill>
        <p:spPr>
          <a:xfrm>
            <a:off x="990517" y="1828800"/>
            <a:ext cx="1018048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Docker is ”sort of” a virtualization technology, but not exactly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54156" y="1801368"/>
            <a:ext cx="405320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3_0.png"/>
          <p:cNvPicPr>
            <a:picLocks noChangeAspect="1"/>
          </p:cNvPicPr>
          <p:nvPr/>
        </p:nvPicPr>
        <p:blipFill>
          <a:blip r:embed="rId2"/>
          <a:stretch>
            <a:fillRect/>
          </a:stretch>
        </p:blipFill>
        <p:spPr>
          <a:xfrm>
            <a:off x="4081588" y="1828800"/>
            <a:ext cx="399834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ECS = Elastic Container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Fargate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02848" y="1801368"/>
            <a:ext cx="49558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4_0.png"/>
          <p:cNvPicPr>
            <a:picLocks noChangeAspect="1"/>
          </p:cNvPicPr>
          <p:nvPr/>
        </p:nvPicPr>
        <p:blipFill>
          <a:blip r:embed="rId2"/>
          <a:stretch>
            <a:fillRect/>
          </a:stretch>
        </p:blipFill>
        <p:spPr>
          <a:xfrm>
            <a:off x="3630280" y="1828800"/>
            <a:ext cx="490096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Launch Docker containers on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ECR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75763" y="1801368"/>
            <a:ext cx="680999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5_0.png"/>
          <p:cNvPicPr>
            <a:picLocks noChangeAspect="1"/>
          </p:cNvPicPr>
          <p:nvPr/>
        </p:nvPicPr>
        <p:blipFill>
          <a:blip r:embed="rId2"/>
          <a:stretch>
            <a:fillRect/>
          </a:stretch>
        </p:blipFill>
        <p:spPr>
          <a:xfrm>
            <a:off x="2703195" y="1828800"/>
            <a:ext cx="675513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Elastic Container Registry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Serverless is a new paradigm in which the developers don’t have to manage servers anymore…</a:t>
            </a:r>
          </a:p>
          <a:p>
            <a:pPr>
              <a:spcAft>
                <a:spcPts val="1000"/>
              </a:spcAft>
            </a:pPr>
            <a:r>
              <a:rPr sz="2000" b="0">
                <a:solidFill>
                  <a:srgbClr val="161B26"/>
                </a:solidFill>
                <a:latin typeface="Arial"/>
              </a:rPr>
              <a:t>•  They just deploy code</a:t>
            </a:r>
          </a:p>
          <a:p>
            <a:pPr>
              <a:spcAft>
                <a:spcPts val="1000"/>
              </a:spcAft>
            </a:pPr>
            <a:r>
              <a:rPr sz="2000" b="0">
                <a:solidFill>
                  <a:srgbClr val="161B26"/>
                </a:solidFill>
                <a:latin typeface="Arial"/>
              </a:rPr>
              <a:t>•  They just deploy… functions !</a:t>
            </a:r>
          </a:p>
          <a:p>
            <a:pPr>
              <a:spcAft>
                <a:spcPts val="1000"/>
              </a:spcAft>
            </a:pPr>
            <a:r>
              <a:rPr sz="2000" b="0">
                <a:solidFill>
                  <a:srgbClr val="161B26"/>
                </a:solidFill>
                <a:latin typeface="Arial"/>
              </a:rPr>
              <a:t>•  Initially... Serverless == FaaS (Function as a Service)</a:t>
            </a:r>
          </a:p>
          <a:p>
            <a:pPr>
              <a:spcAft>
                <a:spcPts val="1000"/>
              </a:spcAft>
            </a:pPr>
            <a:r>
              <a:rPr sz="2000" b="0">
                <a:solidFill>
                  <a:srgbClr val="161B26"/>
                </a:solidFill>
                <a:latin typeface="Arial"/>
              </a:rPr>
              <a:t>•  Serverless was pioneered by AWS Lambda but now also includes anything that’s managed: “databases, messaging, storage, etc.”</a:t>
            </a:r>
          </a:p>
          <a:p>
            <a:pPr>
              <a:spcAft>
                <a:spcPts val="1000"/>
              </a:spcAft>
            </a:pPr>
            <a:r>
              <a:rPr sz="2000" b="0">
                <a:solidFill>
                  <a:srgbClr val="161B26"/>
                </a:solidFill>
                <a:latin typeface="Arial"/>
              </a:rPr>
              <a:t>•  Serverless does not mean there are no servers… it means you just don’t manage / provision / see them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Serverless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8107" y="1801368"/>
            <a:ext cx="98053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7_0.png"/>
          <p:cNvPicPr>
            <a:picLocks noChangeAspect="1"/>
          </p:cNvPicPr>
          <p:nvPr/>
        </p:nvPicPr>
        <p:blipFill>
          <a:blip r:embed="rId2"/>
          <a:stretch>
            <a:fillRect/>
          </a:stretch>
        </p:blipFill>
        <p:spPr>
          <a:xfrm>
            <a:off x="1205539" y="1828800"/>
            <a:ext cx="97504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of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26889"/>
            <a:ext cx="10479024" cy="268438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8_0.png"/>
          <p:cNvPicPr>
            <a:picLocks noChangeAspect="1"/>
          </p:cNvPicPr>
          <p:nvPr/>
        </p:nvPicPr>
        <p:blipFill>
          <a:blip r:embed="rId2"/>
          <a:stretch>
            <a:fillRect/>
          </a:stretch>
        </p:blipFill>
        <p:spPr>
          <a:xfrm>
            <a:off x="868680" y="2754321"/>
            <a:ext cx="10424160" cy="2629517"/>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52554" y="1801368"/>
            <a:ext cx="405641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39_0.png"/>
          <p:cNvPicPr>
            <a:picLocks noChangeAspect="1"/>
          </p:cNvPicPr>
          <p:nvPr/>
        </p:nvPicPr>
        <p:blipFill>
          <a:blip r:embed="rId2"/>
          <a:stretch>
            <a:fillRect/>
          </a:stretch>
        </p:blipFill>
        <p:spPr>
          <a:xfrm>
            <a:off x="4079986" y="1828800"/>
            <a:ext cx="400154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Virtual Servers in the Cloud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Pricing:</a:t>
            </a:r>
          </a:p>
          <a:p>
            <a:pPr>
              <a:spcAft>
                <a:spcPts val="1000"/>
              </a:spcAft>
            </a:pPr>
            <a:r>
              <a:rPr sz="1800" b="0">
                <a:solidFill>
                  <a:srgbClr val="161B26"/>
                </a:solidFill>
                <a:latin typeface="Arial"/>
              </a:rPr>
              <a:t>•  Pay per request and compute time</a:t>
            </a:r>
          </a:p>
          <a:p>
            <a:pPr>
              <a:spcAft>
                <a:spcPts val="1000"/>
              </a:spcAft>
            </a:pPr>
            <a:r>
              <a:rPr sz="1800" b="0">
                <a:solidFill>
                  <a:srgbClr val="161B26"/>
                </a:solidFill>
                <a:latin typeface="Arial"/>
              </a:rPr>
              <a:t>•  Free tier of 1,000,000 AWS Lambda requests and 400,000 GBs of compute time</a:t>
            </a:r>
          </a:p>
          <a:p>
            <a:pPr>
              <a:spcAft>
                <a:spcPts val="1000"/>
              </a:spcAft>
            </a:pPr>
            <a:r>
              <a:rPr sz="1800" b="0">
                <a:solidFill>
                  <a:srgbClr val="161B26"/>
                </a:solidFill>
                <a:latin typeface="Arial"/>
              </a:rPr>
              <a:t>•  Integrated with the whole AWS suite of services</a:t>
            </a:r>
          </a:p>
          <a:p>
            <a:pPr>
              <a:spcAft>
                <a:spcPts val="1000"/>
              </a:spcAft>
            </a:pPr>
            <a:r>
              <a:rPr sz="1800" b="0">
                <a:solidFill>
                  <a:srgbClr val="161B26"/>
                </a:solidFill>
                <a:latin typeface="Arial"/>
              </a:rPr>
              <a:t>•  Event-Driven: functions get invoked by AWS when needed</a:t>
            </a:r>
          </a:p>
          <a:p>
            <a:pPr>
              <a:spcAft>
                <a:spcPts val="1000"/>
              </a:spcAft>
            </a:pPr>
            <a:r>
              <a:rPr sz="1800" b="0">
                <a:solidFill>
                  <a:srgbClr val="161B26"/>
                </a:solidFill>
                <a:latin typeface="Arial"/>
              </a:rPr>
              <a:t>•  Integrated with many programming languages</a:t>
            </a:r>
          </a:p>
          <a:p>
            <a:pPr>
              <a:spcAft>
                <a:spcPts val="1000"/>
              </a:spcAft>
            </a:pPr>
            <a:r>
              <a:rPr sz="1800" b="0">
                <a:solidFill>
                  <a:srgbClr val="161B26"/>
                </a:solidFill>
                <a:latin typeface="Arial"/>
              </a:rPr>
              <a:t>•  Easy monitoring through AWS CloudWatch</a:t>
            </a:r>
          </a:p>
          <a:p>
            <a:pPr>
              <a:spcAft>
                <a:spcPts val="1000"/>
              </a:spcAft>
            </a:pPr>
            <a:r>
              <a:rPr sz="1800" b="0">
                <a:solidFill>
                  <a:srgbClr val="161B26"/>
                </a:solidFill>
                <a:latin typeface="Arial"/>
              </a:rPr>
              <a:t>•  Easy to get more resources per functions (up to 10GB of RAM!)</a:t>
            </a:r>
          </a:p>
          <a:p>
            <a:pPr>
              <a:spcAft>
                <a:spcPts val="1000"/>
              </a:spcAft>
            </a:pPr>
            <a:r>
              <a:rPr sz="1800" b="0">
                <a:solidFill>
                  <a:srgbClr val="161B26"/>
                </a:solidFill>
                <a:latin typeface="Arial"/>
              </a:rPr>
              <a:t>•  Increasing RAM will also improve CPU and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language 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Node.js (JavaScript)</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Java (Java 8 compatible)</a:t>
            </a:r>
          </a:p>
          <a:p>
            <a:pPr>
              <a:spcAft>
                <a:spcPts val="1000"/>
              </a:spcAft>
            </a:pPr>
            <a:r>
              <a:rPr sz="1800" b="0">
                <a:solidFill>
                  <a:srgbClr val="161B26"/>
                </a:solidFill>
                <a:latin typeface="Arial"/>
              </a:rPr>
              <a:t>•  C# (.NET Core)</a:t>
            </a:r>
          </a:p>
          <a:p>
            <a:pPr>
              <a:spcAft>
                <a:spcPts val="1000"/>
              </a:spcAft>
            </a:pPr>
            <a:r>
              <a:rPr sz="1800" b="0">
                <a:solidFill>
                  <a:srgbClr val="161B26"/>
                </a:solidFill>
                <a:latin typeface="Arial"/>
              </a:rPr>
              <a:t>•  Golang</a:t>
            </a:r>
          </a:p>
          <a:p>
            <a:pPr>
              <a:spcAft>
                <a:spcPts val="1000"/>
              </a:spcAft>
            </a:pPr>
            <a:r>
              <a:rPr sz="1800" b="0">
                <a:solidFill>
                  <a:srgbClr val="161B26"/>
                </a:solidFill>
                <a:latin typeface="Arial"/>
              </a:rPr>
              <a:t>•  C# / Powershell</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Custom Runtime API (community supported, example Rust)</a:t>
            </a:r>
          </a:p>
          <a:p>
            <a:pPr>
              <a:spcAft>
                <a:spcPts val="1000"/>
              </a:spcAft>
            </a:pPr>
            <a:r>
              <a:rPr sz="1800" b="0">
                <a:solidFill>
                  <a:srgbClr val="161B26"/>
                </a:solidFill>
                <a:latin typeface="Arial"/>
              </a:rPr>
              <a:t>•  Lambda Container Image</a:t>
            </a:r>
          </a:p>
          <a:p>
            <a:pPr>
              <a:spcAft>
                <a:spcPts val="1000"/>
              </a:spcAft>
            </a:pPr>
            <a:r>
              <a:rPr sz="1800" b="0">
                <a:solidFill>
                  <a:srgbClr val="161B26"/>
                </a:solidFill>
                <a:latin typeface="Arial"/>
              </a:rPr>
              <a:t>•  The container image must implement the Lambda Runtime API</a:t>
            </a:r>
          </a:p>
          <a:p>
            <a:pPr>
              <a:spcAft>
                <a:spcPts val="1000"/>
              </a:spcAft>
            </a:pPr>
            <a:r>
              <a:rPr sz="1800" b="0">
                <a:solidFill>
                  <a:srgbClr val="161B26"/>
                </a:solidFill>
                <a:latin typeface="Arial"/>
              </a:rPr>
              <a:t>•  ECS / Fargate is preferred for running arbitrary Docker images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Thumbnail creation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2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Serverless CRON Job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67982" y="1801368"/>
            <a:ext cx="982555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3_0.png"/>
          <p:cNvPicPr>
            <a:picLocks noChangeAspect="1"/>
          </p:cNvPicPr>
          <p:nvPr/>
        </p:nvPicPr>
        <p:blipFill>
          <a:blip r:embed="rId2"/>
          <a:stretch>
            <a:fillRect/>
          </a:stretch>
        </p:blipFill>
        <p:spPr>
          <a:xfrm>
            <a:off x="1195414" y="1828800"/>
            <a:ext cx="977069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Lambda Pricing: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can find overall pricing information here: https://aws.amazon.com/lambda/pricing/</a:t>
            </a:r>
          </a:p>
          <a:p>
            <a:pPr>
              <a:spcAft>
                <a:spcPts val="1000"/>
              </a:spcAft>
            </a:pPr>
            <a:r>
              <a:rPr sz="1800" b="0">
                <a:solidFill>
                  <a:srgbClr val="161B26"/>
                </a:solidFill>
                <a:latin typeface="Arial"/>
              </a:rPr>
              <a:t>•  Pay per calls:</a:t>
            </a:r>
          </a:p>
          <a:p>
            <a:pPr>
              <a:spcAft>
                <a:spcPts val="1000"/>
              </a:spcAft>
            </a:pPr>
            <a:r>
              <a:rPr sz="1800" b="0">
                <a:solidFill>
                  <a:srgbClr val="161B26"/>
                </a:solidFill>
                <a:latin typeface="Arial"/>
              </a:rPr>
              <a:t>•  First 1,000,000 requests are free</a:t>
            </a:r>
          </a:p>
          <a:p>
            <a:pPr>
              <a:spcAft>
                <a:spcPts val="1000"/>
              </a:spcAft>
            </a:pPr>
            <a:r>
              <a:rPr sz="1800" b="0">
                <a:solidFill>
                  <a:srgbClr val="161B26"/>
                </a:solidFill>
                <a:latin typeface="Arial"/>
              </a:rPr>
              <a:t>•  $0.20 per 1 million requests thereafter ($0.0000002 per request)</a:t>
            </a:r>
          </a:p>
          <a:p>
            <a:pPr>
              <a:spcAft>
                <a:spcPts val="1000"/>
              </a:spcAft>
            </a:pPr>
            <a:r>
              <a:rPr sz="1800" b="0">
                <a:solidFill>
                  <a:srgbClr val="161B26"/>
                </a:solidFill>
                <a:latin typeface="Arial"/>
              </a:rPr>
              <a:t>•  Pay per duration: (in increment of 1 ms)</a:t>
            </a:r>
          </a:p>
          <a:p>
            <a:pPr>
              <a:spcAft>
                <a:spcPts val="1000"/>
              </a:spcAft>
            </a:pPr>
            <a:r>
              <a:rPr sz="1800" b="0">
                <a:solidFill>
                  <a:srgbClr val="161B26"/>
                </a:solidFill>
                <a:latin typeface="Arial"/>
              </a:rPr>
              <a:t>•  400,000 GB-seconds of compute time per month for FREE</a:t>
            </a:r>
          </a:p>
          <a:p>
            <a:pPr>
              <a:spcAft>
                <a:spcPts val="1000"/>
              </a:spcAft>
            </a:pPr>
            <a:r>
              <a:rPr sz="1800" b="0">
                <a:solidFill>
                  <a:srgbClr val="161B26"/>
                </a:solidFill>
                <a:latin typeface="Arial"/>
              </a:rPr>
              <a:t>•  == 400,000 seconds if function is 1GB RAM</a:t>
            </a:r>
          </a:p>
          <a:p>
            <a:pPr>
              <a:spcAft>
                <a:spcPts val="1000"/>
              </a:spcAft>
            </a:pPr>
            <a:r>
              <a:rPr sz="1800" b="0">
                <a:solidFill>
                  <a:srgbClr val="161B26"/>
                </a:solidFill>
                <a:latin typeface="Arial"/>
              </a:rPr>
              <a:t>•  == 3,200,000 seconds if function is 128 MB RAM</a:t>
            </a:r>
          </a:p>
          <a:p>
            <a:pPr>
              <a:spcAft>
                <a:spcPts val="1000"/>
              </a:spcAft>
            </a:pPr>
            <a:r>
              <a:rPr sz="1800" b="0">
                <a:solidFill>
                  <a:srgbClr val="161B26"/>
                </a:solidFill>
                <a:latin typeface="Arial"/>
              </a:rPr>
              <a:t>•  After that $1.00 for 600,000 GB-seconds</a:t>
            </a:r>
          </a:p>
          <a:p>
            <a:pPr>
              <a:spcAft>
                <a:spcPts val="1000"/>
              </a:spcAft>
            </a:pPr>
            <a:r>
              <a:rPr sz="1800" b="0">
                <a:solidFill>
                  <a:srgbClr val="161B26"/>
                </a:solidFill>
                <a:latin typeface="Arial"/>
              </a:rPr>
              <a:t>•  It is usually very cheap to run AWS Lambda so it’s very popular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Step Functions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785068" y="1801368"/>
            <a:ext cx="25913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5_0.png"/>
          <p:cNvPicPr>
            <a:picLocks noChangeAspect="1"/>
          </p:cNvPicPr>
          <p:nvPr/>
        </p:nvPicPr>
        <p:blipFill>
          <a:blip r:embed="rId2"/>
          <a:stretch>
            <a:fillRect/>
          </a:stretch>
        </p:blipFill>
        <p:spPr>
          <a:xfrm>
            <a:off x="4812500" y="1828800"/>
            <a:ext cx="253652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Build serverless visual workflow to orchestrate your Lambda functions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API Gateway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55307"/>
            <a:ext cx="10479024" cy="18617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6_0.png"/>
          <p:cNvPicPr>
            <a:picLocks noChangeAspect="1"/>
          </p:cNvPicPr>
          <p:nvPr/>
        </p:nvPicPr>
        <p:blipFill>
          <a:blip r:embed="rId2"/>
          <a:stretch>
            <a:fillRect/>
          </a:stretch>
        </p:blipFill>
        <p:spPr>
          <a:xfrm>
            <a:off x="868680" y="2982739"/>
            <a:ext cx="10424160" cy="18069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building a serverless API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Batch</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batch processing at any scale</a:t>
            </a:r>
          </a:p>
          <a:p>
            <a:pPr>
              <a:spcAft>
                <a:spcPts val="1000"/>
              </a:spcAft>
            </a:pPr>
            <a:r>
              <a:rPr sz="1800" b="0">
                <a:solidFill>
                  <a:srgbClr val="161B26"/>
                </a:solidFill>
                <a:latin typeface="Arial"/>
              </a:rPr>
              <a:t>•  Efficiently run 100,000s of computing batch jobs on AWS</a:t>
            </a:r>
          </a:p>
          <a:p>
            <a:pPr>
              <a:spcAft>
                <a:spcPts val="1000"/>
              </a:spcAft>
            </a:pPr>
            <a:r>
              <a:rPr sz="1800" b="0">
                <a:solidFill>
                  <a:srgbClr val="161B26"/>
                </a:solidFill>
                <a:latin typeface="Arial"/>
              </a:rPr>
              <a:t>•  A “batch” job is a job with a start and an end (opposed to continuous)</a:t>
            </a:r>
          </a:p>
          <a:p>
            <a:pPr>
              <a:spcAft>
                <a:spcPts val="1000"/>
              </a:spcAft>
            </a:pPr>
            <a:r>
              <a:rPr sz="1800" b="0">
                <a:solidFill>
                  <a:srgbClr val="161B26"/>
                </a:solidFill>
                <a:latin typeface="Arial"/>
              </a:rPr>
              <a:t>•  Batch will dynamically launch EC2 instances or Spot Instances</a:t>
            </a:r>
          </a:p>
          <a:p>
            <a:pPr>
              <a:spcAft>
                <a:spcPts val="1000"/>
              </a:spcAft>
            </a:pPr>
            <a:r>
              <a:rPr sz="1800" b="0">
                <a:solidFill>
                  <a:srgbClr val="161B26"/>
                </a:solidFill>
                <a:latin typeface="Arial"/>
              </a:rPr>
              <a:t>•  AWS Batch provisions the right amount of compute / memory</a:t>
            </a:r>
          </a:p>
          <a:p>
            <a:pPr>
              <a:spcAft>
                <a:spcPts val="1000"/>
              </a:spcAft>
            </a:pPr>
            <a:r>
              <a:rPr sz="1800" b="0">
                <a:solidFill>
                  <a:srgbClr val="161B26"/>
                </a:solidFill>
                <a:latin typeface="Arial"/>
              </a:rPr>
              <a:t>•  You submit or schedule batch jobs and AWS Batch does the rest!</a:t>
            </a:r>
          </a:p>
          <a:p>
            <a:pPr>
              <a:spcAft>
                <a:spcPts val="1000"/>
              </a:spcAft>
            </a:pPr>
            <a:r>
              <a:rPr sz="1800" b="0">
                <a:solidFill>
                  <a:srgbClr val="161B26"/>
                </a:solidFill>
                <a:latin typeface="Arial"/>
              </a:rPr>
              <a:t>•  Batch jobs are defined as Docker images and run on ECS</a:t>
            </a:r>
          </a:p>
          <a:p>
            <a:pPr>
              <a:spcAft>
                <a:spcPts val="1000"/>
              </a:spcAft>
            </a:pPr>
            <a:r>
              <a:rPr sz="1800" b="0">
                <a:solidFill>
                  <a:srgbClr val="161B26"/>
                </a:solidFill>
                <a:latin typeface="Arial"/>
              </a:rPr>
              <a:t>•  Helpful for cost optimizations and focusing less on the infrastructure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Batch – Simplified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97298"/>
            <a:ext cx="10479024" cy="39435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8_0.png"/>
          <p:cNvPicPr>
            <a:picLocks noChangeAspect="1"/>
          </p:cNvPicPr>
          <p:nvPr/>
        </p:nvPicPr>
        <p:blipFill>
          <a:blip r:embed="rId2"/>
          <a:stretch>
            <a:fillRect/>
          </a:stretch>
        </p:blipFill>
        <p:spPr>
          <a:xfrm>
            <a:off x="868680" y="2124730"/>
            <a:ext cx="10424160" cy="388870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Batch vs Lambda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99158" y="1801368"/>
            <a:ext cx="17632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49_0.png"/>
          <p:cNvPicPr>
            <a:picLocks noChangeAspect="1"/>
          </p:cNvPicPr>
          <p:nvPr/>
        </p:nvPicPr>
        <p:blipFill>
          <a:blip r:embed="rId2"/>
          <a:stretch>
            <a:fillRect/>
          </a:stretch>
        </p:blipFill>
        <p:spPr>
          <a:xfrm>
            <a:off x="5226590" y="1828800"/>
            <a:ext cx="170834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Lambda: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Lightsail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Virtual servers, storage, databases, and networking</a:t>
            </a:r>
          </a:p>
          <a:p>
            <a:pPr>
              <a:spcAft>
                <a:spcPts val="1000"/>
              </a:spcAft>
            </a:pPr>
            <a:r>
              <a:rPr sz="1800" b="0">
                <a:solidFill>
                  <a:srgbClr val="161B26"/>
                </a:solidFill>
                <a:latin typeface="Arial"/>
              </a:rPr>
              <a:t>•  Low &amp; predictable pricing</a:t>
            </a:r>
          </a:p>
          <a:p>
            <a:pPr>
              <a:spcAft>
                <a:spcPts val="1000"/>
              </a:spcAft>
            </a:pPr>
            <a:r>
              <a:rPr sz="1800" b="0">
                <a:solidFill>
                  <a:srgbClr val="161B26"/>
                </a:solidFill>
                <a:latin typeface="Arial"/>
              </a:rPr>
              <a:t>•  Simpler alternative to using EC2, RDS, ELB, EBS, Route 53…</a:t>
            </a:r>
          </a:p>
          <a:p>
            <a:pPr>
              <a:spcAft>
                <a:spcPts val="1000"/>
              </a:spcAft>
            </a:pPr>
            <a:r>
              <a:rPr sz="1800" b="0">
                <a:solidFill>
                  <a:srgbClr val="161B26"/>
                </a:solidFill>
                <a:latin typeface="Arial"/>
              </a:rPr>
              <a:t>•  Great for people with little cloud experience!</a:t>
            </a:r>
          </a:p>
          <a:p>
            <a:pPr>
              <a:spcAft>
                <a:spcPts val="1000"/>
              </a:spcAft>
            </a:pPr>
            <a:r>
              <a:rPr sz="1800" b="0">
                <a:solidFill>
                  <a:srgbClr val="161B26"/>
                </a:solidFill>
                <a:latin typeface="Arial"/>
              </a:rPr>
              <a:t>•  Can setup notifications and monitoring of your Lightsail resources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Simple web applications (has templates for LAMP, Nginx, MEAN, Node.js…)</a:t>
            </a:r>
          </a:p>
          <a:p>
            <a:pPr>
              <a:spcAft>
                <a:spcPts val="1000"/>
              </a:spcAft>
            </a:pPr>
            <a:r>
              <a:rPr sz="1800" b="0">
                <a:solidFill>
                  <a:srgbClr val="161B26"/>
                </a:solidFill>
                <a:latin typeface="Arial"/>
              </a:rPr>
              <a:t>•  Websites (templates for WordPress, Magento, Plesk, Joomla) Dev / Test environment</a:t>
            </a:r>
          </a:p>
          <a:p>
            <a:pPr>
              <a:spcAft>
                <a:spcPts val="1000"/>
              </a:spcAft>
            </a:pPr>
            <a:r>
              <a:rPr sz="1800" b="0">
                <a:solidFill>
                  <a:srgbClr val="161B26"/>
                </a:solidFill>
                <a:latin typeface="Arial"/>
              </a:rPr>
              <a:t>•  Has high availability but no auto-scaling, limited AWS integrations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Other Compute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Docker: container technology to run applications</a:t>
            </a:r>
          </a:p>
          <a:p>
            <a:pPr>
              <a:spcAft>
                <a:spcPts val="1000"/>
              </a:spcAft>
            </a:pPr>
            <a:r>
              <a:rPr sz="1800" b="0">
                <a:solidFill>
                  <a:srgbClr val="161B26"/>
                </a:solidFill>
                <a:latin typeface="Arial"/>
              </a:rPr>
              <a:t>•  ECS: run Docker containers on EC2 instances</a:t>
            </a:r>
          </a:p>
          <a:p>
            <a:pPr>
              <a:spcAft>
                <a:spcPts val="1000"/>
              </a:spcAft>
            </a:pPr>
            <a:r>
              <a:rPr sz="1800" b="0">
                <a:solidFill>
                  <a:srgbClr val="161B26"/>
                </a:solidFill>
                <a:latin typeface="Arial"/>
              </a:rPr>
              <a:t>•  Fargate:</a:t>
            </a:r>
          </a:p>
          <a:p>
            <a:pPr>
              <a:spcAft>
                <a:spcPts val="1000"/>
              </a:spcAft>
            </a:pPr>
            <a:r>
              <a:rPr sz="1800" b="0">
                <a:solidFill>
                  <a:srgbClr val="161B26"/>
                </a:solidFill>
                <a:latin typeface="Arial"/>
              </a:rPr>
              <a:t>•  Run Docker containers without provisioning the infrastructure</a:t>
            </a:r>
          </a:p>
          <a:p>
            <a:pPr>
              <a:spcAft>
                <a:spcPts val="1000"/>
              </a:spcAft>
            </a:pPr>
            <a:r>
              <a:rPr sz="1800" b="0">
                <a:solidFill>
                  <a:srgbClr val="161B26"/>
                </a:solidFill>
                <a:latin typeface="Arial"/>
              </a:rPr>
              <a:t>•  Serverless offering (no EC2 instances)</a:t>
            </a:r>
          </a:p>
          <a:p>
            <a:pPr>
              <a:spcAft>
                <a:spcPts val="1000"/>
              </a:spcAft>
            </a:pPr>
            <a:r>
              <a:rPr sz="1800" b="0">
                <a:solidFill>
                  <a:srgbClr val="161B26"/>
                </a:solidFill>
                <a:latin typeface="Arial"/>
              </a:rPr>
              <a:t>•  ECR: Private Docker Images Repository</a:t>
            </a:r>
          </a:p>
          <a:p>
            <a:pPr>
              <a:spcAft>
                <a:spcPts val="1000"/>
              </a:spcAft>
            </a:pPr>
            <a:r>
              <a:rPr sz="1800" b="0">
                <a:solidFill>
                  <a:srgbClr val="161B26"/>
                </a:solidFill>
                <a:latin typeface="Arial"/>
              </a:rPr>
              <a:t>•  Batch: run batch jobs on AWS across managed EC2 instances</a:t>
            </a:r>
          </a:p>
          <a:p>
            <a:pPr>
              <a:spcAft>
                <a:spcPts val="1000"/>
              </a:spcAft>
            </a:pPr>
            <a:r>
              <a:rPr sz="1800" b="0">
                <a:solidFill>
                  <a:srgbClr val="161B26"/>
                </a:solidFill>
                <a:latin typeface="Arial"/>
              </a:rPr>
              <a:t>•  Lightsail: predictable &amp; low pricing for simple application &amp; DB stacks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Lambda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 is Serverless, Function as a Service, seamless scaling, reactive</a:t>
            </a:r>
          </a:p>
          <a:p>
            <a:pPr>
              <a:spcAft>
                <a:spcPts val="1000"/>
              </a:spcAft>
            </a:pPr>
            <a:r>
              <a:rPr sz="1800" b="0">
                <a:solidFill>
                  <a:srgbClr val="161B26"/>
                </a:solidFill>
                <a:latin typeface="Arial"/>
              </a:rPr>
              <a:t>•  Lambda Billing:</a:t>
            </a:r>
          </a:p>
          <a:p>
            <a:pPr>
              <a:spcAft>
                <a:spcPts val="1000"/>
              </a:spcAft>
            </a:pPr>
            <a:r>
              <a:rPr sz="1800" b="0">
                <a:solidFill>
                  <a:srgbClr val="161B26"/>
                </a:solidFill>
                <a:latin typeface="Arial"/>
              </a:rPr>
              <a:t>•  By the time run x by the RAM provisioned</a:t>
            </a:r>
          </a:p>
          <a:p>
            <a:pPr>
              <a:spcAft>
                <a:spcPts val="1000"/>
              </a:spcAft>
            </a:pPr>
            <a:r>
              <a:rPr sz="1800" b="0">
                <a:solidFill>
                  <a:srgbClr val="161B26"/>
                </a:solidFill>
                <a:latin typeface="Arial"/>
              </a:rPr>
              <a:t>•  By the number of invocations</a:t>
            </a:r>
          </a:p>
          <a:p>
            <a:pPr>
              <a:spcAft>
                <a:spcPts val="1000"/>
              </a:spcAft>
            </a:pPr>
            <a:r>
              <a:rPr sz="1800" b="0">
                <a:solidFill>
                  <a:srgbClr val="161B26"/>
                </a:solidFill>
                <a:latin typeface="Arial"/>
              </a:rPr>
              <a:t>•  Language Support: many programming languages except (arbitrary) Docker</a:t>
            </a:r>
          </a:p>
          <a:p>
            <a:pPr>
              <a:spcAft>
                <a:spcPts val="1000"/>
              </a:spcAft>
            </a:pPr>
            <a:r>
              <a:rPr sz="1800" b="0">
                <a:solidFill>
                  <a:srgbClr val="161B26"/>
                </a:solidFill>
                <a:latin typeface="Arial"/>
              </a:rPr>
              <a:t>•  Invocation time: up to 15 minutes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Create Thumbnails for images uploaded onto S3</a:t>
            </a:r>
          </a:p>
          <a:p>
            <a:pPr>
              <a:spcAft>
                <a:spcPts val="1000"/>
              </a:spcAft>
            </a:pPr>
            <a:r>
              <a:rPr sz="1800" b="0">
                <a:solidFill>
                  <a:srgbClr val="161B26"/>
                </a:solidFill>
                <a:latin typeface="Arial"/>
              </a:rPr>
              <a:t>•  Run a Serverless cron job</a:t>
            </a:r>
          </a:p>
          <a:p>
            <a:pPr>
              <a:spcAft>
                <a:spcPts val="1000"/>
              </a:spcAft>
            </a:pPr>
            <a:r>
              <a:rPr sz="1800" b="0">
                <a:solidFill>
                  <a:srgbClr val="161B26"/>
                </a:solidFill>
                <a:latin typeface="Arial"/>
              </a:rPr>
              <a:t>•  API Gateway: expose Lambda functions as HTTP API</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DEPLOYING AND MANAGING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Infrastructure at Scale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CloudFormation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is a declarative way of outlining your AWS Infrastructure, for any resources (most of them are supported).</a:t>
            </a:r>
          </a:p>
          <a:p>
            <a:pPr>
              <a:spcAft>
                <a:spcPts val="1000"/>
              </a:spcAft>
            </a:pPr>
            <a:r>
              <a:rPr sz="1800" b="0">
                <a:solidFill>
                  <a:srgbClr val="161B26"/>
                </a:solidFill>
                <a:latin typeface="Arial"/>
              </a:rPr>
              <a:t>•  For example, within a CloudFormation template, you say:</a:t>
            </a:r>
          </a:p>
          <a:p>
            <a:pPr>
              <a:spcAft>
                <a:spcPts val="1000"/>
              </a:spcAft>
            </a:pPr>
            <a:r>
              <a:rPr sz="1800" b="0">
                <a:solidFill>
                  <a:srgbClr val="161B26"/>
                </a:solidFill>
                <a:latin typeface="Arial"/>
              </a:rPr>
              <a:t>•  I want a security group</a:t>
            </a:r>
          </a:p>
          <a:p>
            <a:pPr>
              <a:spcAft>
                <a:spcPts val="1000"/>
              </a:spcAft>
            </a:pPr>
            <a:r>
              <a:rPr sz="1800" b="0">
                <a:solidFill>
                  <a:srgbClr val="161B26"/>
                </a:solidFill>
                <a:latin typeface="Arial"/>
              </a:rPr>
              <a:t>•  I want two EC2 instances using this security group</a:t>
            </a:r>
          </a:p>
          <a:p>
            <a:pPr>
              <a:spcAft>
                <a:spcPts val="1000"/>
              </a:spcAft>
            </a:pPr>
            <a:r>
              <a:rPr sz="1800" b="0">
                <a:solidFill>
                  <a:srgbClr val="161B26"/>
                </a:solidFill>
                <a:latin typeface="Arial"/>
              </a:rPr>
              <a:t>•  I want an S3 bucket</a:t>
            </a:r>
          </a:p>
          <a:p>
            <a:pPr>
              <a:spcAft>
                <a:spcPts val="1000"/>
              </a:spcAft>
            </a:pPr>
            <a:r>
              <a:rPr sz="1800" b="0">
                <a:solidFill>
                  <a:srgbClr val="161B26"/>
                </a:solidFill>
                <a:latin typeface="Arial"/>
              </a:rPr>
              <a:t>•  I want a load balancer (ELB) in front of these machines</a:t>
            </a:r>
          </a:p>
          <a:p>
            <a:pPr>
              <a:spcAft>
                <a:spcPts val="1000"/>
              </a:spcAft>
            </a:pPr>
            <a:r>
              <a:rPr sz="1800" b="0">
                <a:solidFill>
                  <a:srgbClr val="161B26"/>
                </a:solidFill>
                <a:latin typeface="Arial"/>
              </a:rPr>
              <a:t>•  Then CloudFormation creates those for you, in the right order, with the exact configuration that you specify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(1/2)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Infrastructure as code</a:t>
            </a:r>
          </a:p>
          <a:p>
            <a:pPr>
              <a:spcAft>
                <a:spcPts val="1000"/>
              </a:spcAft>
            </a:pPr>
            <a:r>
              <a:rPr sz="1800" b="0">
                <a:solidFill>
                  <a:srgbClr val="161B26"/>
                </a:solidFill>
                <a:latin typeface="Arial"/>
              </a:rPr>
              <a:t>•  No resources are manually created, which is excellent for control</a:t>
            </a:r>
          </a:p>
          <a:p>
            <a:pPr>
              <a:spcAft>
                <a:spcPts val="1000"/>
              </a:spcAft>
            </a:pPr>
            <a:r>
              <a:rPr sz="1800" b="0">
                <a:solidFill>
                  <a:srgbClr val="161B26"/>
                </a:solidFill>
                <a:latin typeface="Arial"/>
              </a:rPr>
              <a:t>•  Changes to the infrastructure are reviewed through code</a:t>
            </a:r>
          </a:p>
          <a:p>
            <a:pPr>
              <a:spcAft>
                <a:spcPts val="1000"/>
              </a:spcAft>
            </a:pPr>
            <a:r>
              <a:rPr sz="1800" b="0">
                <a:solidFill>
                  <a:srgbClr val="161B26"/>
                </a:solidFill>
                <a:latin typeface="Arial"/>
              </a:rPr>
              <a:t>•  Cost</a:t>
            </a:r>
          </a:p>
          <a:p>
            <a:pPr>
              <a:spcAft>
                <a:spcPts val="1000"/>
              </a:spcAft>
            </a:pPr>
            <a:r>
              <a:rPr sz="1800" b="0">
                <a:solidFill>
                  <a:srgbClr val="161B26"/>
                </a:solidFill>
                <a:latin typeface="Arial"/>
              </a:rPr>
              <a:t>•  Each resources within the stack is tagged with an identifier so you can easily see how much a stack costs you</a:t>
            </a:r>
          </a:p>
          <a:p>
            <a:pPr>
              <a:spcAft>
                <a:spcPts val="1000"/>
              </a:spcAft>
            </a:pPr>
            <a:r>
              <a:rPr sz="1800" b="0">
                <a:solidFill>
                  <a:srgbClr val="161B26"/>
                </a:solidFill>
                <a:latin typeface="Arial"/>
              </a:rPr>
              <a:t>•  You can estimate the costs of your resources using the CloudFormation template</a:t>
            </a:r>
          </a:p>
          <a:p>
            <a:pPr>
              <a:spcAft>
                <a:spcPts val="1000"/>
              </a:spcAft>
            </a:pPr>
            <a:r>
              <a:rPr sz="1800" b="0">
                <a:solidFill>
                  <a:srgbClr val="161B26"/>
                </a:solidFill>
                <a:latin typeface="Arial"/>
              </a:rPr>
              <a:t>•  Savings strategy: In Dev, you could automation deletion of templates at 5 PM and recreated at 8 AM, safely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Benefits of AWS CloudFormation (2/2)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Productivity</a:t>
            </a:r>
          </a:p>
          <a:p>
            <a:pPr>
              <a:spcAft>
                <a:spcPts val="1000"/>
              </a:spcAft>
            </a:pPr>
            <a:r>
              <a:rPr sz="1800" b="0">
                <a:solidFill>
                  <a:srgbClr val="161B26"/>
                </a:solidFill>
                <a:latin typeface="Arial"/>
              </a:rPr>
              <a:t>•  Ability to destroy and re-create an infrastructure on the cloud on the fly</a:t>
            </a:r>
          </a:p>
          <a:p>
            <a:pPr>
              <a:spcAft>
                <a:spcPts val="1000"/>
              </a:spcAft>
            </a:pPr>
            <a:r>
              <a:rPr sz="1800" b="0">
                <a:solidFill>
                  <a:srgbClr val="161B26"/>
                </a:solidFill>
                <a:latin typeface="Arial"/>
              </a:rPr>
              <a:t>•  Automated generation of Diagram for your templates!</a:t>
            </a:r>
          </a:p>
          <a:p>
            <a:pPr>
              <a:spcAft>
                <a:spcPts val="1000"/>
              </a:spcAft>
            </a:pPr>
            <a:r>
              <a:rPr sz="1800" b="0">
                <a:solidFill>
                  <a:srgbClr val="161B26"/>
                </a:solidFill>
                <a:latin typeface="Arial"/>
              </a:rPr>
              <a:t>•  Declarative programming (no need to figure out ordering and orchestration)</a:t>
            </a:r>
          </a:p>
          <a:p>
            <a:pPr>
              <a:spcAft>
                <a:spcPts val="1000"/>
              </a:spcAft>
            </a:pPr>
            <a:r>
              <a:rPr sz="1800" b="0">
                <a:solidFill>
                  <a:srgbClr val="161B26"/>
                </a:solidFill>
                <a:latin typeface="Arial"/>
              </a:rPr>
              <a:t>•  Don’t re-invent the wheel</a:t>
            </a:r>
          </a:p>
          <a:p>
            <a:pPr>
              <a:spcAft>
                <a:spcPts val="1000"/>
              </a:spcAft>
            </a:pPr>
            <a:r>
              <a:rPr sz="1800" b="0">
                <a:solidFill>
                  <a:srgbClr val="161B26"/>
                </a:solidFill>
                <a:latin typeface="Arial"/>
              </a:rPr>
              <a:t>•  Leverage existing templates on the web!</a:t>
            </a:r>
          </a:p>
          <a:p>
            <a:pPr>
              <a:spcAft>
                <a:spcPts val="1000"/>
              </a:spcAft>
            </a:pPr>
            <a:r>
              <a:rPr sz="1800" b="0">
                <a:solidFill>
                  <a:srgbClr val="161B26"/>
                </a:solidFill>
                <a:latin typeface="Arial"/>
              </a:rPr>
              <a:t>•  Leverage the documentation</a:t>
            </a:r>
          </a:p>
          <a:p>
            <a:pPr>
              <a:spcAft>
                <a:spcPts val="1000"/>
              </a:spcAft>
            </a:pPr>
            <a:r>
              <a:rPr sz="1800" b="0">
                <a:solidFill>
                  <a:srgbClr val="161B26"/>
                </a:solidFill>
                <a:latin typeface="Arial"/>
              </a:rPr>
              <a:t>•  Supports (almost) all AWS resources:</a:t>
            </a:r>
          </a:p>
          <a:p>
            <a:pPr>
              <a:spcAft>
                <a:spcPts val="1000"/>
              </a:spcAft>
            </a:pPr>
            <a:r>
              <a:rPr sz="1800" b="0">
                <a:solidFill>
                  <a:srgbClr val="161B26"/>
                </a:solidFill>
                <a:latin typeface="Arial"/>
              </a:rPr>
              <a:t>•  Everything we’ll see in this course is supported</a:t>
            </a:r>
          </a:p>
          <a:p>
            <a:pPr>
              <a:spcAft>
                <a:spcPts val="1000"/>
              </a:spcAft>
            </a:pPr>
            <a:r>
              <a:rPr sz="1800" b="0">
                <a:solidFill>
                  <a:srgbClr val="161B26"/>
                </a:solidFill>
                <a:latin typeface="Arial"/>
              </a:rPr>
              <a:t>•  You can use “custom resources” for resources that are not supported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CloudFormation + Application Composer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16908"/>
            <a:ext cx="10479024" cy="33385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57_0.png"/>
          <p:cNvPicPr>
            <a:picLocks noChangeAspect="1"/>
          </p:cNvPicPr>
          <p:nvPr/>
        </p:nvPicPr>
        <p:blipFill>
          <a:blip r:embed="rId2"/>
          <a:stretch>
            <a:fillRect/>
          </a:stretch>
        </p:blipFill>
        <p:spPr>
          <a:xfrm>
            <a:off x="868680" y="2244340"/>
            <a:ext cx="10424160" cy="32837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WordPress CloudFormation Stack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Development Kit (CDK)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22664"/>
            <a:ext cx="10479024" cy="272707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58_0.png"/>
          <p:cNvPicPr>
            <a:picLocks noChangeAspect="1"/>
          </p:cNvPicPr>
          <p:nvPr/>
        </p:nvPicPr>
        <p:blipFill>
          <a:blip r:embed="rId2"/>
          <a:stretch>
            <a:fillRect/>
          </a:stretch>
        </p:blipFill>
        <p:spPr>
          <a:xfrm>
            <a:off x="868680" y="2550096"/>
            <a:ext cx="10424160" cy="267220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Define your cloud infrastructure using a familiar language: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CDK Example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30018" y="1801368"/>
            <a:ext cx="530148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59_0.png"/>
          <p:cNvPicPr>
            <a:picLocks noChangeAspect="1"/>
          </p:cNvPicPr>
          <p:nvPr/>
        </p:nvPicPr>
        <p:blipFill>
          <a:blip r:embed="rId2"/>
          <a:stretch>
            <a:fillRect/>
          </a:stretch>
        </p:blipFill>
        <p:spPr>
          <a:xfrm>
            <a:off x="3457450" y="1828800"/>
            <a:ext cx="524661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Typical architecture: Web App 3-tier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13567" y="1801368"/>
            <a:ext cx="97343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0_0.png"/>
          <p:cNvPicPr>
            <a:picLocks noChangeAspect="1"/>
          </p:cNvPicPr>
          <p:nvPr/>
        </p:nvPicPr>
        <p:blipFill>
          <a:blip r:embed="rId2"/>
          <a:stretch>
            <a:fillRect/>
          </a:stretch>
        </p:blipFill>
        <p:spPr>
          <a:xfrm>
            <a:off x="1240999" y="1828800"/>
            <a:ext cx="967952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problems on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Managing infrastructure</a:t>
            </a:r>
          </a:p>
          <a:p>
            <a:pPr>
              <a:spcAft>
                <a:spcPts val="1000"/>
              </a:spcAft>
            </a:pPr>
            <a:r>
              <a:rPr sz="1800" b="0">
                <a:solidFill>
                  <a:srgbClr val="161B26"/>
                </a:solidFill>
                <a:latin typeface="Arial"/>
              </a:rPr>
              <a:t>•  Deploying Code</a:t>
            </a:r>
          </a:p>
          <a:p>
            <a:pPr>
              <a:spcAft>
                <a:spcPts val="1000"/>
              </a:spcAft>
            </a:pPr>
            <a:r>
              <a:rPr sz="1800" b="0">
                <a:solidFill>
                  <a:srgbClr val="161B26"/>
                </a:solidFill>
                <a:latin typeface="Arial"/>
              </a:rPr>
              <a:t>•  Configuring all the databases, load balancers, etc</a:t>
            </a:r>
          </a:p>
          <a:p>
            <a:pPr>
              <a:spcAft>
                <a:spcPts val="1000"/>
              </a:spcAft>
            </a:pPr>
            <a:r>
              <a:rPr sz="1800" b="0">
                <a:solidFill>
                  <a:srgbClr val="161B26"/>
                </a:solidFill>
                <a:latin typeface="Arial"/>
              </a:rPr>
              <a:t>•  Scaling concerns</a:t>
            </a:r>
          </a:p>
          <a:p>
            <a:pPr>
              <a:spcAft>
                <a:spcPts val="1000"/>
              </a:spcAft>
            </a:pPr>
            <a:r>
              <a:rPr sz="1800" b="0">
                <a:solidFill>
                  <a:srgbClr val="161B26"/>
                </a:solidFill>
                <a:latin typeface="Arial"/>
              </a:rPr>
              <a:t>•  Most web apps have the same architecture (ALB + ASG)</a:t>
            </a:r>
          </a:p>
          <a:p>
            <a:pPr>
              <a:spcAft>
                <a:spcPts val="1000"/>
              </a:spcAft>
            </a:pPr>
            <a:r>
              <a:rPr sz="1800" b="0">
                <a:solidFill>
                  <a:srgbClr val="161B26"/>
                </a:solidFill>
                <a:latin typeface="Arial"/>
              </a:rPr>
              <a:t>•  All the developers want is for their code to run!</a:t>
            </a:r>
          </a:p>
          <a:p>
            <a:pPr>
              <a:spcAft>
                <a:spcPts val="1000"/>
              </a:spcAft>
            </a:pPr>
            <a:r>
              <a:rPr sz="1800" b="0">
                <a:solidFill>
                  <a:srgbClr val="161B26"/>
                </a:solidFill>
                <a:latin typeface="Arial"/>
              </a:rPr>
              <a:t>•  Possibly, consistently across different applications and environments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Elastic Beanstalk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Elastic Beanstalk is a developer centric view of deploying an application on AWS</a:t>
            </a:r>
          </a:p>
          <a:p>
            <a:pPr>
              <a:spcAft>
                <a:spcPts val="1000"/>
              </a:spcAft>
            </a:pPr>
            <a:r>
              <a:rPr sz="2000" b="0">
                <a:solidFill>
                  <a:srgbClr val="161B26"/>
                </a:solidFill>
                <a:latin typeface="Arial"/>
              </a:rPr>
              <a:t>•  It uses all the component’s we’ve seen before: EC2, ASG, ELB, RDS, etc…</a:t>
            </a:r>
          </a:p>
          <a:p>
            <a:pPr>
              <a:spcAft>
                <a:spcPts val="1000"/>
              </a:spcAft>
            </a:pPr>
            <a:r>
              <a:rPr sz="2000" b="0">
                <a:solidFill>
                  <a:srgbClr val="161B26"/>
                </a:solidFill>
                <a:latin typeface="Arial"/>
              </a:rPr>
              <a:t>•  But it’s all in one view that’s easy to make sense of!</a:t>
            </a:r>
          </a:p>
          <a:p>
            <a:pPr>
              <a:spcAft>
                <a:spcPts val="1000"/>
              </a:spcAft>
            </a:pPr>
            <a:r>
              <a:rPr sz="2000" b="0">
                <a:solidFill>
                  <a:srgbClr val="161B26"/>
                </a:solidFill>
                <a:latin typeface="Arial"/>
              </a:rPr>
              <a:t>•  We still have full control over the configuration</a:t>
            </a:r>
          </a:p>
          <a:p>
            <a:pPr>
              <a:spcAft>
                <a:spcPts val="1000"/>
              </a:spcAft>
            </a:pPr>
            <a:r>
              <a:rPr sz="2000" b="0">
                <a:solidFill>
                  <a:srgbClr val="161B26"/>
                </a:solidFill>
                <a:latin typeface="Arial"/>
              </a:rPr>
              <a:t>•  Beanstalk = Platform as a Service (PaaS)</a:t>
            </a:r>
          </a:p>
          <a:p>
            <a:pPr>
              <a:spcAft>
                <a:spcPts val="1000"/>
              </a:spcAft>
            </a:pPr>
            <a:r>
              <a:rPr sz="2000" b="0">
                <a:solidFill>
                  <a:srgbClr val="161B26"/>
                </a:solidFill>
                <a:latin typeface="Arial"/>
              </a:rPr>
              <a:t>•  Beanstalk is free but you pay for the underlying instances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Managed service</a:t>
            </a:r>
          </a:p>
          <a:p>
            <a:pPr>
              <a:spcAft>
                <a:spcPts val="1000"/>
              </a:spcAft>
            </a:pPr>
            <a:r>
              <a:rPr sz="1800" b="0">
                <a:solidFill>
                  <a:srgbClr val="161B26"/>
                </a:solidFill>
                <a:latin typeface="Arial"/>
              </a:rPr>
              <a:t>•  Instance configuration / OS is handled by Beanstalk</a:t>
            </a:r>
          </a:p>
          <a:p>
            <a:pPr>
              <a:spcAft>
                <a:spcPts val="1000"/>
              </a:spcAft>
            </a:pPr>
            <a:r>
              <a:rPr sz="1800" b="0">
                <a:solidFill>
                  <a:srgbClr val="161B26"/>
                </a:solidFill>
                <a:latin typeface="Arial"/>
              </a:rPr>
              <a:t>•  Deployment strategy is configurable but performed by Elastic Beanstalk</a:t>
            </a:r>
          </a:p>
          <a:p>
            <a:pPr>
              <a:spcAft>
                <a:spcPts val="1000"/>
              </a:spcAft>
            </a:pPr>
            <a:r>
              <a:rPr sz="1800" b="0">
                <a:solidFill>
                  <a:srgbClr val="161B26"/>
                </a:solidFill>
                <a:latin typeface="Arial"/>
              </a:rPr>
              <a:t>•  Capacity provisioning</a:t>
            </a:r>
          </a:p>
          <a:p>
            <a:pPr>
              <a:spcAft>
                <a:spcPts val="1000"/>
              </a:spcAft>
            </a:pPr>
            <a:r>
              <a:rPr sz="1800" b="0">
                <a:solidFill>
                  <a:srgbClr val="161B26"/>
                </a:solidFill>
                <a:latin typeface="Arial"/>
              </a:rPr>
              <a:t>•  Load balancing &amp; auto-scaling</a:t>
            </a:r>
          </a:p>
          <a:p>
            <a:pPr>
              <a:spcAft>
                <a:spcPts val="1000"/>
              </a:spcAft>
            </a:pPr>
            <a:r>
              <a:rPr sz="1800" b="0">
                <a:solidFill>
                  <a:srgbClr val="161B26"/>
                </a:solidFill>
                <a:latin typeface="Arial"/>
              </a:rPr>
              <a:t>•  Application health-monitoring &amp; responsiveness</a:t>
            </a:r>
          </a:p>
          <a:p>
            <a:pPr>
              <a:spcAft>
                <a:spcPts val="1000"/>
              </a:spcAft>
            </a:pPr>
            <a:r>
              <a:rPr sz="1800" b="0">
                <a:solidFill>
                  <a:srgbClr val="161B26"/>
                </a:solidFill>
                <a:latin typeface="Arial"/>
              </a:rPr>
              <a:t>•  Just the application code is the responsibility of the developer</a:t>
            </a:r>
          </a:p>
          <a:p>
            <a:pPr>
              <a:spcAft>
                <a:spcPts val="1000"/>
              </a:spcAft>
            </a:pPr>
            <a:r>
              <a:rPr sz="1800" b="0">
                <a:solidFill>
                  <a:srgbClr val="161B26"/>
                </a:solidFill>
                <a:latin typeface="Arial"/>
              </a:rPr>
              <a:t>•  Three architecture models:</a:t>
            </a:r>
          </a:p>
          <a:p>
            <a:pPr>
              <a:spcAft>
                <a:spcPts val="1000"/>
              </a:spcAft>
            </a:pPr>
            <a:r>
              <a:rPr sz="1800" b="0">
                <a:solidFill>
                  <a:srgbClr val="161B26"/>
                </a:solidFill>
                <a:latin typeface="Arial"/>
              </a:rPr>
              <a:t>•  Single Instance deployment: good for dev</a:t>
            </a:r>
          </a:p>
          <a:p>
            <a:pPr>
              <a:spcAft>
                <a:spcPts val="1000"/>
              </a:spcAft>
            </a:pPr>
            <a:r>
              <a:rPr sz="1800" b="0">
                <a:solidFill>
                  <a:srgbClr val="161B26"/>
                </a:solidFill>
                <a:latin typeface="Arial"/>
              </a:rPr>
              <a:t>•  LB + ASG: great for production or pre-production web applications</a:t>
            </a:r>
          </a:p>
          <a:p>
            <a:pPr>
              <a:spcAft>
                <a:spcPts val="1000"/>
              </a:spcAft>
            </a:pPr>
            <a:r>
              <a:rPr sz="1800" b="0">
                <a:solidFill>
                  <a:srgbClr val="161B26"/>
                </a:solidFill>
                <a:latin typeface="Arial"/>
              </a:rPr>
              <a:t>•  ASG only: great for non-web apps in production (workers,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Support for many platforms:</a:t>
            </a:r>
          </a:p>
          <a:p>
            <a:pPr>
              <a:spcAft>
                <a:spcPts val="1000"/>
              </a:spcAft>
            </a:pPr>
            <a:r>
              <a:rPr sz="1800" b="0">
                <a:solidFill>
                  <a:srgbClr val="161B26"/>
                </a:solidFill>
                <a:latin typeface="Arial"/>
              </a:rPr>
              <a:t>•  Go</a:t>
            </a:r>
          </a:p>
          <a:p>
            <a:pPr>
              <a:spcAft>
                <a:spcPts val="1000"/>
              </a:spcAft>
            </a:pPr>
            <a:r>
              <a:rPr sz="1800" b="0">
                <a:solidFill>
                  <a:srgbClr val="161B26"/>
                </a:solidFill>
                <a:latin typeface="Arial"/>
              </a:rPr>
              <a:t>•  Java SE</a:t>
            </a:r>
          </a:p>
          <a:p>
            <a:pPr>
              <a:spcAft>
                <a:spcPts val="1000"/>
              </a:spcAft>
            </a:pPr>
            <a:r>
              <a:rPr sz="1800" b="0">
                <a:solidFill>
                  <a:srgbClr val="161B26"/>
                </a:solidFill>
                <a:latin typeface="Arial"/>
              </a:rPr>
              <a:t>•  Java with Tomcat</a:t>
            </a:r>
          </a:p>
          <a:p>
            <a:pPr>
              <a:spcAft>
                <a:spcPts val="1000"/>
              </a:spcAft>
            </a:pPr>
            <a:r>
              <a:rPr sz="1800" b="0">
                <a:solidFill>
                  <a:srgbClr val="161B26"/>
                </a:solidFill>
                <a:latin typeface="Arial"/>
              </a:rPr>
              <a:t>•  .NET on Windows Server with IIS</a:t>
            </a:r>
          </a:p>
          <a:p>
            <a:pPr>
              <a:spcAft>
                <a:spcPts val="1000"/>
              </a:spcAft>
            </a:pPr>
            <a:r>
              <a:rPr sz="1800" b="0">
                <a:solidFill>
                  <a:srgbClr val="161B26"/>
                </a:solidFill>
                <a:latin typeface="Arial"/>
              </a:rPr>
              <a:t>•  Node.js</a:t>
            </a:r>
          </a:p>
          <a:p>
            <a:pPr>
              <a:spcAft>
                <a:spcPts val="1000"/>
              </a:spcAft>
            </a:pPr>
            <a:r>
              <a:rPr sz="1800" b="0">
                <a:solidFill>
                  <a:srgbClr val="161B26"/>
                </a:solidFill>
                <a:latin typeface="Arial"/>
              </a:rPr>
              <a:t>•  PHP</a:t>
            </a:r>
          </a:p>
          <a:p>
            <a:pPr>
              <a:spcAft>
                <a:spcPts val="1000"/>
              </a:spcAft>
            </a:pPr>
            <a:r>
              <a:rPr sz="1800" b="0">
                <a:solidFill>
                  <a:srgbClr val="161B26"/>
                </a:solidFill>
                <a:latin typeface="Arial"/>
              </a:rPr>
              <a:t>•  Python</a:t>
            </a:r>
          </a:p>
          <a:p>
            <a:pPr>
              <a:spcAft>
                <a:spcPts val="1000"/>
              </a:spcAft>
            </a:pPr>
            <a:r>
              <a:rPr sz="1800" b="0">
                <a:solidFill>
                  <a:srgbClr val="161B26"/>
                </a:solidFill>
                <a:latin typeface="Arial"/>
              </a:rPr>
              <a:t>•  Ruby</a:t>
            </a:r>
          </a:p>
          <a:p>
            <a:pPr>
              <a:spcAft>
                <a:spcPts val="1000"/>
              </a:spcAft>
            </a:pPr>
            <a:r>
              <a:rPr sz="1800" b="0">
                <a:solidFill>
                  <a:srgbClr val="161B26"/>
                </a:solidFill>
                <a:latin typeface="Arial"/>
              </a:rPr>
              <a:t>•  Packer Builder</a:t>
            </a:r>
          </a:p>
          <a:p>
            <a:pPr>
              <a:spcAft>
                <a:spcPts val="1000"/>
              </a:spcAft>
            </a:pPr>
            <a:r>
              <a:rPr sz="1800" b="0">
                <a:solidFill>
                  <a:srgbClr val="161B26"/>
                </a:solidFill>
                <a:latin typeface="Arial"/>
              </a:rPr>
              <a:t>•  Single Container Docker</a:t>
            </a:r>
          </a:p>
          <a:p>
            <a:pPr>
              <a:spcAft>
                <a:spcPts val="1000"/>
              </a:spcAft>
            </a:pPr>
            <a:r>
              <a:rPr sz="1800" b="0">
                <a:solidFill>
                  <a:srgbClr val="161B26"/>
                </a:solidFill>
                <a:latin typeface="Arial"/>
              </a:rPr>
              <a:t>•  Multi-Container Docker</a:t>
            </a:r>
          </a:p>
          <a:p>
            <a:pPr>
              <a:spcAft>
                <a:spcPts val="1000"/>
              </a:spcAft>
            </a:pPr>
            <a:r>
              <a:rPr sz="1800" b="0">
                <a:solidFill>
                  <a:srgbClr val="161B26"/>
                </a:solidFill>
                <a:latin typeface="Arial"/>
              </a:rPr>
              <a:t>•  Preconfigured Docker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Beanstalk – Health Monitoring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84489"/>
            <a:ext cx="10479024" cy="28034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5_0.png"/>
          <p:cNvPicPr>
            <a:picLocks noChangeAspect="1"/>
          </p:cNvPicPr>
          <p:nvPr/>
        </p:nvPicPr>
        <p:blipFill>
          <a:blip r:embed="rId2"/>
          <a:stretch>
            <a:fillRect/>
          </a:stretch>
        </p:blipFill>
        <p:spPr>
          <a:xfrm>
            <a:off x="868680" y="2511921"/>
            <a:ext cx="10424160" cy="274855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Health agent pushes metrics to CloudWatch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CodeDeploy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42009" y="1801368"/>
            <a:ext cx="36775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6_0.png"/>
          <p:cNvPicPr>
            <a:picLocks noChangeAspect="1"/>
          </p:cNvPicPr>
          <p:nvPr/>
        </p:nvPicPr>
        <p:blipFill>
          <a:blip r:embed="rId2"/>
          <a:stretch>
            <a:fillRect/>
          </a:stretch>
        </p:blipFill>
        <p:spPr>
          <a:xfrm>
            <a:off x="4269441" y="1828800"/>
            <a:ext cx="362263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want to deploy our application automatically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CodeCommit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86969" y="1801368"/>
            <a:ext cx="698758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7_0.png"/>
          <p:cNvPicPr>
            <a:picLocks noChangeAspect="1"/>
          </p:cNvPicPr>
          <p:nvPr/>
        </p:nvPicPr>
        <p:blipFill>
          <a:blip r:embed="rId2"/>
          <a:stretch>
            <a:fillRect/>
          </a:stretch>
        </p:blipFill>
        <p:spPr>
          <a:xfrm>
            <a:off x="2614401" y="1828800"/>
            <a:ext cx="693271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Before pushing the application code to servers, it needs to be stored somewhere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CodeBuild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51569"/>
            <a:ext cx="10479024" cy="206926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8_0.png"/>
          <p:cNvPicPr>
            <a:picLocks noChangeAspect="1"/>
          </p:cNvPicPr>
          <p:nvPr/>
        </p:nvPicPr>
        <p:blipFill>
          <a:blip r:embed="rId2"/>
          <a:stretch>
            <a:fillRect/>
          </a:stretch>
        </p:blipFill>
        <p:spPr>
          <a:xfrm>
            <a:off x="868680" y="2879001"/>
            <a:ext cx="10424160" cy="201439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Code building service in the cloud (name is obvious)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CodePipeline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68473"/>
            <a:ext cx="10479024" cy="263545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69_0.png"/>
          <p:cNvPicPr>
            <a:picLocks noChangeAspect="1"/>
          </p:cNvPicPr>
          <p:nvPr/>
        </p:nvPicPr>
        <p:blipFill>
          <a:blip r:embed="rId2"/>
          <a:stretch>
            <a:fillRect/>
          </a:stretch>
        </p:blipFill>
        <p:spPr>
          <a:xfrm>
            <a:off x="868680" y="2595905"/>
            <a:ext cx="10424160" cy="258059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Orchestrate the different steps to have the code automatically pushed to production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CodeArtifact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Software packages depend on each other to be built (also called code dependencies), and new ones are created</a:t>
            </a:r>
          </a:p>
          <a:p>
            <a:pPr>
              <a:spcAft>
                <a:spcPts val="1000"/>
              </a:spcAft>
            </a:pPr>
            <a:r>
              <a:rPr sz="2000" b="0">
                <a:solidFill>
                  <a:srgbClr val="161B26"/>
                </a:solidFill>
                <a:latin typeface="Arial"/>
              </a:rPr>
              <a:t>•  Storing and retrieving these dependencies is called artifact management</a:t>
            </a:r>
          </a:p>
          <a:p>
            <a:pPr>
              <a:spcAft>
                <a:spcPts val="1000"/>
              </a:spcAft>
            </a:pPr>
            <a:r>
              <a:rPr sz="2000" b="0">
                <a:solidFill>
                  <a:srgbClr val="161B26"/>
                </a:solidFill>
                <a:latin typeface="Arial"/>
              </a:rPr>
              <a:t>•  Traditionally you need to setup your own artifact management system</a:t>
            </a:r>
          </a:p>
          <a:p>
            <a:pPr>
              <a:spcAft>
                <a:spcPts val="1000"/>
              </a:spcAft>
            </a:pPr>
            <a:r>
              <a:rPr sz="2000" b="0">
                <a:solidFill>
                  <a:srgbClr val="161B26"/>
                </a:solidFill>
                <a:latin typeface="Arial"/>
              </a:rPr>
              <a:t>•  CodeArtifact is a secure, scalable, and cost-effective artifact management for software development</a:t>
            </a:r>
          </a:p>
          <a:p>
            <a:pPr>
              <a:spcAft>
                <a:spcPts val="1000"/>
              </a:spcAft>
            </a:pPr>
            <a:r>
              <a:rPr sz="2000" b="0">
                <a:solidFill>
                  <a:srgbClr val="161B26"/>
                </a:solidFill>
                <a:latin typeface="Arial"/>
              </a:rPr>
              <a:t>•  Works with common dependency management tools such as Maven, Gradle, npm, yarn, twine, pip, and NuGet</a:t>
            </a:r>
          </a:p>
          <a:p>
            <a:pPr>
              <a:spcAft>
                <a:spcPts val="1000"/>
              </a:spcAft>
            </a:pPr>
            <a:r>
              <a:rPr sz="2000" b="0">
                <a:solidFill>
                  <a:srgbClr val="161B26"/>
                </a:solidFill>
                <a:latin typeface="Arial"/>
              </a:rPr>
              <a:t>•  Developers and CodeBuild can then retrieve dependencies straight from CodeArtifact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CodeStar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133067" y="1801368"/>
            <a:ext cx="78953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71_0.png"/>
          <p:cNvPicPr>
            <a:picLocks noChangeAspect="1"/>
          </p:cNvPicPr>
          <p:nvPr/>
        </p:nvPicPr>
        <p:blipFill>
          <a:blip r:embed="rId2"/>
          <a:stretch>
            <a:fillRect/>
          </a:stretch>
        </p:blipFill>
        <p:spPr>
          <a:xfrm>
            <a:off x="2160499" y="1828800"/>
            <a:ext cx="784052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Unified UI to easily manage software development activities in one place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Cloud9</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17604" y="1801368"/>
            <a:ext cx="492631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72_0.png"/>
          <p:cNvPicPr>
            <a:picLocks noChangeAspect="1"/>
          </p:cNvPicPr>
          <p:nvPr/>
        </p:nvPicPr>
        <p:blipFill>
          <a:blip r:embed="rId2"/>
          <a:stretch>
            <a:fillRect/>
          </a:stretch>
        </p:blipFill>
        <p:spPr>
          <a:xfrm>
            <a:off x="3645036" y="1828800"/>
            <a:ext cx="487144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AWS Cloud9 is a cloud IDE (Integrated Development Environment) for writing, running and debugging code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Systems Manager (SSM)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you manage your EC2 and On-Premises systems at scale</a:t>
            </a:r>
          </a:p>
          <a:p>
            <a:pPr>
              <a:spcAft>
                <a:spcPts val="1000"/>
              </a:spcAft>
            </a:pPr>
            <a:r>
              <a:rPr sz="1800" b="0">
                <a:solidFill>
                  <a:srgbClr val="161B26"/>
                </a:solidFill>
                <a:latin typeface="Arial"/>
              </a:rPr>
              <a:t>•  Another Hybrid AWS service</a:t>
            </a:r>
          </a:p>
          <a:p>
            <a:pPr>
              <a:spcAft>
                <a:spcPts val="1000"/>
              </a:spcAft>
            </a:pPr>
            <a:r>
              <a:rPr sz="1800" b="0">
                <a:solidFill>
                  <a:srgbClr val="161B26"/>
                </a:solidFill>
                <a:latin typeface="Arial"/>
              </a:rPr>
              <a:t>•  Get operational insights about the state of your infrastructure</a:t>
            </a:r>
          </a:p>
          <a:p>
            <a:pPr>
              <a:spcAft>
                <a:spcPts val="1000"/>
              </a:spcAft>
            </a:pPr>
            <a:r>
              <a:rPr sz="1800" b="0">
                <a:solidFill>
                  <a:srgbClr val="161B26"/>
                </a:solidFill>
                <a:latin typeface="Arial"/>
              </a:rPr>
              <a:t>•  Suite of 10+ products</a:t>
            </a:r>
          </a:p>
          <a:p>
            <a:pPr>
              <a:spcAft>
                <a:spcPts val="1000"/>
              </a:spcAft>
            </a:pPr>
            <a:r>
              <a:rPr sz="1800" b="0">
                <a:solidFill>
                  <a:srgbClr val="161B26"/>
                </a:solidFill>
                <a:latin typeface="Arial"/>
              </a:rPr>
              <a:t>•  Most important features are:</a:t>
            </a:r>
          </a:p>
          <a:p>
            <a:pPr>
              <a:spcAft>
                <a:spcPts val="1000"/>
              </a:spcAft>
            </a:pPr>
            <a:r>
              <a:rPr sz="1800" b="0">
                <a:solidFill>
                  <a:srgbClr val="161B26"/>
                </a:solidFill>
                <a:latin typeface="Arial"/>
              </a:rPr>
              <a:t>•  Patching automation for enhanced compliance</a:t>
            </a:r>
          </a:p>
          <a:p>
            <a:pPr>
              <a:spcAft>
                <a:spcPts val="1000"/>
              </a:spcAft>
            </a:pPr>
            <a:r>
              <a:rPr sz="1800" b="0">
                <a:solidFill>
                  <a:srgbClr val="161B26"/>
                </a:solidFill>
                <a:latin typeface="Arial"/>
              </a:rPr>
              <a:t>•  Run commands across an entire fleet of servers</a:t>
            </a:r>
          </a:p>
          <a:p>
            <a:pPr>
              <a:spcAft>
                <a:spcPts val="1000"/>
              </a:spcAft>
            </a:pPr>
            <a:r>
              <a:rPr sz="1800" b="0">
                <a:solidFill>
                  <a:srgbClr val="161B26"/>
                </a:solidFill>
                <a:latin typeface="Arial"/>
              </a:rPr>
              <a:t>•  Store parameter configuration with the SSM Parameter Store</a:t>
            </a:r>
          </a:p>
          <a:p>
            <a:pPr>
              <a:spcAft>
                <a:spcPts val="1000"/>
              </a:spcAft>
            </a:pPr>
            <a:r>
              <a:rPr sz="1800" b="0">
                <a:solidFill>
                  <a:srgbClr val="161B26"/>
                </a:solidFill>
                <a:latin typeface="Arial"/>
              </a:rPr>
              <a:t>•  Works for Linux, Windows, MacOS, and Raspberry Pi OS (Raspbian)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How Systems Manager works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539650" y="1801368"/>
            <a:ext cx="508222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74_0.png"/>
          <p:cNvPicPr>
            <a:picLocks noChangeAspect="1"/>
          </p:cNvPicPr>
          <p:nvPr/>
        </p:nvPicPr>
        <p:blipFill>
          <a:blip r:embed="rId2"/>
          <a:stretch>
            <a:fillRect/>
          </a:stretch>
        </p:blipFill>
        <p:spPr>
          <a:xfrm>
            <a:off x="3567082" y="1828800"/>
            <a:ext cx="502735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We need to install the SSM agent onto the systems we control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Systems Manager – SSM Session Manager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07131" y="1801368"/>
            <a:ext cx="25472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75_0.png"/>
          <p:cNvPicPr>
            <a:picLocks noChangeAspect="1"/>
          </p:cNvPicPr>
          <p:nvPr/>
        </p:nvPicPr>
        <p:blipFill>
          <a:blip r:embed="rId2"/>
          <a:stretch>
            <a:fillRect/>
          </a:stretch>
        </p:blipFill>
        <p:spPr>
          <a:xfrm>
            <a:off x="4834563" y="1828800"/>
            <a:ext cx="249239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Allows you to start a secure shell on your EC2 and on-premises servers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Systems Manager Parameter Store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4663" y="1801368"/>
            <a:ext cx="28921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76_0.png"/>
          <p:cNvPicPr>
            <a:picLocks noChangeAspect="1"/>
          </p:cNvPicPr>
          <p:nvPr/>
        </p:nvPicPr>
        <p:blipFill>
          <a:blip r:embed="rId2"/>
          <a:stretch>
            <a:fillRect/>
          </a:stretch>
        </p:blipFill>
        <p:spPr>
          <a:xfrm>
            <a:off x="4662095" y="1828800"/>
            <a:ext cx="283732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Secure storage for configuration and secrets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Deployment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CloudFormation: (AWS only)</a:t>
            </a:r>
          </a:p>
          <a:p>
            <a:pPr>
              <a:spcAft>
                <a:spcPts val="1000"/>
              </a:spcAft>
            </a:pPr>
            <a:r>
              <a:rPr sz="1800" b="0">
                <a:solidFill>
                  <a:srgbClr val="161B26"/>
                </a:solidFill>
                <a:latin typeface="Arial"/>
              </a:rPr>
              <a:t>•  Infrastructure as Code, works with almost all of AWS resources</a:t>
            </a:r>
          </a:p>
          <a:p>
            <a:pPr>
              <a:spcAft>
                <a:spcPts val="1000"/>
              </a:spcAft>
            </a:pPr>
            <a:r>
              <a:rPr sz="1800" b="0">
                <a:solidFill>
                  <a:srgbClr val="161B26"/>
                </a:solidFill>
                <a:latin typeface="Arial"/>
              </a:rPr>
              <a:t>•  Repeat across Regions &amp; Accounts</a:t>
            </a:r>
          </a:p>
          <a:p>
            <a:pPr>
              <a:spcAft>
                <a:spcPts val="1000"/>
              </a:spcAft>
            </a:pPr>
            <a:r>
              <a:rPr sz="1800" b="0">
                <a:solidFill>
                  <a:srgbClr val="161B26"/>
                </a:solidFill>
                <a:latin typeface="Arial"/>
              </a:rPr>
              <a:t>•  Beanstalk: (AWS only)</a:t>
            </a:r>
          </a:p>
          <a:p>
            <a:pPr>
              <a:spcAft>
                <a:spcPts val="1000"/>
              </a:spcAft>
            </a:pPr>
            <a:r>
              <a:rPr sz="1800" b="0">
                <a:solidFill>
                  <a:srgbClr val="161B26"/>
                </a:solidFill>
                <a:latin typeface="Arial"/>
              </a:rPr>
              <a:t>•  Platform as a Service (PaaS), limited to certain programming languages or Docker</a:t>
            </a:r>
          </a:p>
          <a:p>
            <a:pPr>
              <a:spcAft>
                <a:spcPts val="1000"/>
              </a:spcAft>
            </a:pPr>
            <a:r>
              <a:rPr sz="1800" b="0">
                <a:solidFill>
                  <a:srgbClr val="161B26"/>
                </a:solidFill>
                <a:latin typeface="Arial"/>
              </a:rPr>
              <a:t>•  Deploy code consistently with a known architecture: ex, ALB + EC2 + RDS</a:t>
            </a:r>
          </a:p>
          <a:p>
            <a:pPr>
              <a:spcAft>
                <a:spcPts val="1000"/>
              </a:spcAft>
            </a:pPr>
            <a:r>
              <a:rPr sz="1800" b="0">
                <a:solidFill>
                  <a:srgbClr val="161B26"/>
                </a:solidFill>
                <a:latin typeface="Arial"/>
              </a:rPr>
              <a:t>•  CodeDeploy (hybrid): deploy &amp; upgrade any application onto servers</a:t>
            </a:r>
          </a:p>
          <a:p>
            <a:pPr>
              <a:spcAft>
                <a:spcPts val="1000"/>
              </a:spcAft>
            </a:pPr>
            <a:r>
              <a:rPr sz="1800" b="0">
                <a:solidFill>
                  <a:srgbClr val="161B26"/>
                </a:solidFill>
                <a:latin typeface="Arial"/>
              </a:rPr>
              <a:t>•  Systems Manager (hybrid): patch, configure and run commands at scale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Developer Services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CodeCommit: Store code in private git repository (version controlled)</a:t>
            </a:r>
          </a:p>
          <a:p>
            <a:pPr>
              <a:spcAft>
                <a:spcPts val="1000"/>
              </a:spcAft>
            </a:pPr>
            <a:r>
              <a:rPr sz="1800" b="0">
                <a:solidFill>
                  <a:srgbClr val="161B26"/>
                </a:solidFill>
                <a:latin typeface="Arial"/>
              </a:rPr>
              <a:t>•  CodeBuild: Build &amp; test code in AWS</a:t>
            </a:r>
          </a:p>
          <a:p>
            <a:pPr>
              <a:spcAft>
                <a:spcPts val="1000"/>
              </a:spcAft>
            </a:pPr>
            <a:r>
              <a:rPr sz="1800" b="0">
                <a:solidFill>
                  <a:srgbClr val="161B26"/>
                </a:solidFill>
                <a:latin typeface="Arial"/>
              </a:rPr>
              <a:t>•  CodeDeploy: Deploy code onto servers</a:t>
            </a:r>
          </a:p>
          <a:p>
            <a:pPr>
              <a:spcAft>
                <a:spcPts val="1000"/>
              </a:spcAft>
            </a:pPr>
            <a:r>
              <a:rPr sz="1800" b="0">
                <a:solidFill>
                  <a:srgbClr val="161B26"/>
                </a:solidFill>
                <a:latin typeface="Arial"/>
              </a:rPr>
              <a:t>•  CodePipeline: Orchestration of pipeline (from code to build to deploy)</a:t>
            </a:r>
          </a:p>
          <a:p>
            <a:pPr>
              <a:spcAft>
                <a:spcPts val="1000"/>
              </a:spcAft>
            </a:pPr>
            <a:r>
              <a:rPr sz="1800" b="0">
                <a:solidFill>
                  <a:srgbClr val="161B26"/>
                </a:solidFill>
                <a:latin typeface="Arial"/>
              </a:rPr>
              <a:t>•  CodeArtifact: Store software packages / dependencies on AWS</a:t>
            </a:r>
          </a:p>
          <a:p>
            <a:pPr>
              <a:spcAft>
                <a:spcPts val="1000"/>
              </a:spcAft>
            </a:pPr>
            <a:r>
              <a:rPr sz="1800" b="0">
                <a:solidFill>
                  <a:srgbClr val="161B26"/>
                </a:solidFill>
                <a:latin typeface="Arial"/>
              </a:rPr>
              <a:t>•  CodeStar: Unified view for allowing developers to do CICD and code</a:t>
            </a:r>
          </a:p>
          <a:p>
            <a:pPr>
              <a:spcAft>
                <a:spcPts val="1000"/>
              </a:spcAft>
            </a:pPr>
            <a:r>
              <a:rPr sz="1800" b="0">
                <a:solidFill>
                  <a:srgbClr val="161B26"/>
                </a:solidFill>
                <a:latin typeface="Arial"/>
              </a:rPr>
              <a:t>•  Cloud9: Cloud IDE (Integrated Development Environment) with collab</a:t>
            </a:r>
          </a:p>
          <a:p>
            <a:pPr>
              <a:spcAft>
                <a:spcPts val="1000"/>
              </a:spcAft>
            </a:pPr>
            <a:r>
              <a:rPr sz="1800" b="0">
                <a:solidFill>
                  <a:srgbClr val="161B26"/>
                </a:solidFill>
                <a:latin typeface="Arial"/>
              </a:rPr>
              <a:t>•  AWS CDK: Define your cloud infrastructure using a programming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Database and Storage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AMAZON S3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Amazon S3</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Amazon S3 is one of the main building blocks of AWS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It’s advertised as ”infinitely scaling” storage</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Many websites use Amazon S3 as a backbone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Many AWS services use Amazon S3 as an integration as well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Use cases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75221" y="1801368"/>
            <a:ext cx="281107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2_0.png"/>
          <p:cNvPicPr>
            <a:picLocks noChangeAspect="1"/>
          </p:cNvPicPr>
          <p:nvPr/>
        </p:nvPicPr>
        <p:blipFill>
          <a:blip r:embed="rId2"/>
          <a:stretch>
            <a:fillRect/>
          </a:stretch>
        </p:blipFill>
        <p:spPr>
          <a:xfrm>
            <a:off x="4702653" y="1828800"/>
            <a:ext cx="275621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Backup and storage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Buckets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0" y="1801368"/>
            <a:ext cx="411480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3_0.png"/>
          <p:cNvPicPr>
            <a:picLocks noChangeAspect="1"/>
          </p:cNvPicPr>
          <p:nvPr/>
        </p:nvPicPr>
        <p:blipFill>
          <a:blip r:embed="rId2"/>
          <a:stretch>
            <a:fillRect/>
          </a:stretch>
        </p:blipFill>
        <p:spPr>
          <a:xfrm>
            <a:off x="4050792" y="1828800"/>
            <a:ext cx="405993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S3 allows people to store objects (files) in “buckets” (directories)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46527" y="1801368"/>
            <a:ext cx="2268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4_0.png"/>
          <p:cNvPicPr>
            <a:picLocks noChangeAspect="1"/>
          </p:cNvPicPr>
          <p:nvPr/>
        </p:nvPicPr>
        <p:blipFill>
          <a:blip r:embed="rId2"/>
          <a:stretch>
            <a:fillRect/>
          </a:stretch>
        </p:blipFill>
        <p:spPr>
          <a:xfrm>
            <a:off x="4973959" y="1828800"/>
            <a:ext cx="2213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Objects (files) have a Key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Objects (cont.)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46527" y="1801368"/>
            <a:ext cx="226846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4_0.png"/>
          <p:cNvPicPr>
            <a:picLocks noChangeAspect="1"/>
          </p:cNvPicPr>
          <p:nvPr/>
        </p:nvPicPr>
        <p:blipFill>
          <a:blip r:embed="rId2"/>
          <a:stretch>
            <a:fillRect/>
          </a:stretch>
        </p:blipFill>
        <p:spPr>
          <a:xfrm>
            <a:off x="4973959" y="1828800"/>
            <a:ext cx="221360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Object values are the content of the body: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Security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User-Based</a:t>
            </a:r>
          </a:p>
          <a:p>
            <a:pPr>
              <a:spcAft>
                <a:spcPts val="1000"/>
              </a:spcAft>
            </a:pPr>
            <a:r>
              <a:rPr sz="1800" b="0">
                <a:solidFill>
                  <a:srgbClr val="161B26"/>
                </a:solidFill>
                <a:latin typeface="Arial"/>
              </a:rPr>
              <a:t>•  IAM Policies – which API calls should be allowed for a specific user from IAM</a:t>
            </a:r>
          </a:p>
          <a:p>
            <a:pPr>
              <a:spcAft>
                <a:spcPts val="1000"/>
              </a:spcAft>
            </a:pPr>
            <a:r>
              <a:rPr sz="1800" b="0">
                <a:solidFill>
                  <a:srgbClr val="161B26"/>
                </a:solidFill>
                <a:latin typeface="Arial"/>
              </a:rPr>
              <a:t>•  Resource-Based</a:t>
            </a:r>
          </a:p>
          <a:p>
            <a:pPr>
              <a:spcAft>
                <a:spcPts val="1000"/>
              </a:spcAft>
            </a:pPr>
            <a:r>
              <a:rPr sz="1800" b="0">
                <a:solidFill>
                  <a:srgbClr val="161B26"/>
                </a:solidFill>
                <a:latin typeface="Arial"/>
              </a:rPr>
              <a:t>•  Bucket Policies – bucket wide rules from the S3 console - allows cross account</a:t>
            </a:r>
          </a:p>
          <a:p>
            <a:pPr>
              <a:spcAft>
                <a:spcPts val="1000"/>
              </a:spcAft>
            </a:pPr>
            <a:r>
              <a:rPr sz="1800" b="0">
                <a:solidFill>
                  <a:srgbClr val="161B26"/>
                </a:solidFill>
                <a:latin typeface="Arial"/>
              </a:rPr>
              <a:t>•  Object Access Control List (ACL) – finer grain (can be disabled)</a:t>
            </a:r>
          </a:p>
          <a:p>
            <a:pPr>
              <a:spcAft>
                <a:spcPts val="1000"/>
              </a:spcAft>
            </a:pPr>
            <a:r>
              <a:rPr sz="1800" b="0">
                <a:solidFill>
                  <a:srgbClr val="161B26"/>
                </a:solidFill>
                <a:latin typeface="Arial"/>
              </a:rPr>
              <a:t>•  Bucket Access Control List (ACL) – less common (can be disabled)</a:t>
            </a:r>
          </a:p>
          <a:p>
            <a:pPr>
              <a:spcAft>
                <a:spcPts val="1000"/>
              </a:spcAft>
            </a:pPr>
            <a:r>
              <a:rPr sz="1800" b="0">
                <a:solidFill>
                  <a:srgbClr val="161B26"/>
                </a:solidFill>
                <a:latin typeface="Arial"/>
              </a:rPr>
              <a:t>•  Note: an IAM principal can access an S3 object if</a:t>
            </a:r>
          </a:p>
          <a:p>
            <a:pPr>
              <a:spcAft>
                <a:spcPts val="1000"/>
              </a:spcAft>
            </a:pPr>
            <a:r>
              <a:rPr sz="1800" b="0">
                <a:solidFill>
                  <a:srgbClr val="161B26"/>
                </a:solidFill>
                <a:latin typeface="Arial"/>
              </a:rPr>
              <a:t>•  The user IAM permissions ALLOW it OR the resource policy ALLOWS it</a:t>
            </a:r>
          </a:p>
          <a:p>
            <a:pPr>
              <a:spcAft>
                <a:spcPts val="1000"/>
              </a:spcAft>
            </a:pPr>
            <a:r>
              <a:rPr sz="1800" b="0">
                <a:solidFill>
                  <a:srgbClr val="161B26"/>
                </a:solidFill>
                <a:latin typeface="Arial"/>
              </a:rPr>
              <a:t>•  AND there’s no explicit DENY</a:t>
            </a:r>
          </a:p>
          <a:p>
            <a:pPr>
              <a:spcAft>
                <a:spcPts val="1000"/>
              </a:spcAft>
            </a:pPr>
            <a:r>
              <a:rPr sz="1800" b="0">
                <a:solidFill>
                  <a:srgbClr val="161B26"/>
                </a:solidFill>
                <a:latin typeface="Arial"/>
              </a:rPr>
              <a:t>•  Encryption: encrypt objects in Amazon S3 using encryption keys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Bucket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13705" y="1801368"/>
            <a:ext cx="49341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7_0.png"/>
          <p:cNvPicPr>
            <a:picLocks noChangeAspect="1"/>
          </p:cNvPicPr>
          <p:nvPr/>
        </p:nvPicPr>
        <p:blipFill>
          <a:blip r:embed="rId2"/>
          <a:stretch>
            <a:fillRect/>
          </a:stretch>
        </p:blipFill>
        <p:spPr>
          <a:xfrm>
            <a:off x="3641137" y="1828800"/>
            <a:ext cx="48792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JSON based policies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Public Access - Use Bucket Policy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8_0.png"/>
          <p:cNvPicPr>
            <a:picLocks noChangeAspect="1"/>
          </p:cNvPicPr>
          <p:nvPr/>
        </p:nvPicPr>
        <p:blipFill>
          <a:blip r:embed="rId2"/>
          <a:stretch>
            <a:fillRect/>
          </a:stretch>
        </p:blipFill>
        <p:spPr>
          <a:xfrm>
            <a:off x="868680" y="1987302"/>
            <a:ext cx="10424160" cy="416355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User Access to S3 – IAM permissions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26079"/>
            <a:ext cx="10479024" cy="36860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89_0.png"/>
          <p:cNvPicPr>
            <a:picLocks noChangeAspect="1"/>
          </p:cNvPicPr>
          <p:nvPr/>
        </p:nvPicPr>
        <p:blipFill>
          <a:blip r:embed="rId2"/>
          <a:stretch>
            <a:fillRect/>
          </a:stretch>
        </p:blipFill>
        <p:spPr>
          <a:xfrm>
            <a:off x="868680" y="2253511"/>
            <a:ext cx="10424160" cy="3631138"/>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Example: EC2 instance access - Use IAM Roles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17675"/>
            <a:ext cx="10479024" cy="370281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90_0.png"/>
          <p:cNvPicPr>
            <a:picLocks noChangeAspect="1"/>
          </p:cNvPicPr>
          <p:nvPr/>
        </p:nvPicPr>
        <p:blipFill>
          <a:blip r:embed="rId2"/>
          <a:stretch>
            <a:fillRect/>
          </a:stretch>
        </p:blipFill>
        <p:spPr>
          <a:xfrm>
            <a:off x="868680" y="2245107"/>
            <a:ext cx="10424160" cy="364794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Advanced: Cross-Account Access –</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70712"/>
            <a:ext cx="10479024" cy="32309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91_0.png"/>
          <p:cNvPicPr>
            <a:picLocks noChangeAspect="1"/>
          </p:cNvPicPr>
          <p:nvPr/>
        </p:nvPicPr>
        <p:blipFill>
          <a:blip r:embed="rId2"/>
          <a:stretch>
            <a:fillRect/>
          </a:stretch>
        </p:blipFill>
        <p:spPr>
          <a:xfrm>
            <a:off x="868680" y="2298144"/>
            <a:ext cx="10424160" cy="317611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Bucket Policy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Bucket settings for Block Public Access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58342"/>
            <a:ext cx="10479024" cy="36557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92_0.png"/>
          <p:cNvPicPr>
            <a:picLocks noChangeAspect="1"/>
          </p:cNvPicPr>
          <p:nvPr/>
        </p:nvPicPr>
        <p:blipFill>
          <a:blip r:embed="rId2"/>
          <a:stretch>
            <a:fillRect/>
          </a:stretch>
        </p:blipFill>
        <p:spPr>
          <a:xfrm>
            <a:off x="868680" y="2085774"/>
            <a:ext cx="10424160" cy="360085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These settings were created to prevent company data leaks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Static Website Hosting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S3 can host static websites and have them accessible on the Internet</a:t>
            </a:r>
          </a:p>
          <a:p>
            <a:pPr>
              <a:spcAft>
                <a:spcPts val="1000"/>
              </a:spcAft>
            </a:pPr>
            <a:r>
              <a:rPr sz="2000" b="0">
                <a:solidFill>
                  <a:srgbClr val="161B26"/>
                </a:solidFill>
                <a:latin typeface="Arial"/>
              </a:rPr>
              <a:t>•  The website URL will be (depending on the region) http://bucket-name.s3-website-aws-region.amazonaws.com OR http://bucket-name.s3-website.aws-region.amazonaws.com</a:t>
            </a:r>
          </a:p>
          <a:p>
            <a:pPr>
              <a:spcAft>
                <a:spcPts val="1000"/>
              </a:spcAft>
            </a:pPr>
            <a:r>
              <a:rPr sz="2000" b="0">
                <a:solidFill>
                  <a:srgbClr val="161B26"/>
                </a:solidFill>
                <a:latin typeface="Arial"/>
              </a:rPr>
              <a:t>•  If you get a 403 Forbidden error, make sure the bucket policy allows public reads!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Versioning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850478" y="1801368"/>
            <a:ext cx="246056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94_0.png"/>
          <p:cNvPicPr>
            <a:picLocks noChangeAspect="1"/>
          </p:cNvPicPr>
          <p:nvPr/>
        </p:nvPicPr>
        <p:blipFill>
          <a:blip r:embed="rId2"/>
          <a:stretch>
            <a:fillRect/>
          </a:stretch>
        </p:blipFill>
        <p:spPr>
          <a:xfrm>
            <a:off x="4877910" y="1828800"/>
            <a:ext cx="240570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You can version your files in Amazon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Replication (CRR &amp; SRR)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0111" y="1801368"/>
            <a:ext cx="340129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195_0.png"/>
          <p:cNvPicPr>
            <a:picLocks noChangeAspect="1"/>
          </p:cNvPicPr>
          <p:nvPr/>
        </p:nvPicPr>
        <p:blipFill>
          <a:blip r:embed="rId2"/>
          <a:stretch>
            <a:fillRect/>
          </a:stretch>
        </p:blipFill>
        <p:spPr>
          <a:xfrm>
            <a:off x="4407543" y="1828800"/>
            <a:ext cx="334643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Must enable Versioning in source and destination buckets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Amazon S3 Standard - General Purpose</a:t>
            </a:r>
          </a:p>
          <a:p>
            <a:pPr>
              <a:spcAft>
                <a:spcPts val="1000"/>
              </a:spcAft>
            </a:pPr>
            <a:r>
              <a:rPr sz="1800" b="0">
                <a:solidFill>
                  <a:srgbClr val="161B26"/>
                </a:solidFill>
                <a:latin typeface="Arial"/>
              </a:rPr>
              <a:t>•  Amazon S3 Standard-Infrequent Access (IA)</a:t>
            </a:r>
          </a:p>
          <a:p>
            <a:pPr>
              <a:spcAft>
                <a:spcPts val="1000"/>
              </a:spcAft>
            </a:pPr>
            <a:r>
              <a:rPr sz="1800" b="0">
                <a:solidFill>
                  <a:srgbClr val="161B26"/>
                </a:solidFill>
                <a:latin typeface="Arial"/>
              </a:rPr>
              <a:t>•  Amazon S3 One Zone-Infrequent Access</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Amazon S3 Glacier Flexible Retrieval</a:t>
            </a:r>
          </a:p>
          <a:p>
            <a:pPr>
              <a:spcAft>
                <a:spcPts val="1000"/>
              </a:spcAft>
            </a:pPr>
            <a:r>
              <a:rPr sz="1800" b="0">
                <a:solidFill>
                  <a:srgbClr val="161B26"/>
                </a:solidFill>
                <a:latin typeface="Arial"/>
              </a:rPr>
              <a:t>•  Amazon S3 Glacier Deep Archive</a:t>
            </a:r>
          </a:p>
          <a:p>
            <a:pPr>
              <a:spcAft>
                <a:spcPts val="1000"/>
              </a:spcAft>
            </a:pPr>
            <a:r>
              <a:rPr sz="1800" b="0">
                <a:solidFill>
                  <a:srgbClr val="161B26"/>
                </a:solidFill>
                <a:latin typeface="Arial"/>
              </a:rPr>
              <a:t>•  Amazon S3 Intelligent Tiering</a:t>
            </a:r>
          </a:p>
          <a:p>
            <a:pPr>
              <a:spcAft>
                <a:spcPts val="1000"/>
              </a:spcAft>
            </a:pPr>
            <a:r>
              <a:rPr sz="1800" b="0">
                <a:solidFill>
                  <a:srgbClr val="161B26"/>
                </a:solidFill>
                <a:latin typeface="Arial"/>
              </a:rPr>
              <a:t>•  Can move between classes manually or using S3 Lifecycle configurations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Durability and Availability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Durability:</a:t>
            </a:r>
          </a:p>
          <a:p>
            <a:pPr>
              <a:spcAft>
                <a:spcPts val="1000"/>
              </a:spcAft>
            </a:pPr>
            <a:r>
              <a:rPr sz="1800" b="0">
                <a:solidFill>
                  <a:srgbClr val="161B26"/>
                </a:solidFill>
                <a:latin typeface="Arial"/>
              </a:rPr>
              <a:t>•  High durability (99.999999999%, 11 9’s) of objects across multiple AZ</a:t>
            </a:r>
          </a:p>
          <a:p>
            <a:pPr>
              <a:spcAft>
                <a:spcPts val="1000"/>
              </a:spcAft>
            </a:pPr>
            <a:r>
              <a:rPr sz="1800" b="0">
                <a:solidFill>
                  <a:srgbClr val="161B26"/>
                </a:solidFill>
                <a:latin typeface="Arial"/>
              </a:rPr>
              <a:t>•  If you store 10,000,000 objects with Amazon S3, you can on average expect to incur a loss of a single object once every 10,000 years</a:t>
            </a:r>
          </a:p>
          <a:p>
            <a:pPr>
              <a:spcAft>
                <a:spcPts val="1000"/>
              </a:spcAft>
            </a:pPr>
            <a:r>
              <a:rPr sz="1800" b="0">
                <a:solidFill>
                  <a:srgbClr val="161B26"/>
                </a:solidFill>
                <a:latin typeface="Arial"/>
              </a:rPr>
              <a:t>•  Same for all storage classes</a:t>
            </a:r>
          </a:p>
          <a:p>
            <a:pPr>
              <a:spcAft>
                <a:spcPts val="1000"/>
              </a:spcAft>
            </a:pPr>
            <a:r>
              <a:rPr sz="1800" b="0">
                <a:solidFill>
                  <a:srgbClr val="161B26"/>
                </a:solidFill>
                <a:latin typeface="Arial"/>
              </a:rPr>
              <a:t>•  Availability:</a:t>
            </a:r>
          </a:p>
          <a:p>
            <a:pPr>
              <a:spcAft>
                <a:spcPts val="1000"/>
              </a:spcAft>
            </a:pPr>
            <a:r>
              <a:rPr sz="1800" b="0">
                <a:solidFill>
                  <a:srgbClr val="161B26"/>
                </a:solidFill>
                <a:latin typeface="Arial"/>
              </a:rPr>
              <a:t>•  Measures how readily available a service is</a:t>
            </a:r>
          </a:p>
          <a:p>
            <a:pPr>
              <a:spcAft>
                <a:spcPts val="1000"/>
              </a:spcAft>
            </a:pPr>
            <a:r>
              <a:rPr sz="1800" b="0">
                <a:solidFill>
                  <a:srgbClr val="161B26"/>
                </a:solidFill>
                <a:latin typeface="Arial"/>
              </a:rPr>
              <a:t>•  Varies depending on storage class</a:t>
            </a:r>
          </a:p>
          <a:p>
            <a:pPr>
              <a:spcAft>
                <a:spcPts val="1000"/>
              </a:spcAft>
            </a:pPr>
            <a:r>
              <a:rPr sz="1800" b="0">
                <a:solidFill>
                  <a:srgbClr val="161B26"/>
                </a:solidFill>
                <a:latin typeface="Arial"/>
              </a:rPr>
              <a:t>•  Example: S3 standard has 99.99% availability = not available 53 minutes a year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Standard – General Purpose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99.99% Availability</a:t>
            </a:r>
          </a:p>
          <a:p>
            <a:pPr>
              <a:spcAft>
                <a:spcPts val="1000"/>
              </a:spcAft>
            </a:pPr>
            <a:r>
              <a:rPr sz="2000" b="0">
                <a:solidFill>
                  <a:srgbClr val="161B26"/>
                </a:solidFill>
                <a:latin typeface="Arial"/>
              </a:rPr>
              <a:t>•  Used for frequently accessed data</a:t>
            </a:r>
          </a:p>
          <a:p>
            <a:pPr>
              <a:spcAft>
                <a:spcPts val="1000"/>
              </a:spcAft>
            </a:pPr>
            <a:r>
              <a:rPr sz="2000" b="0">
                <a:solidFill>
                  <a:srgbClr val="161B26"/>
                </a:solidFill>
                <a:latin typeface="Arial"/>
              </a:rPr>
              <a:t>•  Low latency and high throughput</a:t>
            </a:r>
          </a:p>
          <a:p>
            <a:pPr>
              <a:spcAft>
                <a:spcPts val="1000"/>
              </a:spcAft>
            </a:pPr>
            <a:r>
              <a:rPr sz="2000" b="0">
                <a:solidFill>
                  <a:srgbClr val="161B26"/>
                </a:solidFill>
                <a:latin typeface="Arial"/>
              </a:rPr>
              <a:t>•  Sustain 2 concurrent facility failures</a:t>
            </a:r>
          </a:p>
          <a:p>
            <a:pPr>
              <a:spcAft>
                <a:spcPts val="1000"/>
              </a:spcAft>
            </a:pPr>
            <a:r>
              <a:rPr sz="2000" b="0">
                <a:solidFill>
                  <a:srgbClr val="161B26"/>
                </a:solidFill>
                <a:latin typeface="Arial"/>
              </a:rPr>
              <a:t>•  Use Cases: Big Data analytics, mobile &amp; gaming applications, content distribution…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Infrequent Access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data that is less frequently accessed, but requires rapid access when needed</a:t>
            </a:r>
          </a:p>
          <a:p>
            <a:pPr>
              <a:spcAft>
                <a:spcPts val="1000"/>
              </a:spcAft>
            </a:pPr>
            <a:r>
              <a:rPr sz="1800" b="0">
                <a:solidFill>
                  <a:srgbClr val="161B26"/>
                </a:solidFill>
                <a:latin typeface="Arial"/>
              </a:rPr>
              <a:t>•  Lower cost than S3 Standard</a:t>
            </a:r>
          </a:p>
          <a:p>
            <a:pPr>
              <a:spcAft>
                <a:spcPts val="1000"/>
              </a:spcAft>
            </a:pPr>
            <a:r>
              <a:rPr sz="1800" b="0">
                <a:solidFill>
                  <a:srgbClr val="161B26"/>
                </a:solidFill>
                <a:latin typeface="Arial"/>
              </a:rPr>
              <a:t>•  Amazon S3 Standard-Infrequent Access (S3 Standard-IA)</a:t>
            </a:r>
          </a:p>
          <a:p>
            <a:pPr>
              <a:spcAft>
                <a:spcPts val="1000"/>
              </a:spcAft>
            </a:pPr>
            <a:r>
              <a:rPr sz="1800" b="0">
                <a:solidFill>
                  <a:srgbClr val="161B26"/>
                </a:solidFill>
                <a:latin typeface="Arial"/>
              </a:rPr>
              <a:t>•  99.9% Availability</a:t>
            </a:r>
          </a:p>
          <a:p>
            <a:pPr>
              <a:spcAft>
                <a:spcPts val="1000"/>
              </a:spcAft>
            </a:pPr>
            <a:r>
              <a:rPr sz="1800" b="0">
                <a:solidFill>
                  <a:srgbClr val="161B26"/>
                </a:solidFill>
                <a:latin typeface="Arial"/>
              </a:rPr>
              <a:t>•  Use cases: Disaster Recovery, backups</a:t>
            </a:r>
          </a:p>
          <a:p>
            <a:pPr>
              <a:spcAft>
                <a:spcPts val="1000"/>
              </a:spcAft>
            </a:pPr>
            <a:r>
              <a:rPr sz="1800" b="0">
                <a:solidFill>
                  <a:srgbClr val="161B26"/>
                </a:solidFill>
                <a:latin typeface="Arial"/>
              </a:rPr>
              <a:t>•  Amazon S3 One Zone-Infrequent Access (S3 One Zone-IA)</a:t>
            </a:r>
          </a:p>
          <a:p>
            <a:pPr>
              <a:spcAft>
                <a:spcPts val="1000"/>
              </a:spcAft>
            </a:pPr>
            <a:r>
              <a:rPr sz="1800" b="0">
                <a:solidFill>
                  <a:srgbClr val="161B26"/>
                </a:solidFill>
                <a:latin typeface="Arial"/>
              </a:rPr>
              <a:t>•  High durability (99.999999999%) in a single AZ; data lost when AZ is destroyed</a:t>
            </a:r>
          </a:p>
          <a:p>
            <a:pPr>
              <a:spcAft>
                <a:spcPts val="1000"/>
              </a:spcAft>
            </a:pPr>
            <a:r>
              <a:rPr sz="1800" b="0">
                <a:solidFill>
                  <a:srgbClr val="161B26"/>
                </a:solidFill>
                <a:latin typeface="Arial"/>
              </a:rPr>
              <a:t>•  99.5% Availability</a:t>
            </a:r>
          </a:p>
          <a:p>
            <a:pPr>
              <a:spcAft>
                <a:spcPts val="1000"/>
              </a:spcAft>
            </a:pPr>
            <a:r>
              <a:rPr sz="1800" b="0">
                <a:solidFill>
                  <a:srgbClr val="161B26"/>
                </a:solidFill>
                <a:latin typeface="Arial"/>
              </a:rPr>
              <a:t>•  Use Cases: Storing secondary backup copies of on-premise data, or data you can recreate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Glacier Storage Classes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Low-cost object storage meant for archiving / backup</a:t>
            </a:r>
          </a:p>
          <a:p>
            <a:pPr>
              <a:spcAft>
                <a:spcPts val="1000"/>
              </a:spcAft>
            </a:pPr>
            <a:r>
              <a:rPr sz="1800" b="0">
                <a:solidFill>
                  <a:srgbClr val="161B26"/>
                </a:solidFill>
                <a:latin typeface="Arial"/>
              </a:rPr>
              <a:t>•  Pricing: price for storage + object retrieval cost</a:t>
            </a:r>
          </a:p>
          <a:p>
            <a:pPr>
              <a:spcAft>
                <a:spcPts val="1000"/>
              </a:spcAft>
            </a:pPr>
            <a:r>
              <a:rPr sz="1800" b="0">
                <a:solidFill>
                  <a:srgbClr val="161B26"/>
                </a:solidFill>
                <a:latin typeface="Arial"/>
              </a:rPr>
              <a:t>•  Amazon S3 Glacier Instant Retrieval</a:t>
            </a:r>
          </a:p>
          <a:p>
            <a:pPr>
              <a:spcAft>
                <a:spcPts val="1000"/>
              </a:spcAft>
            </a:pPr>
            <a:r>
              <a:rPr sz="1800" b="0">
                <a:solidFill>
                  <a:srgbClr val="161B26"/>
                </a:solidFill>
                <a:latin typeface="Arial"/>
              </a:rPr>
              <a:t>•  Millisecond retrieval, great for data accessed once a quarter</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Flexible Retrieval (formerly Amazon S3 Glacier):</a:t>
            </a:r>
          </a:p>
          <a:p>
            <a:pPr>
              <a:spcAft>
                <a:spcPts val="1000"/>
              </a:spcAft>
            </a:pPr>
            <a:r>
              <a:rPr sz="1800" b="0">
                <a:solidFill>
                  <a:srgbClr val="161B26"/>
                </a:solidFill>
                <a:latin typeface="Arial"/>
              </a:rPr>
              <a:t>•  Expedited (1 to 5 minutes), Standard (3 to 5 hours), Bulk (5 to 12 hours) – free</a:t>
            </a:r>
          </a:p>
          <a:p>
            <a:pPr>
              <a:spcAft>
                <a:spcPts val="1000"/>
              </a:spcAft>
            </a:pPr>
            <a:r>
              <a:rPr sz="1800" b="0">
                <a:solidFill>
                  <a:srgbClr val="161B26"/>
                </a:solidFill>
                <a:latin typeface="Arial"/>
              </a:rPr>
              <a:t>•  Minimum storage duration of 90 days</a:t>
            </a:r>
          </a:p>
          <a:p>
            <a:pPr>
              <a:spcAft>
                <a:spcPts val="1000"/>
              </a:spcAft>
            </a:pPr>
            <a:r>
              <a:rPr sz="1800" b="0">
                <a:solidFill>
                  <a:srgbClr val="161B26"/>
                </a:solidFill>
                <a:latin typeface="Arial"/>
              </a:rPr>
              <a:t>•  Amazon S3 Glacier Deep Archive – for long term storage:</a:t>
            </a:r>
          </a:p>
          <a:p>
            <a:pPr>
              <a:spcAft>
                <a:spcPts val="1000"/>
              </a:spcAft>
            </a:pPr>
            <a:r>
              <a:rPr sz="1800" b="0">
                <a:solidFill>
                  <a:srgbClr val="161B26"/>
                </a:solidFill>
                <a:latin typeface="Arial"/>
              </a:rPr>
              <a:t>•  Standard (12 hours), Bulk (48 hours)</a:t>
            </a:r>
          </a:p>
          <a:p>
            <a:pPr>
              <a:spcAft>
                <a:spcPts val="1000"/>
              </a:spcAft>
            </a:pPr>
            <a:r>
              <a:rPr sz="1800" b="0">
                <a:solidFill>
                  <a:srgbClr val="161B26"/>
                </a:solidFill>
                <a:latin typeface="Arial"/>
              </a:rPr>
              <a:t>•  Minimum storage duration of 180 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Intelligent-Tiering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Small monthly monitoring and auto-tiering fee</a:t>
            </a:r>
          </a:p>
          <a:p>
            <a:pPr>
              <a:spcAft>
                <a:spcPts val="1000"/>
              </a:spcAft>
            </a:pPr>
            <a:r>
              <a:rPr sz="1800" b="0">
                <a:solidFill>
                  <a:srgbClr val="161B26"/>
                </a:solidFill>
                <a:latin typeface="Arial"/>
              </a:rPr>
              <a:t>•  Moves objects automatically between Access Tiers based on usage</a:t>
            </a:r>
          </a:p>
          <a:p>
            <a:pPr>
              <a:spcAft>
                <a:spcPts val="1000"/>
              </a:spcAft>
            </a:pPr>
            <a:r>
              <a:rPr sz="1800" b="0">
                <a:solidFill>
                  <a:srgbClr val="161B26"/>
                </a:solidFill>
                <a:latin typeface="Arial"/>
              </a:rPr>
              <a:t>•  There are no retrieval charges in S3 Intelligent-Tiering</a:t>
            </a:r>
          </a:p>
          <a:p>
            <a:pPr>
              <a:spcAft>
                <a:spcPts val="1000"/>
              </a:spcAft>
            </a:pPr>
            <a:r>
              <a:rPr sz="1800" b="0">
                <a:solidFill>
                  <a:srgbClr val="161B26"/>
                </a:solidFill>
                <a:latin typeface="Arial"/>
              </a:rPr>
              <a:t>•  Frequent Access tier (automatic): default tier</a:t>
            </a:r>
          </a:p>
          <a:p>
            <a:pPr>
              <a:spcAft>
                <a:spcPts val="1000"/>
              </a:spcAft>
            </a:pPr>
            <a:r>
              <a:rPr sz="1800" b="0">
                <a:solidFill>
                  <a:srgbClr val="161B26"/>
                </a:solidFill>
                <a:latin typeface="Arial"/>
              </a:rPr>
              <a:t>•  Infrequent Access tier (automatic): objects not accessed for 30 days</a:t>
            </a:r>
          </a:p>
          <a:p>
            <a:pPr>
              <a:spcAft>
                <a:spcPts val="1000"/>
              </a:spcAft>
            </a:pPr>
            <a:r>
              <a:rPr sz="1800" b="0">
                <a:solidFill>
                  <a:srgbClr val="161B26"/>
                </a:solidFill>
                <a:latin typeface="Arial"/>
              </a:rPr>
              <a:t>•  Archive Instant Access tier (automatic): objects not accessed for 90 days</a:t>
            </a:r>
          </a:p>
          <a:p>
            <a:pPr>
              <a:spcAft>
                <a:spcPts val="1000"/>
              </a:spcAft>
            </a:pPr>
            <a:r>
              <a:rPr sz="1800" b="0">
                <a:solidFill>
                  <a:srgbClr val="161B26"/>
                </a:solidFill>
                <a:latin typeface="Arial"/>
              </a:rPr>
              <a:t>•  Archive Access tier (optional): configurable from 90 days to 700+ days</a:t>
            </a:r>
          </a:p>
          <a:p>
            <a:pPr>
              <a:spcAft>
                <a:spcPts val="1000"/>
              </a:spcAft>
            </a:pPr>
            <a:r>
              <a:rPr sz="1800" b="0">
                <a:solidFill>
                  <a:srgbClr val="161B26"/>
                </a:solidFill>
                <a:latin typeface="Arial"/>
              </a:rPr>
              <a:t>•  Deep Archive Access tier (optional): config. from 180 days to 700+ 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846" y="1801368"/>
            <a:ext cx="1033182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2_0.png"/>
          <p:cNvPicPr>
            <a:picLocks noChangeAspect="1"/>
          </p:cNvPicPr>
          <p:nvPr/>
        </p:nvPicPr>
        <p:blipFill>
          <a:blip r:embed="rId2"/>
          <a:stretch>
            <a:fillRect/>
          </a:stretch>
        </p:blipFill>
        <p:spPr>
          <a:xfrm>
            <a:off x="942278" y="1828800"/>
            <a:ext cx="10276963"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https://aws.amazon.com/s3/storage-classes/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Storage Classes – Price Comparison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682"/>
            <a:ext cx="10479024" cy="385703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3_0.png"/>
          <p:cNvPicPr>
            <a:picLocks noChangeAspect="1"/>
          </p:cNvPicPr>
          <p:nvPr/>
        </p:nvPicPr>
        <p:blipFill>
          <a:blip r:embed="rId2"/>
          <a:stretch>
            <a:fillRect/>
          </a:stretch>
        </p:blipFill>
        <p:spPr>
          <a:xfrm>
            <a:off x="868680" y="1985114"/>
            <a:ext cx="10424160" cy="380217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Example: us-east-1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Encryption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98827" y="1801368"/>
            <a:ext cx="95638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4_0.png"/>
          <p:cNvPicPr>
            <a:picLocks noChangeAspect="1"/>
          </p:cNvPicPr>
          <p:nvPr/>
        </p:nvPicPr>
        <p:blipFill>
          <a:blip r:embed="rId2"/>
          <a:stretch>
            <a:fillRect/>
          </a:stretch>
        </p:blipFill>
        <p:spPr>
          <a:xfrm>
            <a:off x="1326259" y="1828800"/>
            <a:ext cx="950900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30235"/>
            <a:ext cx="10479024" cy="39119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5_0.png"/>
          <p:cNvPicPr>
            <a:picLocks noChangeAspect="1"/>
          </p:cNvPicPr>
          <p:nvPr/>
        </p:nvPicPr>
        <p:blipFill>
          <a:blip r:embed="rId2"/>
          <a:stretch>
            <a:fillRect/>
          </a:stretch>
        </p:blipFill>
        <p:spPr>
          <a:xfrm>
            <a:off x="868680" y="1957667"/>
            <a:ext cx="10424160" cy="385706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Ensures that only intended people have access to your S3 buckets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for S3</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3562" y="1801368"/>
            <a:ext cx="953439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6_0.png"/>
          <p:cNvPicPr>
            <a:picLocks noChangeAspect="1"/>
          </p:cNvPicPr>
          <p:nvPr/>
        </p:nvPicPr>
        <p:blipFill>
          <a:blip r:embed="rId2"/>
          <a:stretch>
            <a:fillRect/>
          </a:stretch>
        </p:blipFill>
        <p:spPr>
          <a:xfrm>
            <a:off x="1340994" y="1828800"/>
            <a:ext cx="947953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Activity: S3 Hand 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92599" y="1801368"/>
            <a:ext cx="917632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7_0.png"/>
          <p:cNvPicPr>
            <a:picLocks noChangeAspect="1"/>
          </p:cNvPicPr>
          <p:nvPr/>
        </p:nvPicPr>
        <p:blipFill>
          <a:blip r:embed="rId2"/>
          <a:stretch>
            <a:fillRect/>
          </a:stretch>
        </p:blipFill>
        <p:spPr>
          <a:xfrm>
            <a:off x="1520031" y="1828800"/>
            <a:ext cx="912145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435507"/>
            <a:ext cx="10479024" cy="29013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8_0.png"/>
          <p:cNvPicPr>
            <a:picLocks noChangeAspect="1"/>
          </p:cNvPicPr>
          <p:nvPr/>
        </p:nvPicPr>
        <p:blipFill>
          <a:blip r:embed="rId2"/>
          <a:stretch>
            <a:fillRect/>
          </a:stretch>
        </p:blipFill>
        <p:spPr>
          <a:xfrm>
            <a:off x="868680" y="2462939"/>
            <a:ext cx="10424160" cy="28465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Highly-secure, portable devices to collect and process data at the edge, and migrate data into and out of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Migrations with AWS Snow Family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30264" y="1801368"/>
            <a:ext cx="99009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09_0.png"/>
          <p:cNvPicPr>
            <a:picLocks noChangeAspect="1"/>
          </p:cNvPicPr>
          <p:nvPr/>
        </p:nvPicPr>
        <p:blipFill>
          <a:blip r:embed="rId2"/>
          <a:stretch>
            <a:fillRect/>
          </a:stretch>
        </p:blipFill>
        <p:spPr>
          <a:xfrm>
            <a:off x="1157696" y="1828800"/>
            <a:ext cx="984612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Challenges: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Diagrams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70048"/>
            <a:ext cx="10479024" cy="24323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0_0.png"/>
          <p:cNvPicPr>
            <a:picLocks noChangeAspect="1"/>
          </p:cNvPicPr>
          <p:nvPr/>
        </p:nvPicPr>
        <p:blipFill>
          <a:blip r:embed="rId2"/>
          <a:stretch>
            <a:fillRect/>
          </a:stretch>
        </p:blipFill>
        <p:spPr>
          <a:xfrm>
            <a:off x="868680" y="2697480"/>
            <a:ext cx="10424160" cy="237744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Direct upload to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Snowball Edge (for data transfers)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57493" y="1801368"/>
            <a:ext cx="324653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1_0.png"/>
          <p:cNvPicPr>
            <a:picLocks noChangeAspect="1"/>
          </p:cNvPicPr>
          <p:nvPr/>
        </p:nvPicPr>
        <p:blipFill>
          <a:blip r:embed="rId2"/>
          <a:stretch>
            <a:fillRect/>
          </a:stretch>
        </p:blipFill>
        <p:spPr>
          <a:xfrm>
            <a:off x="4484925" y="1828800"/>
            <a:ext cx="319167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Physical data transport solution: move TBs or PBs of data in or out of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Snowcone &amp; Snowcone SSD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301599" y="1801368"/>
            <a:ext cx="755832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2_0.png"/>
          <p:cNvPicPr>
            <a:picLocks noChangeAspect="1"/>
          </p:cNvPicPr>
          <p:nvPr/>
        </p:nvPicPr>
        <p:blipFill>
          <a:blip r:embed="rId2"/>
          <a:stretch>
            <a:fillRect/>
          </a:stretch>
        </p:blipFill>
        <p:spPr>
          <a:xfrm>
            <a:off x="2329031" y="1828800"/>
            <a:ext cx="750345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Small, portable computing, anywhere, rugged &amp; secure, withstands harsh environments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Snowmobile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300043" y="1801368"/>
            <a:ext cx="556143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3_0.png"/>
          <p:cNvPicPr>
            <a:picLocks noChangeAspect="1"/>
          </p:cNvPicPr>
          <p:nvPr/>
        </p:nvPicPr>
        <p:blipFill>
          <a:blip r:embed="rId2"/>
          <a:stretch>
            <a:fillRect/>
          </a:stretch>
        </p:blipFill>
        <p:spPr>
          <a:xfrm>
            <a:off x="3327475" y="1828800"/>
            <a:ext cx="550657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Transfer exabytes of data (1 EB = 1,000 PB = 1,000,000 TBs)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Snow Family for Data Migrations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60616"/>
            <a:ext cx="10479024" cy="44169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4_0.png"/>
          <p:cNvPicPr>
            <a:picLocks noChangeAspect="1"/>
          </p:cNvPicPr>
          <p:nvPr/>
        </p:nvPicPr>
        <p:blipFill>
          <a:blip r:embed="rId2"/>
          <a:stretch>
            <a:fillRect/>
          </a:stretch>
        </p:blipFill>
        <p:spPr>
          <a:xfrm>
            <a:off x="868680" y="1888048"/>
            <a:ext cx="10424160" cy="4362063"/>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Usage Process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Request Snowball devices from the AWS console for delivery</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Install the snowball client / AWS OpsHub on your servers</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Connect the snowball to your servers and copy files using the client</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Ship back the device when you’re done (goes to the right AWS facility)</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0" name="TextBox 29"/>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Data will be loaded into an S3 bucket</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5" name="TextBox 34"/>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Snowball is completely wiped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Move large amount of data from on-premises to AWS</a:t>
            </a:r>
          </a:p>
          <a:p>
            <a:pPr>
              <a:spcAft>
                <a:spcPts val="1000"/>
              </a:spcAft>
            </a:pPr>
            <a:r>
              <a:rPr sz="2000" b="0">
                <a:solidFill>
                  <a:srgbClr val="161B26"/>
                </a:solidFill>
                <a:latin typeface="Arial"/>
              </a:rPr>
              <a:t>•  Can synchronize to: Amazon S3 (any storage classes – including Glacier), Amazon EFS, Amazon FSx for Windows</a:t>
            </a:r>
          </a:p>
          <a:p>
            <a:pPr>
              <a:spcAft>
                <a:spcPts val="1000"/>
              </a:spcAft>
            </a:pPr>
            <a:r>
              <a:rPr sz="2000" b="0">
                <a:solidFill>
                  <a:srgbClr val="161B26"/>
                </a:solidFill>
                <a:latin typeface="Arial"/>
              </a:rPr>
              <a:t>•  Replication tasks can be scheduled hourly, daily, weekly</a:t>
            </a:r>
          </a:p>
          <a:p>
            <a:pPr>
              <a:spcAft>
                <a:spcPts val="1000"/>
              </a:spcAft>
            </a:pPr>
            <a:r>
              <a:rPr sz="2000" b="0">
                <a:solidFill>
                  <a:srgbClr val="161B26"/>
                </a:solidFill>
                <a:latin typeface="Arial"/>
              </a:rPr>
              <a:t>•  The replication tasks are incremental after the first full load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DataSync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7565" y="1801368"/>
            <a:ext cx="980639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7_0.png"/>
          <p:cNvPicPr>
            <a:picLocks noChangeAspect="1"/>
          </p:cNvPicPr>
          <p:nvPr/>
        </p:nvPicPr>
        <p:blipFill>
          <a:blip r:embed="rId2"/>
          <a:stretch>
            <a:fillRect/>
          </a:stretch>
        </p:blipFill>
        <p:spPr>
          <a:xfrm>
            <a:off x="1204997" y="1828800"/>
            <a:ext cx="975152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Migration Hub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73511"/>
            <a:ext cx="10479024" cy="239113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8_0.png"/>
          <p:cNvPicPr>
            <a:picLocks noChangeAspect="1"/>
          </p:cNvPicPr>
          <p:nvPr/>
        </p:nvPicPr>
        <p:blipFill>
          <a:blip r:embed="rId2"/>
          <a:stretch>
            <a:fillRect/>
          </a:stretch>
        </p:blipFill>
        <p:spPr>
          <a:xfrm>
            <a:off x="868680" y="2900943"/>
            <a:ext cx="10424160" cy="2336274"/>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Edge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28378"/>
            <a:ext cx="10479024" cy="191564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19_0.png"/>
          <p:cNvPicPr>
            <a:picLocks noChangeAspect="1"/>
          </p:cNvPicPr>
          <p:nvPr/>
        </p:nvPicPr>
        <p:blipFill>
          <a:blip r:embed="rId2"/>
          <a:stretch>
            <a:fillRect/>
          </a:stretch>
        </p:blipFill>
        <p:spPr>
          <a:xfrm>
            <a:off x="868680" y="2955810"/>
            <a:ext cx="10424160" cy="1860779"/>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Process data while it’s being created on an edge location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 Family – Edge Computing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Snowcone &amp; Snowcone SSD (smaller)</a:t>
            </a:r>
          </a:p>
          <a:p>
            <a:pPr>
              <a:spcAft>
                <a:spcPts val="1000"/>
              </a:spcAft>
            </a:pPr>
            <a:r>
              <a:rPr sz="1800" b="0">
                <a:solidFill>
                  <a:srgbClr val="161B26"/>
                </a:solidFill>
                <a:latin typeface="Arial"/>
              </a:rPr>
              <a:t>•  2 CPUs, 4 GB of memory, wired or wireless access</a:t>
            </a:r>
          </a:p>
          <a:p>
            <a:pPr>
              <a:spcAft>
                <a:spcPts val="1000"/>
              </a:spcAft>
            </a:pPr>
            <a:r>
              <a:rPr sz="1800" b="0">
                <a:solidFill>
                  <a:srgbClr val="161B26"/>
                </a:solidFill>
                <a:latin typeface="Arial"/>
              </a:rPr>
              <a:t>•  USB-C power using a cord or the optional battery</a:t>
            </a:r>
          </a:p>
          <a:p>
            <a:pPr>
              <a:spcAft>
                <a:spcPts val="1000"/>
              </a:spcAft>
            </a:pPr>
            <a:r>
              <a:rPr sz="1800" b="0">
                <a:solidFill>
                  <a:srgbClr val="161B26"/>
                </a:solidFill>
                <a:latin typeface="Arial"/>
              </a:rPr>
              <a:t>•  Snowball Edge – Compute Optimized</a:t>
            </a:r>
          </a:p>
          <a:p>
            <a:pPr>
              <a:spcAft>
                <a:spcPts val="1000"/>
              </a:spcAft>
            </a:pPr>
            <a:r>
              <a:rPr sz="1800" b="0">
                <a:solidFill>
                  <a:srgbClr val="161B26"/>
                </a:solidFill>
                <a:latin typeface="Arial"/>
              </a:rPr>
              <a:t>•  104 vCPUs, 416 GiB of RAM</a:t>
            </a:r>
          </a:p>
          <a:p>
            <a:pPr>
              <a:spcAft>
                <a:spcPts val="1000"/>
              </a:spcAft>
            </a:pPr>
            <a:r>
              <a:rPr sz="1800" b="0">
                <a:solidFill>
                  <a:srgbClr val="161B26"/>
                </a:solidFill>
                <a:latin typeface="Arial"/>
              </a:rPr>
              <a:t>•  Optional GPU (useful for video processing or machine learning)</a:t>
            </a:r>
          </a:p>
          <a:p>
            <a:pPr>
              <a:spcAft>
                <a:spcPts val="1000"/>
              </a:spcAft>
            </a:pPr>
            <a:r>
              <a:rPr sz="1800" b="0">
                <a:solidFill>
                  <a:srgbClr val="161B26"/>
                </a:solidFill>
                <a:latin typeface="Arial"/>
              </a:rPr>
              <a:t>•  28 TB NVMe or 42TB HDD usable storage</a:t>
            </a:r>
          </a:p>
          <a:p>
            <a:pPr>
              <a:spcAft>
                <a:spcPts val="1000"/>
              </a:spcAft>
            </a:pPr>
            <a:r>
              <a:rPr sz="1800" b="0">
                <a:solidFill>
                  <a:srgbClr val="161B26"/>
                </a:solidFill>
                <a:latin typeface="Arial"/>
              </a:rPr>
              <a:t>•  Storage Clustering available (up to 16 nodes)</a:t>
            </a:r>
          </a:p>
          <a:p>
            <a:pPr>
              <a:spcAft>
                <a:spcPts val="1000"/>
              </a:spcAft>
            </a:pPr>
            <a:r>
              <a:rPr sz="1800" b="0">
                <a:solidFill>
                  <a:srgbClr val="161B26"/>
                </a:solidFill>
                <a:latin typeface="Arial"/>
              </a:rPr>
              <a:t>•  Snowball Edge – Storage Optimized</a:t>
            </a:r>
          </a:p>
          <a:p>
            <a:pPr>
              <a:spcAft>
                <a:spcPts val="1000"/>
              </a:spcAft>
            </a:pPr>
            <a:r>
              <a:rPr sz="1800" b="0">
                <a:solidFill>
                  <a:srgbClr val="161B26"/>
                </a:solidFill>
                <a:latin typeface="Arial"/>
              </a:rPr>
              <a:t>•  Up to 40 vCPUs, 80 GiB of RAM, 80 TB storage</a:t>
            </a:r>
          </a:p>
          <a:p>
            <a:pPr>
              <a:spcAft>
                <a:spcPts val="1000"/>
              </a:spcAft>
            </a:pPr>
            <a:r>
              <a:rPr sz="1800" b="0">
                <a:solidFill>
                  <a:srgbClr val="161B26"/>
                </a:solidFill>
                <a:latin typeface="Arial"/>
              </a:rPr>
              <a:t>•  Up to 104 vCPUs, 416 GiB of RAM, 210 TB NVMe storage</a:t>
            </a:r>
          </a:p>
          <a:p>
            <a:pPr>
              <a:spcAft>
                <a:spcPts val="1000"/>
              </a:spcAft>
            </a:pPr>
            <a:r>
              <a:rPr sz="1800" b="0">
                <a:solidFill>
                  <a:srgbClr val="161B26"/>
                </a:solidFill>
                <a:latin typeface="Arial"/>
              </a:rPr>
              <a:t>•  All: Can run EC2 Instances &amp; AWS Lambda functions (using AWS IoT Greengrass)</a:t>
            </a:r>
          </a:p>
          <a:p>
            <a:pPr>
              <a:spcAft>
                <a:spcPts val="1000"/>
              </a:spcAft>
            </a:pPr>
            <a:r>
              <a:rPr sz="1800" b="0">
                <a:solidFill>
                  <a:srgbClr val="161B26"/>
                </a:solidFill>
                <a:latin typeface="Arial"/>
              </a:rPr>
              <a:t>•  Long-term deployment options: 1 and 3 years discounted pricing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OpsHub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05231" y="1801368"/>
            <a:ext cx="435105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21_0.png"/>
          <p:cNvPicPr>
            <a:picLocks noChangeAspect="1"/>
          </p:cNvPicPr>
          <p:nvPr/>
        </p:nvPicPr>
        <p:blipFill>
          <a:blip r:embed="rId2"/>
          <a:stretch>
            <a:fillRect/>
          </a:stretch>
        </p:blipFill>
        <p:spPr>
          <a:xfrm>
            <a:off x="3932663" y="1828800"/>
            <a:ext cx="429619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Historically, to use Snow Family devices, you needed a CLI (Command Line Interface tool)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Snowball Edge Pricing</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You pay for device usage and data transfer out of AWS</a:t>
            </a:r>
          </a:p>
          <a:p>
            <a:pPr>
              <a:spcAft>
                <a:spcPts val="1000"/>
              </a:spcAft>
            </a:pPr>
            <a:r>
              <a:rPr sz="1800" b="0">
                <a:solidFill>
                  <a:srgbClr val="161B26"/>
                </a:solidFill>
                <a:latin typeface="Arial"/>
              </a:rPr>
              <a:t>•  Data transfer IN to Amazon S3 is $0.00 per GB</a:t>
            </a:r>
          </a:p>
          <a:p>
            <a:pPr>
              <a:spcAft>
                <a:spcPts val="1000"/>
              </a:spcAft>
            </a:pPr>
            <a:r>
              <a:rPr sz="1800" b="0">
                <a:solidFill>
                  <a:srgbClr val="161B26"/>
                </a:solidFill>
                <a:latin typeface="Arial"/>
              </a:rPr>
              <a:t>•  On-Demand</a:t>
            </a:r>
          </a:p>
          <a:p>
            <a:pPr>
              <a:spcAft>
                <a:spcPts val="1000"/>
              </a:spcAft>
            </a:pPr>
            <a:r>
              <a:rPr sz="1800" b="0">
                <a:solidFill>
                  <a:srgbClr val="161B26"/>
                </a:solidFill>
                <a:latin typeface="Arial"/>
              </a:rPr>
              <a:t>•  Includes a one-time service fee per job, which includes:</a:t>
            </a:r>
          </a:p>
          <a:p>
            <a:pPr>
              <a:spcAft>
                <a:spcPts val="1000"/>
              </a:spcAft>
            </a:pPr>
            <a:r>
              <a:rPr sz="1800" b="0">
                <a:solidFill>
                  <a:srgbClr val="161B26"/>
                </a:solidFill>
                <a:latin typeface="Arial"/>
              </a:rPr>
              <a:t>•  10 days of usage for Snowball Edge Storage Optimized 80TB</a:t>
            </a:r>
          </a:p>
          <a:p>
            <a:pPr>
              <a:spcAft>
                <a:spcPts val="1000"/>
              </a:spcAft>
            </a:pPr>
            <a:r>
              <a:rPr sz="1800" b="0">
                <a:solidFill>
                  <a:srgbClr val="161B26"/>
                </a:solidFill>
                <a:latin typeface="Arial"/>
              </a:rPr>
              <a:t>•  15 days of usage for Snowball Edge Storage Optimized 210TB</a:t>
            </a:r>
          </a:p>
          <a:p>
            <a:pPr>
              <a:spcAft>
                <a:spcPts val="1000"/>
              </a:spcAft>
            </a:pPr>
            <a:r>
              <a:rPr sz="1800" b="0">
                <a:solidFill>
                  <a:srgbClr val="161B26"/>
                </a:solidFill>
                <a:latin typeface="Arial"/>
              </a:rPr>
              <a:t>•  Shipping days are NOT counted towards the included 10 or 15 days</a:t>
            </a:r>
          </a:p>
          <a:p>
            <a:pPr>
              <a:spcAft>
                <a:spcPts val="1000"/>
              </a:spcAft>
            </a:pPr>
            <a:r>
              <a:rPr sz="1800" b="0">
                <a:solidFill>
                  <a:srgbClr val="161B26"/>
                </a:solidFill>
                <a:latin typeface="Arial"/>
              </a:rPr>
              <a:t>•  Pay per day for any additional days</a:t>
            </a:r>
          </a:p>
          <a:p>
            <a:pPr>
              <a:spcAft>
                <a:spcPts val="1000"/>
              </a:spcAft>
            </a:pPr>
            <a:r>
              <a:rPr sz="1800" b="0">
                <a:solidFill>
                  <a:srgbClr val="161B26"/>
                </a:solidFill>
                <a:latin typeface="Arial"/>
              </a:rPr>
              <a:t>•  Committed Upfront</a:t>
            </a:r>
          </a:p>
          <a:p>
            <a:pPr>
              <a:spcAft>
                <a:spcPts val="1000"/>
              </a:spcAft>
            </a:pPr>
            <a:r>
              <a:rPr sz="1800" b="0">
                <a:solidFill>
                  <a:srgbClr val="161B26"/>
                </a:solidFill>
                <a:latin typeface="Arial"/>
              </a:rPr>
              <a:t>•  Pay in advance for monthly, 1-year, and 3-years of usage (Edge Computing)</a:t>
            </a:r>
          </a:p>
          <a:p>
            <a:pPr>
              <a:spcAft>
                <a:spcPts val="1000"/>
              </a:spcAft>
            </a:pPr>
            <a:r>
              <a:rPr sz="1800" b="0">
                <a:solidFill>
                  <a:srgbClr val="161B26"/>
                </a:solidFill>
                <a:latin typeface="Arial"/>
              </a:rPr>
              <a:t>•  Up to 62% discounted pricing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Hybrid Cloud for Storage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is pushing for ”hybrid cloud”</a:t>
            </a:r>
          </a:p>
          <a:p>
            <a:pPr>
              <a:spcAft>
                <a:spcPts val="1000"/>
              </a:spcAft>
            </a:pPr>
            <a:r>
              <a:rPr sz="1800" b="0">
                <a:solidFill>
                  <a:srgbClr val="161B26"/>
                </a:solidFill>
                <a:latin typeface="Arial"/>
              </a:rPr>
              <a:t>•  Part of your infrastructure is on-premises</a:t>
            </a:r>
          </a:p>
          <a:p>
            <a:pPr>
              <a:spcAft>
                <a:spcPts val="1000"/>
              </a:spcAft>
            </a:pPr>
            <a:r>
              <a:rPr sz="1800" b="0">
                <a:solidFill>
                  <a:srgbClr val="161B26"/>
                </a:solidFill>
                <a:latin typeface="Arial"/>
              </a:rPr>
              <a:t>•  Part of your infrastructure is on the cloud</a:t>
            </a:r>
          </a:p>
          <a:p>
            <a:pPr>
              <a:spcAft>
                <a:spcPts val="1000"/>
              </a:spcAft>
            </a:pPr>
            <a:r>
              <a:rPr sz="1800" b="0">
                <a:solidFill>
                  <a:srgbClr val="161B26"/>
                </a:solidFill>
                <a:latin typeface="Arial"/>
              </a:rPr>
              <a:t>•  This can be due to</a:t>
            </a:r>
          </a:p>
          <a:p>
            <a:pPr>
              <a:spcAft>
                <a:spcPts val="1000"/>
              </a:spcAft>
            </a:pPr>
            <a:r>
              <a:rPr sz="1800" b="0">
                <a:solidFill>
                  <a:srgbClr val="161B26"/>
                </a:solidFill>
                <a:latin typeface="Arial"/>
              </a:rPr>
              <a:t>•  Long cloud migrations</a:t>
            </a:r>
          </a:p>
          <a:p>
            <a:pPr>
              <a:spcAft>
                <a:spcPts val="1000"/>
              </a:spcAft>
            </a:pPr>
            <a:r>
              <a:rPr sz="1800" b="0">
                <a:solidFill>
                  <a:srgbClr val="161B26"/>
                </a:solidFill>
                <a:latin typeface="Arial"/>
              </a:rPr>
              <a:t>•  Security requirements</a:t>
            </a:r>
          </a:p>
          <a:p>
            <a:pPr>
              <a:spcAft>
                <a:spcPts val="1000"/>
              </a:spcAft>
            </a:pPr>
            <a:r>
              <a:rPr sz="1800" b="0">
                <a:solidFill>
                  <a:srgbClr val="161B26"/>
                </a:solidFill>
                <a:latin typeface="Arial"/>
              </a:rPr>
              <a:t>•  Compliance requirements</a:t>
            </a:r>
          </a:p>
          <a:p>
            <a:pPr>
              <a:spcAft>
                <a:spcPts val="1000"/>
              </a:spcAft>
            </a:pPr>
            <a:r>
              <a:rPr sz="1800" b="0">
                <a:solidFill>
                  <a:srgbClr val="161B26"/>
                </a:solidFill>
                <a:latin typeface="Arial"/>
              </a:rPr>
              <a:t>•  IT strategy</a:t>
            </a:r>
          </a:p>
          <a:p>
            <a:pPr>
              <a:spcAft>
                <a:spcPts val="1000"/>
              </a:spcAft>
            </a:pPr>
            <a:r>
              <a:rPr sz="1800" b="0">
                <a:solidFill>
                  <a:srgbClr val="161B26"/>
                </a:solidFill>
                <a:latin typeface="Arial"/>
              </a:rPr>
              <a:t>•  S3 is a proprietary storage technology (unlike EFS / NFS), so how do you expose the S3 data on-premise?</a:t>
            </a:r>
          </a:p>
          <a:p>
            <a:pPr>
              <a:spcAft>
                <a:spcPts val="1000"/>
              </a:spcAft>
            </a:pPr>
            <a:r>
              <a:rPr sz="1800" b="0">
                <a:solidFill>
                  <a:srgbClr val="161B26"/>
                </a:solidFill>
                <a:latin typeface="Arial"/>
              </a:rPr>
              <a:t>•  AWS Storage Gateway!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Cloud Native Options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13178"/>
            <a:ext cx="10479024" cy="271180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24_0.png"/>
          <p:cNvPicPr>
            <a:picLocks noChangeAspect="1"/>
          </p:cNvPicPr>
          <p:nvPr/>
        </p:nvPicPr>
        <p:blipFill>
          <a:blip r:embed="rId2"/>
          <a:stretch>
            <a:fillRect/>
          </a:stretch>
        </p:blipFill>
        <p:spPr>
          <a:xfrm>
            <a:off x="868680" y="2740610"/>
            <a:ext cx="10424160" cy="265693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Storage Gateway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8479" y="1801368"/>
            <a:ext cx="42845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25_0.png"/>
          <p:cNvPicPr>
            <a:picLocks noChangeAspect="1"/>
          </p:cNvPicPr>
          <p:nvPr/>
        </p:nvPicPr>
        <p:blipFill>
          <a:blip r:embed="rId2"/>
          <a:stretch>
            <a:fillRect/>
          </a:stretch>
        </p:blipFill>
        <p:spPr>
          <a:xfrm>
            <a:off x="3965911" y="1828800"/>
            <a:ext cx="422969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Bridge between on-premise data and cloud data in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S3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Buckets vs Objects: global unique name, tied to a region</a:t>
            </a:r>
          </a:p>
          <a:p>
            <a:pPr>
              <a:spcAft>
                <a:spcPts val="1000"/>
              </a:spcAft>
            </a:pPr>
            <a:r>
              <a:rPr sz="1800" b="0">
                <a:solidFill>
                  <a:srgbClr val="161B26"/>
                </a:solidFill>
                <a:latin typeface="Arial"/>
              </a:rPr>
              <a:t>•  S3 security: IAM policy, S3 Bucket Policy (public access), S3 Encryption</a:t>
            </a:r>
          </a:p>
          <a:p>
            <a:pPr>
              <a:spcAft>
                <a:spcPts val="1000"/>
              </a:spcAft>
            </a:pPr>
            <a:r>
              <a:rPr sz="1800" b="0">
                <a:solidFill>
                  <a:srgbClr val="161B26"/>
                </a:solidFill>
                <a:latin typeface="Arial"/>
              </a:rPr>
              <a:t>•  S3 Websites: host a static website on Amazon S3</a:t>
            </a:r>
          </a:p>
          <a:p>
            <a:pPr>
              <a:spcAft>
                <a:spcPts val="1000"/>
              </a:spcAft>
            </a:pPr>
            <a:r>
              <a:rPr sz="1800" b="0">
                <a:solidFill>
                  <a:srgbClr val="161B26"/>
                </a:solidFill>
                <a:latin typeface="Arial"/>
              </a:rPr>
              <a:t>•  S3 Versioning: multiple versions for files, prevent accidental deletes</a:t>
            </a:r>
          </a:p>
          <a:p>
            <a:pPr>
              <a:spcAft>
                <a:spcPts val="1000"/>
              </a:spcAft>
            </a:pPr>
            <a:r>
              <a:rPr sz="1800" b="0">
                <a:solidFill>
                  <a:srgbClr val="161B26"/>
                </a:solidFill>
                <a:latin typeface="Arial"/>
              </a:rPr>
              <a:t>•  S3 Replication: same-region or cross-region, must enable versioning</a:t>
            </a:r>
          </a:p>
          <a:p>
            <a:pPr>
              <a:spcAft>
                <a:spcPts val="1000"/>
              </a:spcAft>
            </a:pPr>
            <a:r>
              <a:rPr sz="1800" b="0">
                <a:solidFill>
                  <a:srgbClr val="161B26"/>
                </a:solidFill>
                <a:latin typeface="Arial"/>
              </a:rPr>
              <a:t>•  S3 Storage Classes: Standard, IA, 1Z-IA, Intelligent, Glacier (Instant, Flexible, Deep)</a:t>
            </a:r>
          </a:p>
          <a:p>
            <a:pPr>
              <a:spcAft>
                <a:spcPts val="1000"/>
              </a:spcAft>
            </a:pPr>
            <a:r>
              <a:rPr sz="1800" b="0">
                <a:solidFill>
                  <a:srgbClr val="161B26"/>
                </a:solidFill>
                <a:latin typeface="Arial"/>
              </a:rPr>
              <a:t>•  Snow Family: import data onto S3 through a physical device, edge computing</a:t>
            </a:r>
          </a:p>
          <a:p>
            <a:pPr>
              <a:spcAft>
                <a:spcPts val="1000"/>
              </a:spcAft>
            </a:pPr>
            <a:r>
              <a:rPr sz="1800" b="0">
                <a:solidFill>
                  <a:srgbClr val="161B26"/>
                </a:solidFill>
                <a:latin typeface="Arial"/>
              </a:rPr>
              <a:t>•  OpsHub: desktop application to manage Snow Family devices</a:t>
            </a:r>
          </a:p>
          <a:p>
            <a:pPr>
              <a:spcAft>
                <a:spcPts val="1000"/>
              </a:spcAft>
            </a:pPr>
            <a:r>
              <a:rPr sz="1800" b="0">
                <a:solidFill>
                  <a:srgbClr val="161B26"/>
                </a:solidFill>
                <a:latin typeface="Arial"/>
              </a:rPr>
              <a:t>•  Storage Gateway: hybrid solution to extend on-premises storage to S3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DATABASE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Database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Intro</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Storing data on disk (EFS, EBS, EC2 Instance Store, S3) can have its limits</a:t>
            </a:r>
          </a:p>
          <a:p>
            <a:pPr>
              <a:spcAft>
                <a:spcPts val="1000"/>
              </a:spcAft>
            </a:pPr>
            <a:r>
              <a:rPr sz="2000" b="0">
                <a:solidFill>
                  <a:srgbClr val="161B26"/>
                </a:solidFill>
                <a:latin typeface="Arial"/>
              </a:rPr>
              <a:t>•  Sometimes, you want to store data in a database…</a:t>
            </a:r>
          </a:p>
          <a:p>
            <a:pPr>
              <a:spcAft>
                <a:spcPts val="1000"/>
              </a:spcAft>
            </a:pPr>
            <a:r>
              <a:rPr sz="2000" b="0">
                <a:solidFill>
                  <a:srgbClr val="161B26"/>
                </a:solidFill>
                <a:latin typeface="Arial"/>
              </a:rPr>
              <a:t>•  You can structure the data</a:t>
            </a:r>
          </a:p>
          <a:p>
            <a:pPr>
              <a:spcAft>
                <a:spcPts val="1000"/>
              </a:spcAft>
            </a:pPr>
            <a:r>
              <a:rPr sz="2000" b="0">
                <a:solidFill>
                  <a:srgbClr val="161B26"/>
                </a:solidFill>
                <a:latin typeface="Arial"/>
              </a:rPr>
              <a:t>•  You build indexes to efficiently query / search through the data</a:t>
            </a:r>
          </a:p>
          <a:p>
            <a:pPr>
              <a:spcAft>
                <a:spcPts val="1000"/>
              </a:spcAft>
            </a:pPr>
            <a:r>
              <a:rPr sz="2000" b="0">
                <a:solidFill>
                  <a:srgbClr val="161B26"/>
                </a:solidFill>
                <a:latin typeface="Arial"/>
              </a:rPr>
              <a:t>•  You define relationships between your datasets</a:t>
            </a:r>
          </a:p>
          <a:p>
            <a:pPr>
              <a:spcAft>
                <a:spcPts val="1000"/>
              </a:spcAft>
            </a:pPr>
            <a:r>
              <a:rPr sz="2000" b="0">
                <a:solidFill>
                  <a:srgbClr val="161B26"/>
                </a:solidFill>
                <a:latin typeface="Arial"/>
              </a:rPr>
              <a:t>•  Databases are optimized for a purpose and come with different features, shapes and constraints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Relational Databases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46756"/>
            <a:ext cx="10479024" cy="36788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29_0.png"/>
          <p:cNvPicPr>
            <a:picLocks noChangeAspect="1"/>
          </p:cNvPicPr>
          <p:nvPr/>
        </p:nvPicPr>
        <p:blipFill>
          <a:blip r:embed="rId2"/>
          <a:stretch>
            <a:fillRect/>
          </a:stretch>
        </p:blipFill>
        <p:spPr>
          <a:xfrm>
            <a:off x="868680" y="2074188"/>
            <a:ext cx="10424160" cy="3624024"/>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Looks just like Excel spreadsheets, with links between them!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NoSQL Databases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NoSQL = non-SQL = non relational databases</a:t>
            </a:r>
          </a:p>
          <a:p>
            <a:pPr>
              <a:spcAft>
                <a:spcPts val="1000"/>
              </a:spcAft>
            </a:pPr>
            <a:r>
              <a:rPr sz="1800" b="0">
                <a:solidFill>
                  <a:srgbClr val="161B26"/>
                </a:solidFill>
                <a:latin typeface="Arial"/>
              </a:rPr>
              <a:t>•  NoSQL databases are purpose built for specific data models and have flexible schemas for building modern applications.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Flexibility: easy to evolve data model</a:t>
            </a:r>
          </a:p>
          <a:p>
            <a:pPr>
              <a:spcAft>
                <a:spcPts val="1000"/>
              </a:spcAft>
            </a:pPr>
            <a:r>
              <a:rPr sz="1800" b="0">
                <a:solidFill>
                  <a:srgbClr val="161B26"/>
                </a:solidFill>
                <a:latin typeface="Arial"/>
              </a:rPr>
              <a:t>•  Scalability: designed to scale-out by using distributed clusters</a:t>
            </a:r>
          </a:p>
          <a:p>
            <a:pPr>
              <a:spcAft>
                <a:spcPts val="1000"/>
              </a:spcAft>
            </a:pPr>
            <a:r>
              <a:rPr sz="1800" b="0">
                <a:solidFill>
                  <a:srgbClr val="161B26"/>
                </a:solidFill>
                <a:latin typeface="Arial"/>
              </a:rPr>
              <a:t>•  High-performance: optimized for a specific data model</a:t>
            </a:r>
          </a:p>
          <a:p>
            <a:pPr>
              <a:spcAft>
                <a:spcPts val="1000"/>
              </a:spcAft>
            </a:pPr>
            <a:r>
              <a:rPr sz="1800" b="0">
                <a:solidFill>
                  <a:srgbClr val="161B26"/>
                </a:solidFill>
                <a:latin typeface="Arial"/>
              </a:rPr>
              <a:t>•  Highly functional: types optimized for the data model</a:t>
            </a:r>
          </a:p>
          <a:p>
            <a:pPr>
              <a:spcAft>
                <a:spcPts val="1000"/>
              </a:spcAft>
            </a:pPr>
            <a:r>
              <a:rPr sz="1800" b="0">
                <a:solidFill>
                  <a:srgbClr val="161B26"/>
                </a:solidFill>
                <a:latin typeface="Arial"/>
              </a:rPr>
              <a:t>•  Examples: Key-value, document, graph, in-memory, search databases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NoSQL data example: JSON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58176" y="1801368"/>
            <a:ext cx="444516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1_0.png"/>
          <p:cNvPicPr>
            <a:picLocks noChangeAspect="1"/>
          </p:cNvPicPr>
          <p:nvPr/>
        </p:nvPicPr>
        <p:blipFill>
          <a:blip r:embed="rId2"/>
          <a:stretch>
            <a:fillRect/>
          </a:stretch>
        </p:blipFill>
        <p:spPr>
          <a:xfrm>
            <a:off x="3885608" y="1828800"/>
            <a:ext cx="439030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JSON = JavaScript Object Notation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&amp; Shared Responsibility on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offers use to manage different databases</a:t>
            </a:r>
          </a:p>
          <a:p>
            <a:pPr>
              <a:spcAft>
                <a:spcPts val="1000"/>
              </a:spcAft>
            </a:pPr>
            <a:r>
              <a:rPr sz="1800" b="0">
                <a:solidFill>
                  <a:srgbClr val="161B26"/>
                </a:solidFill>
                <a:latin typeface="Arial"/>
              </a:rPr>
              <a:t>•  Benefits include:</a:t>
            </a:r>
          </a:p>
          <a:p>
            <a:pPr>
              <a:spcAft>
                <a:spcPts val="1000"/>
              </a:spcAft>
            </a:pPr>
            <a:r>
              <a:rPr sz="1800" b="0">
                <a:solidFill>
                  <a:srgbClr val="161B26"/>
                </a:solidFill>
                <a:latin typeface="Arial"/>
              </a:rPr>
              <a:t>•  Quick Provisioning, High Availability, Vertical and Horizontal Scaling</a:t>
            </a:r>
          </a:p>
          <a:p>
            <a:pPr>
              <a:spcAft>
                <a:spcPts val="1000"/>
              </a:spcAft>
            </a:pPr>
            <a:r>
              <a:rPr sz="1800" b="0">
                <a:solidFill>
                  <a:srgbClr val="161B26"/>
                </a:solidFill>
                <a:latin typeface="Arial"/>
              </a:rPr>
              <a:t>•  Automated Backup &amp; Restore, Operations, Upgrades</a:t>
            </a:r>
          </a:p>
          <a:p>
            <a:pPr>
              <a:spcAft>
                <a:spcPts val="1000"/>
              </a:spcAft>
            </a:pPr>
            <a:r>
              <a:rPr sz="1800" b="0">
                <a:solidFill>
                  <a:srgbClr val="161B26"/>
                </a:solidFill>
                <a:latin typeface="Arial"/>
              </a:rPr>
              <a:t>•  Operating System Patching is handled by AWS</a:t>
            </a:r>
          </a:p>
          <a:p>
            <a:pPr>
              <a:spcAft>
                <a:spcPts val="1000"/>
              </a:spcAft>
            </a:pPr>
            <a:r>
              <a:rPr sz="1800" b="0">
                <a:solidFill>
                  <a:srgbClr val="161B26"/>
                </a:solidFill>
                <a:latin typeface="Arial"/>
              </a:rPr>
              <a:t>•  Monitoring, alerting</a:t>
            </a:r>
          </a:p>
          <a:p>
            <a:pPr>
              <a:spcAft>
                <a:spcPts val="1000"/>
              </a:spcAft>
            </a:pPr>
            <a:r>
              <a:rPr sz="1800" b="0">
                <a:solidFill>
                  <a:srgbClr val="161B26"/>
                </a:solidFill>
                <a:latin typeface="Arial"/>
              </a:rPr>
              <a:t>•  Note: many databases technologies could be run on EC2, but you must handle yourself the resiliency, backup, patching, high availability, fault tolerance, scaling…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RDS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stands for Relational Database Service</a:t>
            </a:r>
          </a:p>
          <a:p>
            <a:pPr>
              <a:spcAft>
                <a:spcPts val="1000"/>
              </a:spcAft>
            </a:pPr>
            <a:r>
              <a:rPr sz="1800" b="0">
                <a:solidFill>
                  <a:srgbClr val="161B26"/>
                </a:solidFill>
                <a:latin typeface="Arial"/>
              </a:rPr>
              <a:t>•  It’s a managed DB service for DB use SQL as a query language.</a:t>
            </a:r>
          </a:p>
          <a:p>
            <a:pPr>
              <a:spcAft>
                <a:spcPts val="1000"/>
              </a:spcAft>
            </a:pPr>
            <a:r>
              <a:rPr sz="1800" b="0">
                <a:solidFill>
                  <a:srgbClr val="161B26"/>
                </a:solidFill>
                <a:latin typeface="Arial"/>
              </a:rPr>
              <a:t>•  It allows you to create databases in the cloud that are managed by AWS</a:t>
            </a:r>
          </a:p>
          <a:p>
            <a:pPr>
              <a:spcAft>
                <a:spcPts val="1000"/>
              </a:spcAft>
            </a:pPr>
            <a:r>
              <a:rPr sz="1800" b="0">
                <a:solidFill>
                  <a:srgbClr val="161B26"/>
                </a:solidFill>
                <a:latin typeface="Arial"/>
              </a:rPr>
              <a:t>•  Postgres</a:t>
            </a:r>
          </a:p>
          <a:p>
            <a:pPr>
              <a:spcAft>
                <a:spcPts val="1000"/>
              </a:spcAft>
            </a:pPr>
            <a:r>
              <a:rPr sz="1800" b="0">
                <a:solidFill>
                  <a:srgbClr val="161B26"/>
                </a:solidFill>
                <a:latin typeface="Arial"/>
              </a:rPr>
              <a:t>•  MySQL</a:t>
            </a:r>
          </a:p>
          <a:p>
            <a:pPr>
              <a:spcAft>
                <a:spcPts val="1000"/>
              </a:spcAft>
            </a:pPr>
            <a:r>
              <a:rPr sz="1800" b="0">
                <a:solidFill>
                  <a:srgbClr val="161B26"/>
                </a:solidFill>
                <a:latin typeface="Arial"/>
              </a:rPr>
              <a:t>•  MariaDB</a:t>
            </a:r>
          </a:p>
          <a:p>
            <a:pPr>
              <a:spcAft>
                <a:spcPts val="1000"/>
              </a:spcAft>
            </a:pPr>
            <a:r>
              <a:rPr sz="1800" b="0">
                <a:solidFill>
                  <a:srgbClr val="161B26"/>
                </a:solidFill>
                <a:latin typeface="Arial"/>
              </a:rPr>
              <a:t>•  Oracle</a:t>
            </a:r>
          </a:p>
          <a:p>
            <a:pPr>
              <a:spcAft>
                <a:spcPts val="1000"/>
              </a:spcAft>
            </a:pPr>
            <a:r>
              <a:rPr sz="1800" b="0">
                <a:solidFill>
                  <a:srgbClr val="161B26"/>
                </a:solidFill>
                <a:latin typeface="Arial"/>
              </a:rPr>
              <a:t>•  Microsoft SQL Server</a:t>
            </a:r>
          </a:p>
          <a:p>
            <a:pPr>
              <a:spcAft>
                <a:spcPts val="1000"/>
              </a:spcAft>
            </a:pPr>
            <a:r>
              <a:rPr sz="1800" b="0">
                <a:solidFill>
                  <a:srgbClr val="161B26"/>
                </a:solidFill>
                <a:latin typeface="Arial"/>
              </a:rPr>
              <a:t>•  IBM DB2</a:t>
            </a:r>
          </a:p>
          <a:p>
            <a:pPr>
              <a:spcAft>
                <a:spcPts val="1000"/>
              </a:spcAft>
            </a:pPr>
            <a:r>
              <a:rPr sz="1800" b="0">
                <a:solidFill>
                  <a:srgbClr val="161B26"/>
                </a:solidFill>
                <a:latin typeface="Arial"/>
              </a:rPr>
              <a:t>•  Aurora (AWS Proprietary database)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Solution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20387" y="1801368"/>
            <a:ext cx="89207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4_0.png"/>
          <p:cNvPicPr>
            <a:picLocks noChangeAspect="1"/>
          </p:cNvPicPr>
          <p:nvPr/>
        </p:nvPicPr>
        <p:blipFill>
          <a:blip r:embed="rId2"/>
          <a:stretch>
            <a:fillRect/>
          </a:stretch>
        </p:blipFill>
        <p:spPr>
          <a:xfrm>
            <a:off x="1647819" y="1828800"/>
            <a:ext cx="886588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Advantage over using RDS versus deploying DB on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RDS is a managed service:</a:t>
            </a:r>
          </a:p>
          <a:p>
            <a:pPr>
              <a:spcAft>
                <a:spcPts val="1000"/>
              </a:spcAft>
            </a:pPr>
            <a:r>
              <a:rPr sz="1800" b="0">
                <a:solidFill>
                  <a:srgbClr val="161B26"/>
                </a:solidFill>
                <a:latin typeface="Arial"/>
              </a:rPr>
              <a:t>•  Automated provisioning, OS patching</a:t>
            </a:r>
          </a:p>
          <a:p>
            <a:pPr>
              <a:spcAft>
                <a:spcPts val="1000"/>
              </a:spcAft>
            </a:pPr>
            <a:r>
              <a:rPr sz="1800" b="0">
                <a:solidFill>
                  <a:srgbClr val="161B26"/>
                </a:solidFill>
                <a:latin typeface="Arial"/>
              </a:rPr>
              <a:t>•  Continuous backups and restore to specific timestamp (Point in Time Restore)!</a:t>
            </a:r>
          </a:p>
          <a:p>
            <a:pPr>
              <a:spcAft>
                <a:spcPts val="1000"/>
              </a:spcAft>
            </a:pPr>
            <a:r>
              <a:rPr sz="1800" b="0">
                <a:solidFill>
                  <a:srgbClr val="161B26"/>
                </a:solidFill>
                <a:latin typeface="Arial"/>
              </a:rPr>
              <a:t>•  Monitoring dashboards</a:t>
            </a:r>
          </a:p>
          <a:p>
            <a:pPr>
              <a:spcAft>
                <a:spcPts val="1000"/>
              </a:spcAft>
            </a:pPr>
            <a:r>
              <a:rPr sz="1800" b="0">
                <a:solidFill>
                  <a:srgbClr val="161B26"/>
                </a:solidFill>
                <a:latin typeface="Arial"/>
              </a:rPr>
              <a:t>•  Read replicas for improved read performance</a:t>
            </a:r>
          </a:p>
          <a:p>
            <a:pPr>
              <a:spcAft>
                <a:spcPts val="1000"/>
              </a:spcAft>
            </a:pPr>
            <a:r>
              <a:rPr sz="1800" b="0">
                <a:solidFill>
                  <a:srgbClr val="161B26"/>
                </a:solidFill>
                <a:latin typeface="Arial"/>
              </a:rPr>
              <a:t>•  Multi AZ setup for DR (Disaster Recovery)</a:t>
            </a:r>
          </a:p>
          <a:p>
            <a:pPr>
              <a:spcAft>
                <a:spcPts val="1000"/>
              </a:spcAft>
            </a:pPr>
            <a:r>
              <a:rPr sz="1800" b="0">
                <a:solidFill>
                  <a:srgbClr val="161B26"/>
                </a:solidFill>
                <a:latin typeface="Arial"/>
              </a:rPr>
              <a:t>•  Maintenance windows for upgrades</a:t>
            </a:r>
          </a:p>
          <a:p>
            <a:pPr>
              <a:spcAft>
                <a:spcPts val="1000"/>
              </a:spcAft>
            </a:pPr>
            <a:r>
              <a:rPr sz="1800" b="0">
                <a:solidFill>
                  <a:srgbClr val="161B26"/>
                </a:solidFill>
                <a:latin typeface="Arial"/>
              </a:rPr>
              <a:t>•  Scaling capability (vertical and horizontal)</a:t>
            </a:r>
          </a:p>
          <a:p>
            <a:pPr>
              <a:spcAft>
                <a:spcPts val="1000"/>
              </a:spcAft>
            </a:pPr>
            <a:r>
              <a:rPr sz="1800" b="0">
                <a:solidFill>
                  <a:srgbClr val="161B26"/>
                </a:solidFill>
                <a:latin typeface="Arial"/>
              </a:rPr>
              <a:t>•  Storage backed by EBS</a:t>
            </a:r>
          </a:p>
          <a:p>
            <a:pPr>
              <a:spcAft>
                <a:spcPts val="1000"/>
              </a:spcAft>
            </a:pPr>
            <a:r>
              <a:rPr sz="1800" b="0">
                <a:solidFill>
                  <a:srgbClr val="161B26"/>
                </a:solidFill>
                <a:latin typeface="Arial"/>
              </a:rPr>
              <a:t>•  BUT you can’t SSH into your instances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38489"/>
            <a:ext cx="10479024" cy="269542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6_0.png"/>
          <p:cNvPicPr>
            <a:picLocks noChangeAspect="1"/>
          </p:cNvPicPr>
          <p:nvPr/>
        </p:nvPicPr>
        <p:blipFill>
          <a:blip r:embed="rId2"/>
          <a:stretch>
            <a:fillRect/>
          </a:stretch>
        </p:blipFill>
        <p:spPr>
          <a:xfrm>
            <a:off x="868680" y="2565921"/>
            <a:ext cx="10424160" cy="264055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Aurora is a proprietary technology from AWS (not open sourced)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Aurora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431587" y="1801368"/>
            <a:ext cx="529834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7_0.png"/>
          <p:cNvPicPr>
            <a:picLocks noChangeAspect="1"/>
          </p:cNvPicPr>
          <p:nvPr/>
        </p:nvPicPr>
        <p:blipFill>
          <a:blip r:embed="rId2"/>
          <a:stretch>
            <a:fillRect/>
          </a:stretch>
        </p:blipFill>
        <p:spPr>
          <a:xfrm>
            <a:off x="3459019" y="1828800"/>
            <a:ext cx="524348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Automated database instantiation and Client auto-scaling based on actual usage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Deployments: Read Replicas, Multi-AZ</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49776" y="1801368"/>
            <a:ext cx="1026196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8_0.png"/>
          <p:cNvPicPr>
            <a:picLocks noChangeAspect="1"/>
          </p:cNvPicPr>
          <p:nvPr/>
        </p:nvPicPr>
        <p:blipFill>
          <a:blip r:embed="rId2"/>
          <a:stretch>
            <a:fillRect/>
          </a:stretch>
        </p:blipFill>
        <p:spPr>
          <a:xfrm>
            <a:off x="977208" y="1828800"/>
            <a:ext cx="10207104"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RDS Deployments: Multi-Region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89207" y="1801368"/>
            <a:ext cx="101831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39_0.png"/>
          <p:cNvPicPr>
            <a:picLocks noChangeAspect="1"/>
          </p:cNvPicPr>
          <p:nvPr/>
        </p:nvPicPr>
        <p:blipFill>
          <a:blip r:embed="rId2"/>
          <a:stretch>
            <a:fillRect/>
          </a:stretch>
        </p:blipFill>
        <p:spPr>
          <a:xfrm>
            <a:off x="1016639" y="1828800"/>
            <a:ext cx="101282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ElastiCache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same way RDS is to get managed Relational Databases…</a:t>
            </a:r>
          </a:p>
          <a:p>
            <a:pPr>
              <a:spcAft>
                <a:spcPts val="1000"/>
              </a:spcAft>
            </a:pPr>
            <a:r>
              <a:rPr sz="2000" b="0">
                <a:solidFill>
                  <a:srgbClr val="161B26"/>
                </a:solidFill>
                <a:latin typeface="Arial"/>
              </a:rPr>
              <a:t>•  ElastiCache is to get managed Redis or Memcached</a:t>
            </a:r>
          </a:p>
          <a:p>
            <a:pPr>
              <a:spcAft>
                <a:spcPts val="1000"/>
              </a:spcAft>
            </a:pPr>
            <a:r>
              <a:rPr sz="2000" b="0">
                <a:solidFill>
                  <a:srgbClr val="161B26"/>
                </a:solidFill>
                <a:latin typeface="Arial"/>
              </a:rPr>
              <a:t>•  Caches are in-memory databases with high performance, low latency</a:t>
            </a:r>
          </a:p>
          <a:p>
            <a:pPr>
              <a:spcAft>
                <a:spcPts val="1000"/>
              </a:spcAft>
            </a:pPr>
            <a:r>
              <a:rPr sz="2000" b="0">
                <a:solidFill>
                  <a:srgbClr val="161B26"/>
                </a:solidFill>
                <a:latin typeface="Arial"/>
              </a:rPr>
              <a:t>•  Helps reduce load off databases for read intensive workloads</a:t>
            </a:r>
          </a:p>
          <a:p>
            <a:pPr>
              <a:spcAft>
                <a:spcPts val="1000"/>
              </a:spcAft>
            </a:pPr>
            <a:r>
              <a:rPr sz="2000" b="0">
                <a:solidFill>
                  <a:srgbClr val="161B26"/>
                </a:solidFill>
                <a:latin typeface="Arial"/>
              </a:rPr>
              <a:t>•  AWS takes care of OS maintenance / patching, optimizations, setup, configuration, monitoring, failure recovery and backups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ElastiCache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73214" y="1801368"/>
            <a:ext cx="841509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1_0.png"/>
          <p:cNvPicPr>
            <a:picLocks noChangeAspect="1"/>
          </p:cNvPicPr>
          <p:nvPr/>
        </p:nvPicPr>
        <p:blipFill>
          <a:blip r:embed="rId2"/>
          <a:stretch>
            <a:fillRect/>
          </a:stretch>
        </p:blipFill>
        <p:spPr>
          <a:xfrm>
            <a:off x="1900646" y="1828800"/>
            <a:ext cx="836022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Solution Architecture - Cache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Fully Managed Highly available with replication across 3 AZ</a:t>
            </a:r>
          </a:p>
          <a:p>
            <a:pPr>
              <a:spcAft>
                <a:spcPts val="1000"/>
              </a:spcAft>
            </a:pPr>
            <a:r>
              <a:rPr sz="1800" b="0">
                <a:solidFill>
                  <a:srgbClr val="161B26"/>
                </a:solidFill>
                <a:latin typeface="Arial"/>
              </a:rPr>
              <a:t>•  NoSQL database - not a relational database</a:t>
            </a:r>
          </a:p>
          <a:p>
            <a:pPr>
              <a:spcAft>
                <a:spcPts val="1000"/>
              </a:spcAft>
            </a:pPr>
            <a:r>
              <a:rPr sz="1800" b="0">
                <a:solidFill>
                  <a:srgbClr val="161B26"/>
                </a:solidFill>
                <a:latin typeface="Arial"/>
              </a:rPr>
              <a:t>•  Scales to massive workloads, distributed “serverless” database</a:t>
            </a:r>
          </a:p>
          <a:p>
            <a:pPr>
              <a:spcAft>
                <a:spcPts val="1000"/>
              </a:spcAft>
            </a:pPr>
            <a:r>
              <a:rPr sz="1800" b="0">
                <a:solidFill>
                  <a:srgbClr val="161B26"/>
                </a:solidFill>
                <a:latin typeface="Arial"/>
              </a:rPr>
              <a:t>•  Millions of requests per seconds, trillions of row, 100s of TB of storage</a:t>
            </a:r>
          </a:p>
          <a:p>
            <a:pPr>
              <a:spcAft>
                <a:spcPts val="1000"/>
              </a:spcAft>
            </a:pPr>
            <a:r>
              <a:rPr sz="1800" b="0">
                <a:solidFill>
                  <a:srgbClr val="161B26"/>
                </a:solidFill>
                <a:latin typeface="Arial"/>
              </a:rPr>
              <a:t>•  Fast and consistent in performance</a:t>
            </a:r>
          </a:p>
          <a:p>
            <a:pPr>
              <a:spcAft>
                <a:spcPts val="1000"/>
              </a:spcAft>
            </a:pPr>
            <a:r>
              <a:rPr sz="1800" b="0">
                <a:solidFill>
                  <a:srgbClr val="161B26"/>
                </a:solidFill>
                <a:latin typeface="Arial"/>
              </a:rPr>
              <a:t>•  Single-digit millisecond latency – low latency retrieval</a:t>
            </a:r>
          </a:p>
          <a:p>
            <a:pPr>
              <a:spcAft>
                <a:spcPts val="1000"/>
              </a:spcAft>
            </a:pPr>
            <a:r>
              <a:rPr sz="1800" b="0">
                <a:solidFill>
                  <a:srgbClr val="161B26"/>
                </a:solidFill>
                <a:latin typeface="Arial"/>
              </a:rPr>
              <a:t>•  Integrated with IAM for security, authorization and administration</a:t>
            </a:r>
          </a:p>
          <a:p>
            <a:pPr>
              <a:spcAft>
                <a:spcPts val="1000"/>
              </a:spcAft>
            </a:pPr>
            <a:r>
              <a:rPr sz="1800" b="0">
                <a:solidFill>
                  <a:srgbClr val="161B26"/>
                </a:solidFill>
                <a:latin typeface="Arial"/>
              </a:rPr>
              <a:t>•  Low cost and auto scaling capabilities</a:t>
            </a:r>
          </a:p>
          <a:p>
            <a:pPr>
              <a:spcAft>
                <a:spcPts val="1000"/>
              </a:spcAft>
            </a:pPr>
            <a:r>
              <a:rPr sz="1800" b="0">
                <a:solidFill>
                  <a:srgbClr val="161B26"/>
                </a:solidFill>
                <a:latin typeface="Arial"/>
              </a:rPr>
              <a:t>•  Standard &amp; Infrequent Access (IA) Table Class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 type of data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25887" y="1801368"/>
            <a:ext cx="690974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3_0.png"/>
          <p:cNvPicPr>
            <a:picLocks noChangeAspect="1"/>
          </p:cNvPicPr>
          <p:nvPr/>
        </p:nvPicPr>
        <p:blipFill>
          <a:blip r:embed="rId2"/>
          <a:stretch>
            <a:fillRect/>
          </a:stretch>
        </p:blipFill>
        <p:spPr>
          <a:xfrm>
            <a:off x="2653319" y="1828800"/>
            <a:ext cx="6854882"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https://aws.amazon.com/nosql/key-value/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Accelerator - DAX</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005" y="1801368"/>
            <a:ext cx="39335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4_0.png"/>
          <p:cNvPicPr>
            <a:picLocks noChangeAspect="1"/>
          </p:cNvPicPr>
          <p:nvPr/>
        </p:nvPicPr>
        <p:blipFill>
          <a:blip r:embed="rId2"/>
          <a:stretch>
            <a:fillRect/>
          </a:stretch>
        </p:blipFill>
        <p:spPr>
          <a:xfrm>
            <a:off x="4141437" y="1828800"/>
            <a:ext cx="38786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in-memory cache for DynamoDB</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DynamoDB – Global Tables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48249"/>
            <a:ext cx="10479024" cy="407590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5_0.png"/>
          <p:cNvPicPr>
            <a:picLocks noChangeAspect="1"/>
          </p:cNvPicPr>
          <p:nvPr/>
        </p:nvPicPr>
        <p:blipFill>
          <a:blip r:embed="rId2"/>
          <a:stretch>
            <a:fillRect/>
          </a:stretch>
        </p:blipFill>
        <p:spPr>
          <a:xfrm>
            <a:off x="868680" y="1875681"/>
            <a:ext cx="10424160" cy="402103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Make a DynamoDB table accessible with low latency in multiple-regions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Redshift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Redshift is based on PostgreSQL, but it’s not used for OLTP</a:t>
            </a:r>
          </a:p>
          <a:p>
            <a:pPr>
              <a:spcAft>
                <a:spcPts val="1000"/>
              </a:spcAft>
            </a:pPr>
            <a:r>
              <a:rPr sz="1800" b="0">
                <a:solidFill>
                  <a:srgbClr val="161B26"/>
                </a:solidFill>
                <a:latin typeface="Arial"/>
              </a:rPr>
              <a:t>•  It’s OLAP – online analytical processing (analytics and data warehousing)</a:t>
            </a:r>
          </a:p>
          <a:p>
            <a:pPr>
              <a:spcAft>
                <a:spcPts val="1000"/>
              </a:spcAft>
            </a:pPr>
            <a:r>
              <a:rPr sz="1800" b="0">
                <a:solidFill>
                  <a:srgbClr val="161B26"/>
                </a:solidFill>
                <a:latin typeface="Arial"/>
              </a:rPr>
              <a:t>•  Load data once every hour, not every second</a:t>
            </a:r>
          </a:p>
          <a:p>
            <a:pPr>
              <a:spcAft>
                <a:spcPts val="1000"/>
              </a:spcAft>
            </a:pPr>
            <a:r>
              <a:rPr sz="1800" b="0">
                <a:solidFill>
                  <a:srgbClr val="161B26"/>
                </a:solidFill>
                <a:latin typeface="Arial"/>
              </a:rPr>
              <a:t>•  10x better performance than other data warehouses, scale to PBs of data</a:t>
            </a:r>
          </a:p>
          <a:p>
            <a:pPr>
              <a:spcAft>
                <a:spcPts val="1000"/>
              </a:spcAft>
            </a:pPr>
            <a:r>
              <a:rPr sz="1800" b="0">
                <a:solidFill>
                  <a:srgbClr val="161B26"/>
                </a:solidFill>
                <a:latin typeface="Arial"/>
              </a:rPr>
              <a:t>•  Columnar storage of data (instead of row based)</a:t>
            </a:r>
          </a:p>
          <a:p>
            <a:pPr>
              <a:spcAft>
                <a:spcPts val="1000"/>
              </a:spcAft>
            </a:pPr>
            <a:r>
              <a:rPr sz="1800" b="0">
                <a:solidFill>
                  <a:srgbClr val="161B26"/>
                </a:solidFill>
                <a:latin typeface="Arial"/>
              </a:rPr>
              <a:t>•  Massively Parallel Query Execution (MPP), highly available</a:t>
            </a:r>
          </a:p>
          <a:p>
            <a:pPr>
              <a:spcAft>
                <a:spcPts val="1000"/>
              </a:spcAft>
            </a:pPr>
            <a:r>
              <a:rPr sz="1800" b="0">
                <a:solidFill>
                  <a:srgbClr val="161B26"/>
                </a:solidFill>
                <a:latin typeface="Arial"/>
              </a:rPr>
              <a:t>•  Pay as you go based on the instances provisioned</a:t>
            </a:r>
          </a:p>
          <a:p>
            <a:pPr>
              <a:spcAft>
                <a:spcPts val="1000"/>
              </a:spcAft>
            </a:pPr>
            <a:r>
              <a:rPr sz="1800" b="0">
                <a:solidFill>
                  <a:srgbClr val="161B26"/>
                </a:solidFill>
                <a:latin typeface="Arial"/>
              </a:rPr>
              <a:t>•  Has a SQL interface for performing the queries</a:t>
            </a:r>
          </a:p>
          <a:p>
            <a:pPr>
              <a:spcAft>
                <a:spcPts val="1000"/>
              </a:spcAft>
            </a:pPr>
            <a:r>
              <a:rPr sz="1800" b="0">
                <a:solidFill>
                  <a:srgbClr val="161B26"/>
                </a:solidFill>
                <a:latin typeface="Arial"/>
              </a:rPr>
              <a:t>•  BI tools such as AWS Quicksight or Tableau integrate with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Redshift Serverless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881503"/>
            <a:ext cx="10479024" cy="200939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7_0.png"/>
          <p:cNvPicPr>
            <a:picLocks noChangeAspect="1"/>
          </p:cNvPicPr>
          <p:nvPr/>
        </p:nvPicPr>
        <p:blipFill>
          <a:blip r:embed="rId2"/>
          <a:stretch>
            <a:fillRect/>
          </a:stretch>
        </p:blipFill>
        <p:spPr>
          <a:xfrm>
            <a:off x="868680" y="2908935"/>
            <a:ext cx="10424160" cy="195453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provisions and scales data warehouse underlying capacity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EMR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EMR stands for “Elastic MapReduce”</a:t>
            </a:r>
          </a:p>
          <a:p>
            <a:pPr>
              <a:spcAft>
                <a:spcPts val="1000"/>
              </a:spcAft>
            </a:pPr>
            <a:r>
              <a:rPr sz="1800" b="0">
                <a:solidFill>
                  <a:srgbClr val="161B26"/>
                </a:solidFill>
                <a:latin typeface="Arial"/>
              </a:rPr>
              <a:t>•  EMR helps creating Hadoop clusters (Big Data) to analyze and process vast amount of data</a:t>
            </a:r>
          </a:p>
          <a:p>
            <a:pPr>
              <a:spcAft>
                <a:spcPts val="1000"/>
              </a:spcAft>
            </a:pPr>
            <a:r>
              <a:rPr sz="1800" b="0">
                <a:solidFill>
                  <a:srgbClr val="161B26"/>
                </a:solidFill>
                <a:latin typeface="Arial"/>
              </a:rPr>
              <a:t>•  The clusters can be made of hundreds of EC2 instances</a:t>
            </a:r>
          </a:p>
          <a:p>
            <a:pPr>
              <a:spcAft>
                <a:spcPts val="1000"/>
              </a:spcAft>
            </a:pPr>
            <a:r>
              <a:rPr sz="1800" b="0">
                <a:solidFill>
                  <a:srgbClr val="161B26"/>
                </a:solidFill>
                <a:latin typeface="Arial"/>
              </a:rPr>
              <a:t>•  Also supports Apache Spark, HBase, Presto, Flink…</a:t>
            </a:r>
          </a:p>
          <a:p>
            <a:pPr>
              <a:spcAft>
                <a:spcPts val="1000"/>
              </a:spcAft>
            </a:pPr>
            <a:r>
              <a:rPr sz="1800" b="0">
                <a:solidFill>
                  <a:srgbClr val="161B26"/>
                </a:solidFill>
                <a:latin typeface="Arial"/>
              </a:rPr>
              <a:t>•  EMR takes care of all the provisioning and configuration</a:t>
            </a:r>
          </a:p>
          <a:p>
            <a:pPr>
              <a:spcAft>
                <a:spcPts val="1000"/>
              </a:spcAft>
            </a:pPr>
            <a:r>
              <a:rPr sz="1800" b="0">
                <a:solidFill>
                  <a:srgbClr val="161B26"/>
                </a:solidFill>
                <a:latin typeface="Arial"/>
              </a:rPr>
              <a:t>•  Auto-scaling and integrated with Spot instances</a:t>
            </a:r>
          </a:p>
          <a:p>
            <a:pPr>
              <a:spcAft>
                <a:spcPts val="1000"/>
              </a:spcAft>
            </a:pPr>
            <a:r>
              <a:rPr sz="1800" b="0">
                <a:solidFill>
                  <a:srgbClr val="161B26"/>
                </a:solidFill>
                <a:latin typeface="Arial"/>
              </a:rPr>
              <a:t>•  Use cases: data processing, machine learning, web indexing, big data…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Athena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973558" y="1801368"/>
            <a:ext cx="22144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49_0.png"/>
          <p:cNvPicPr>
            <a:picLocks noChangeAspect="1"/>
          </p:cNvPicPr>
          <p:nvPr/>
        </p:nvPicPr>
        <p:blipFill>
          <a:blip r:embed="rId2"/>
          <a:stretch>
            <a:fillRect/>
          </a:stretch>
        </p:blipFill>
        <p:spPr>
          <a:xfrm>
            <a:off x="5000990" y="1828800"/>
            <a:ext cx="215954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Serverless query service to analyze data stored in Amazon S3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QuickSight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5202" y="1801368"/>
            <a:ext cx="64911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0_0.png"/>
          <p:cNvPicPr>
            <a:picLocks noChangeAspect="1"/>
          </p:cNvPicPr>
          <p:nvPr/>
        </p:nvPicPr>
        <p:blipFill>
          <a:blip r:embed="rId2"/>
          <a:stretch>
            <a:fillRect/>
          </a:stretch>
        </p:blipFill>
        <p:spPr>
          <a:xfrm>
            <a:off x="2862634" y="1828800"/>
            <a:ext cx="64362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Serverless machine learning-powered business intelligence service to create interactive dashboards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DocumentDB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Aurora is an “AWS-implementation” of PostgreSQL / MySQL …</a:t>
            </a:r>
          </a:p>
          <a:p>
            <a:pPr>
              <a:spcAft>
                <a:spcPts val="1000"/>
              </a:spcAft>
            </a:pPr>
            <a:r>
              <a:rPr sz="1800" b="0">
                <a:solidFill>
                  <a:srgbClr val="161B26"/>
                </a:solidFill>
                <a:latin typeface="Arial"/>
              </a:rPr>
              <a:t>•  DocumentDB is the same for MongoDB (which is a NoSQL database)</a:t>
            </a:r>
          </a:p>
          <a:p>
            <a:pPr>
              <a:spcAft>
                <a:spcPts val="1000"/>
              </a:spcAft>
            </a:pPr>
            <a:r>
              <a:rPr sz="1800" b="0">
                <a:solidFill>
                  <a:srgbClr val="161B26"/>
                </a:solidFill>
                <a:latin typeface="Arial"/>
              </a:rPr>
              <a:t>•  MongoDB is used to store, query, and index JSON data</a:t>
            </a:r>
          </a:p>
          <a:p>
            <a:pPr>
              <a:spcAft>
                <a:spcPts val="1000"/>
              </a:spcAft>
            </a:pPr>
            <a:r>
              <a:rPr sz="1800" b="0">
                <a:solidFill>
                  <a:srgbClr val="161B26"/>
                </a:solidFill>
                <a:latin typeface="Arial"/>
              </a:rPr>
              <a:t>•  Similar “deployment concepts” as Aurora</a:t>
            </a:r>
          </a:p>
          <a:p>
            <a:pPr>
              <a:spcAft>
                <a:spcPts val="1000"/>
              </a:spcAft>
            </a:pPr>
            <a:r>
              <a:rPr sz="1800" b="0">
                <a:solidFill>
                  <a:srgbClr val="161B26"/>
                </a:solidFill>
                <a:latin typeface="Arial"/>
              </a:rPr>
              <a:t>•  Fully Managed, highly available with replication across 3 AZ</a:t>
            </a:r>
          </a:p>
          <a:p>
            <a:pPr>
              <a:spcAft>
                <a:spcPts val="1000"/>
              </a:spcAft>
            </a:pPr>
            <a:r>
              <a:rPr sz="1800" b="0">
                <a:solidFill>
                  <a:srgbClr val="161B26"/>
                </a:solidFill>
                <a:latin typeface="Arial"/>
              </a:rPr>
              <a:t>•  DocumentDB storage automatically grows in increments of 10GB</a:t>
            </a:r>
          </a:p>
          <a:p>
            <a:pPr>
              <a:spcAft>
                <a:spcPts val="1000"/>
              </a:spcAft>
            </a:pPr>
            <a:r>
              <a:rPr sz="1800" b="0">
                <a:solidFill>
                  <a:srgbClr val="161B26"/>
                </a:solidFill>
                <a:latin typeface="Arial"/>
              </a:rPr>
              <a:t>•  Automatically scales to workloads with millions of requests per seconds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Neptune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72737" y="1801368"/>
            <a:ext cx="681604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2_0.png"/>
          <p:cNvPicPr>
            <a:picLocks noChangeAspect="1"/>
          </p:cNvPicPr>
          <p:nvPr/>
        </p:nvPicPr>
        <p:blipFill>
          <a:blip r:embed="rId2"/>
          <a:stretch>
            <a:fillRect/>
          </a:stretch>
        </p:blipFill>
        <p:spPr>
          <a:xfrm>
            <a:off x="2700169" y="1828800"/>
            <a:ext cx="676118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graph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Timestream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39044" y="1801368"/>
            <a:ext cx="668343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3_0.png"/>
          <p:cNvPicPr>
            <a:picLocks noChangeAspect="1"/>
          </p:cNvPicPr>
          <p:nvPr/>
        </p:nvPicPr>
        <p:blipFill>
          <a:blip r:embed="rId2"/>
          <a:stretch>
            <a:fillRect/>
          </a:stretch>
        </p:blipFill>
        <p:spPr>
          <a:xfrm>
            <a:off x="2766476" y="1828800"/>
            <a:ext cx="6628568"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fast, scalable, serverless time series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QLDB</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71853" y="1801368"/>
            <a:ext cx="841781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4_0.png"/>
          <p:cNvPicPr>
            <a:picLocks noChangeAspect="1"/>
          </p:cNvPicPr>
          <p:nvPr/>
        </p:nvPicPr>
        <p:blipFill>
          <a:blip r:embed="rId2"/>
          <a:stretch>
            <a:fillRect/>
          </a:stretch>
        </p:blipFill>
        <p:spPr>
          <a:xfrm>
            <a:off x="1899285" y="1828800"/>
            <a:ext cx="836295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QLDB stands for ”Quantum Ledger Database”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Managed Blockchain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235017"/>
            <a:ext cx="10479024" cy="166812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5_0.png"/>
          <p:cNvPicPr>
            <a:picLocks noChangeAspect="1"/>
          </p:cNvPicPr>
          <p:nvPr/>
        </p:nvPicPr>
        <p:blipFill>
          <a:blip r:embed="rId2"/>
          <a:stretch>
            <a:fillRect/>
          </a:stretch>
        </p:blipFill>
        <p:spPr>
          <a:xfrm>
            <a:off x="868680" y="3262449"/>
            <a:ext cx="10424160" cy="161326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51099"/>
            <a:ext cx="10479024" cy="34702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6_0.png"/>
          <p:cNvPicPr>
            <a:picLocks noChangeAspect="1"/>
          </p:cNvPicPr>
          <p:nvPr/>
        </p:nvPicPr>
        <p:blipFill>
          <a:blip r:embed="rId2"/>
          <a:stretch>
            <a:fillRect/>
          </a:stretch>
        </p:blipFill>
        <p:spPr>
          <a:xfrm>
            <a:off x="868680" y="2178531"/>
            <a:ext cx="10424160" cy="34153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Managed extract, transform, and load (ETL)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DMS – Database Migration Service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21038" y="1801368"/>
            <a:ext cx="311944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257_0.png"/>
          <p:cNvPicPr>
            <a:picLocks noChangeAspect="1"/>
          </p:cNvPicPr>
          <p:nvPr/>
        </p:nvPicPr>
        <p:blipFill>
          <a:blip r:embed="rId2"/>
          <a:stretch>
            <a:fillRect/>
          </a:stretch>
        </p:blipFill>
        <p:spPr>
          <a:xfrm>
            <a:off x="4548470" y="1828800"/>
            <a:ext cx="306457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Quickly and securely migrate databases to AWS, resilient, self healing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Databases &amp; Analytics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Relational Databases - OLTP: RDS &amp; Aurora (SQL)</a:t>
            </a:r>
          </a:p>
          <a:p>
            <a:pPr>
              <a:spcAft>
                <a:spcPts val="1000"/>
              </a:spcAft>
            </a:pPr>
            <a:r>
              <a:rPr sz="1800" b="0">
                <a:solidFill>
                  <a:srgbClr val="161B26"/>
                </a:solidFill>
                <a:latin typeface="Arial"/>
              </a:rPr>
              <a:t>•  Differences between Multi-AZ, Read Replicas, Multi-Region</a:t>
            </a:r>
          </a:p>
          <a:p>
            <a:pPr>
              <a:spcAft>
                <a:spcPts val="1000"/>
              </a:spcAft>
            </a:pPr>
            <a:r>
              <a:rPr sz="1800" b="0">
                <a:solidFill>
                  <a:srgbClr val="161B26"/>
                </a:solidFill>
                <a:latin typeface="Arial"/>
              </a:rPr>
              <a:t>•  In-memory Database: ElastiCache</a:t>
            </a:r>
          </a:p>
          <a:p>
            <a:pPr>
              <a:spcAft>
                <a:spcPts val="1000"/>
              </a:spcAft>
            </a:pPr>
            <a:r>
              <a:rPr sz="1800" b="0">
                <a:solidFill>
                  <a:srgbClr val="161B26"/>
                </a:solidFill>
                <a:latin typeface="Arial"/>
              </a:rPr>
              <a:t>•  Key/Value Database: DynamoDB (serverless) &amp; DAX (cache for DynamoDB)</a:t>
            </a:r>
          </a:p>
          <a:p>
            <a:pPr>
              <a:spcAft>
                <a:spcPts val="1000"/>
              </a:spcAft>
            </a:pPr>
            <a:r>
              <a:rPr sz="1800" b="0">
                <a:solidFill>
                  <a:srgbClr val="161B26"/>
                </a:solidFill>
                <a:latin typeface="Arial"/>
              </a:rPr>
              <a:t>•  Warehouse - OLAP: Redshift (SQL)</a:t>
            </a:r>
          </a:p>
          <a:p>
            <a:pPr>
              <a:spcAft>
                <a:spcPts val="1000"/>
              </a:spcAft>
            </a:pPr>
            <a:r>
              <a:rPr sz="1800" b="0">
                <a:solidFill>
                  <a:srgbClr val="161B26"/>
                </a:solidFill>
                <a:latin typeface="Arial"/>
              </a:rPr>
              <a:t>•  Hadoop Cluster: EMR</a:t>
            </a:r>
          </a:p>
          <a:p>
            <a:pPr>
              <a:spcAft>
                <a:spcPts val="1000"/>
              </a:spcAft>
            </a:pPr>
            <a:r>
              <a:rPr sz="1800" b="0">
                <a:solidFill>
                  <a:srgbClr val="161B26"/>
                </a:solidFill>
                <a:latin typeface="Arial"/>
              </a:rPr>
              <a:t>•  Athena: query data on Amazon S3 (serverless &amp; SQL)</a:t>
            </a:r>
          </a:p>
          <a:p>
            <a:pPr>
              <a:spcAft>
                <a:spcPts val="1000"/>
              </a:spcAft>
            </a:pPr>
            <a:r>
              <a:rPr sz="1800" b="0">
                <a:solidFill>
                  <a:srgbClr val="161B26"/>
                </a:solidFill>
                <a:latin typeface="Arial"/>
              </a:rPr>
              <a:t>•  QuickSight: dashboards on your data (serverless)</a:t>
            </a:r>
          </a:p>
          <a:p>
            <a:pPr>
              <a:spcAft>
                <a:spcPts val="1000"/>
              </a:spcAft>
            </a:pPr>
            <a:r>
              <a:rPr sz="1800" b="0">
                <a:solidFill>
                  <a:srgbClr val="161B26"/>
                </a:solidFill>
                <a:latin typeface="Arial"/>
              </a:rPr>
              <a:t>•  DocumentDB: “Aurora for MongoDB” (JSON – NoSQL database)</a:t>
            </a:r>
          </a:p>
          <a:p>
            <a:pPr>
              <a:spcAft>
                <a:spcPts val="1000"/>
              </a:spcAft>
            </a:pPr>
            <a:r>
              <a:rPr sz="1800" b="0">
                <a:solidFill>
                  <a:srgbClr val="161B26"/>
                </a:solidFill>
                <a:latin typeface="Arial"/>
              </a:rPr>
              <a:t>•  Amazon QLDB: Financial Transactions Ledger (immutable journal, cryptographically verifiable)</a:t>
            </a:r>
          </a:p>
          <a:p>
            <a:pPr>
              <a:spcAft>
                <a:spcPts val="1000"/>
              </a:spcAft>
            </a:pPr>
            <a:r>
              <a:rPr sz="1800" b="0">
                <a:solidFill>
                  <a:srgbClr val="161B26"/>
                </a:solidFill>
                <a:latin typeface="Arial"/>
              </a:rPr>
              <a:t>•  Amazon Managed Blockchain: managed Hyperledger Fabric &amp; Ethereum blockchains</a:t>
            </a:r>
          </a:p>
          <a:p>
            <a:pPr>
              <a:spcAft>
                <a:spcPts val="1000"/>
              </a:spcAft>
            </a:pPr>
            <a:r>
              <a:rPr sz="1800" b="0">
                <a:solidFill>
                  <a:srgbClr val="161B26"/>
                </a:solidFill>
                <a:latin typeface="Arial"/>
              </a:rPr>
              <a:t>•  Glue: Managed ETL (Extract Transform Load) and Data Catalog service</a:t>
            </a:r>
          </a:p>
          <a:p>
            <a:pPr>
              <a:spcAft>
                <a:spcPts val="1000"/>
              </a:spcAft>
            </a:pPr>
            <a:r>
              <a:rPr sz="1800" b="0">
                <a:solidFill>
                  <a:srgbClr val="161B26"/>
                </a:solidFill>
                <a:latin typeface="Arial"/>
              </a:rPr>
              <a:t>•  Database Migration: DMS</a:t>
            </a:r>
          </a:p>
          <a:p>
            <a:pPr>
              <a:spcAft>
                <a:spcPts val="1000"/>
              </a:spcAft>
            </a:pPr>
            <a:r>
              <a:rPr sz="1800" b="0">
                <a:solidFill>
                  <a:srgbClr val="161B26"/>
                </a:solidFill>
                <a:latin typeface="Arial"/>
              </a:rPr>
              <a:t>•  Neptune: graph database</a:t>
            </a:r>
          </a:p>
          <a:p>
            <a:pPr>
              <a:spcAft>
                <a:spcPts val="1000"/>
              </a:spcAft>
            </a:pPr>
            <a:r>
              <a:rPr sz="1800" b="0">
                <a:solidFill>
                  <a:srgbClr val="161B26"/>
                </a:solidFill>
                <a:latin typeface="Arial"/>
              </a:rPr>
              <a:t>•  Timestream: time-series database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Networking and Other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VPC</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Virtual Private Cloud (Amazon VPC)</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is something you should know in depth for the AWS Certified Solutions Architect Associate &amp; AWS Certified SysOps Administrator</a:t>
            </a:r>
          </a:p>
          <a:p>
            <a:pPr>
              <a:spcAft>
                <a:spcPts val="1000"/>
              </a:spcAft>
            </a:pPr>
            <a:r>
              <a:rPr sz="1800" b="0">
                <a:solidFill>
                  <a:srgbClr val="161B26"/>
                </a:solidFill>
                <a:latin typeface="Arial"/>
              </a:rPr>
              <a:t>•  At the AWS Certified Cloud Practitioner Level, you should know about:</a:t>
            </a:r>
          </a:p>
          <a:p>
            <a:pPr>
              <a:spcAft>
                <a:spcPts val="1000"/>
              </a:spcAft>
            </a:pPr>
            <a:r>
              <a:rPr sz="1800" b="0">
                <a:solidFill>
                  <a:srgbClr val="161B26"/>
                </a:solidFill>
                <a:latin typeface="Arial"/>
              </a:rPr>
              <a:t>•  VPC, Subnets, Internet Gateways &amp; NAT Gateways</a:t>
            </a:r>
          </a:p>
          <a:p>
            <a:pPr>
              <a:spcAft>
                <a:spcPts val="1000"/>
              </a:spcAft>
            </a:pPr>
            <a:r>
              <a:rPr sz="1800" b="0">
                <a:solidFill>
                  <a:srgbClr val="161B26"/>
                </a:solidFill>
                <a:latin typeface="Arial"/>
              </a:rPr>
              <a:t>•  Security Groups, Network ACL (NACL), VPC Flow Logs</a:t>
            </a:r>
          </a:p>
          <a:p>
            <a:pPr>
              <a:spcAft>
                <a:spcPts val="1000"/>
              </a:spcAft>
            </a:pPr>
            <a:r>
              <a:rPr sz="1800" b="0">
                <a:solidFill>
                  <a:srgbClr val="161B26"/>
                </a:solidFill>
                <a:latin typeface="Arial"/>
              </a:rPr>
              <a:t>•  VPC Peering, VPC Endpoints</a:t>
            </a:r>
          </a:p>
          <a:p>
            <a:pPr>
              <a:spcAft>
                <a:spcPts val="1000"/>
              </a:spcAft>
            </a:pPr>
            <a:r>
              <a:rPr sz="1800" b="0">
                <a:solidFill>
                  <a:srgbClr val="161B26"/>
                </a:solidFill>
                <a:latin typeface="Arial"/>
              </a:rPr>
              <a:t>•  Site to Site VPN &amp; Direct Connect</a:t>
            </a:r>
          </a:p>
          <a:p>
            <a:pPr>
              <a:spcAft>
                <a:spcPts val="1000"/>
              </a:spcAft>
            </a:pPr>
            <a:r>
              <a:rPr sz="1800" b="0">
                <a:solidFill>
                  <a:srgbClr val="161B26"/>
                </a:solidFill>
                <a:latin typeface="Arial"/>
              </a:rPr>
              <a:t>•  Transit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IP Addresses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IPv4 – Internet Protocol version 4 (4.3 Billion Addresses)</a:t>
            </a:r>
          </a:p>
          <a:p>
            <a:pPr>
              <a:spcAft>
                <a:spcPts val="1000"/>
              </a:spcAft>
            </a:pPr>
            <a:r>
              <a:rPr sz="1800" b="0">
                <a:solidFill>
                  <a:srgbClr val="161B26"/>
                </a:solidFill>
                <a:latin typeface="Arial"/>
              </a:rPr>
              <a:t>•  Public IPv4 – can be used on the Internet</a:t>
            </a:r>
          </a:p>
          <a:p>
            <a:pPr>
              <a:spcAft>
                <a:spcPts val="1000"/>
              </a:spcAft>
            </a:pPr>
            <a:r>
              <a:rPr sz="1800" b="0">
                <a:solidFill>
                  <a:srgbClr val="161B26"/>
                </a:solidFill>
                <a:latin typeface="Arial"/>
              </a:rPr>
              <a:t>•  EC2 instance gets a new a public IP address every time you stop then start it (default)</a:t>
            </a:r>
          </a:p>
          <a:p>
            <a:pPr>
              <a:spcAft>
                <a:spcPts val="1000"/>
              </a:spcAft>
            </a:pPr>
            <a:r>
              <a:rPr sz="1800" b="0">
                <a:solidFill>
                  <a:srgbClr val="161B26"/>
                </a:solidFill>
                <a:latin typeface="Arial"/>
              </a:rPr>
              <a:t>•  Private IPv4 – can be used on private networks (LAN) such as internal AWS networking (e.g., 192.168.1.1)</a:t>
            </a:r>
          </a:p>
          <a:p>
            <a:pPr>
              <a:spcAft>
                <a:spcPts val="1000"/>
              </a:spcAft>
            </a:pPr>
            <a:r>
              <a:rPr sz="1800" b="0">
                <a:solidFill>
                  <a:srgbClr val="161B26"/>
                </a:solidFill>
                <a:latin typeface="Arial"/>
              </a:rPr>
              <a:t>•  Private IPv4 is fixed for EC2 Instances even if you start/stop them</a:t>
            </a:r>
          </a:p>
          <a:p>
            <a:pPr>
              <a:spcAft>
                <a:spcPts val="1000"/>
              </a:spcAft>
            </a:pPr>
            <a:r>
              <a:rPr sz="1800" b="0">
                <a:solidFill>
                  <a:srgbClr val="161B26"/>
                </a:solidFill>
                <a:latin typeface="Arial"/>
              </a:rPr>
              <a:t>•  Elastic IP – allows you to attach a fixed public IPv4 address to EC2 instance</a:t>
            </a:r>
          </a:p>
          <a:p>
            <a:pPr>
              <a:spcAft>
                <a:spcPts val="1000"/>
              </a:spcAft>
            </a:pPr>
            <a:r>
              <a:rPr sz="1800" b="0">
                <a:solidFill>
                  <a:srgbClr val="161B26"/>
                </a:solidFill>
                <a:latin typeface="Arial"/>
              </a:rPr>
              <a:t>•  Note: all public IPv4 on AWS will be charged $0.005 per hour</a:t>
            </a:r>
          </a:p>
          <a:p>
            <a:pPr>
              <a:spcAft>
                <a:spcPts val="1000"/>
              </a:spcAft>
            </a:pPr>
            <a:r>
              <a:rPr sz="1800" b="0">
                <a:solidFill>
                  <a:srgbClr val="161B26"/>
                </a:solidFill>
                <a:latin typeface="Arial"/>
              </a:rPr>
              <a:t>•  Free Tier: 750 hours usage per month</a:t>
            </a:r>
          </a:p>
          <a:p>
            <a:pPr>
              <a:spcAft>
                <a:spcPts val="1000"/>
              </a:spcAft>
            </a:pPr>
            <a:r>
              <a:rPr sz="1800" b="0">
                <a:solidFill>
                  <a:srgbClr val="161B26"/>
                </a:solidFill>
                <a:latin typeface="Arial"/>
              </a:rPr>
              <a:t>•  IPv6 – Internet Protocol version 6 (3.4 × 10!" Addresses)</a:t>
            </a:r>
          </a:p>
          <a:p>
            <a:pPr>
              <a:spcAft>
                <a:spcPts val="1000"/>
              </a:spcAft>
            </a:pPr>
            <a:r>
              <a:rPr sz="1800" b="0">
                <a:solidFill>
                  <a:srgbClr val="161B26"/>
                </a:solidFill>
                <a:latin typeface="Arial"/>
              </a:rPr>
              <a:t>•  Every IP address is public in AWS (no private range)</a:t>
            </a:r>
          </a:p>
          <a:p>
            <a:pPr>
              <a:spcAft>
                <a:spcPts val="1000"/>
              </a:spcAft>
            </a:pPr>
            <a:r>
              <a:rPr sz="1800" b="0">
                <a:solidFill>
                  <a:srgbClr val="161B26"/>
                </a:solidFill>
                <a:latin typeface="Arial"/>
              </a:rPr>
              <a:t>•  Example: 2001:db8:3333:4444:cccc:dddd:eeee:ffff</a:t>
            </a:r>
          </a:p>
          <a:p>
            <a:pPr>
              <a:spcAft>
                <a:spcPts val="1000"/>
              </a:spcAft>
            </a:pPr>
            <a:r>
              <a:rPr sz="1800" b="0">
                <a:solidFill>
                  <a:srgbClr val="161B26"/>
                </a:solidFill>
                <a:latin typeface="Arial"/>
              </a:rPr>
              <a:t>•  Free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&amp; Subnets Primer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625607" y="1801368"/>
            <a:ext cx="29103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3_0.png"/>
          <p:cNvPicPr>
            <a:picLocks noChangeAspect="1"/>
          </p:cNvPicPr>
          <p:nvPr/>
        </p:nvPicPr>
        <p:blipFill>
          <a:blip r:embed="rId2"/>
          <a:stretch>
            <a:fillRect/>
          </a:stretch>
        </p:blipFill>
        <p:spPr>
          <a:xfrm>
            <a:off x="4653039" y="1828800"/>
            <a:ext cx="28554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VPC - Virtual Private Cloud: private network to deploy your resources (regional resource)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20238" y="1801368"/>
            <a:ext cx="432104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4_0.png"/>
          <p:cNvPicPr>
            <a:picLocks noChangeAspect="1"/>
          </p:cNvPicPr>
          <p:nvPr/>
        </p:nvPicPr>
        <p:blipFill>
          <a:blip r:embed="rId2"/>
          <a:stretch>
            <a:fillRect/>
          </a:stretch>
        </p:blipFill>
        <p:spPr>
          <a:xfrm>
            <a:off x="3947670" y="1828800"/>
            <a:ext cx="426617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51421" y="1801368"/>
            <a:ext cx="685867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5_0.png"/>
          <p:cNvPicPr>
            <a:picLocks noChangeAspect="1"/>
          </p:cNvPicPr>
          <p:nvPr/>
        </p:nvPicPr>
        <p:blipFill>
          <a:blip r:embed="rId2"/>
          <a:stretch>
            <a:fillRect/>
          </a:stretch>
        </p:blipFill>
        <p:spPr>
          <a:xfrm>
            <a:off x="2678853" y="1828800"/>
            <a:ext cx="6803813"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 &amp; NAT Gateways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08348" y="1801368"/>
            <a:ext cx="35448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6_0.png"/>
          <p:cNvPicPr>
            <a:picLocks noChangeAspect="1"/>
          </p:cNvPicPr>
          <p:nvPr/>
        </p:nvPicPr>
        <p:blipFill>
          <a:blip r:embed="rId2"/>
          <a:stretch>
            <a:fillRect/>
          </a:stretch>
        </p:blipFill>
        <p:spPr>
          <a:xfrm>
            <a:off x="4335780" y="1828800"/>
            <a:ext cx="348996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Internet Gateways helps our VPC instances connect with the internet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Internet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58843" y="1801368"/>
            <a:ext cx="96438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7_0.png"/>
          <p:cNvPicPr>
            <a:picLocks noChangeAspect="1"/>
          </p:cNvPicPr>
          <p:nvPr/>
        </p:nvPicPr>
        <p:blipFill>
          <a:blip r:embed="rId2"/>
          <a:stretch>
            <a:fillRect/>
          </a:stretch>
        </p:blipFill>
        <p:spPr>
          <a:xfrm>
            <a:off x="1286275" y="1828800"/>
            <a:ext cx="95889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ACL &amp; 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62658" y="1801368"/>
            <a:ext cx="30362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8_0.png"/>
          <p:cNvPicPr>
            <a:picLocks noChangeAspect="1"/>
          </p:cNvPicPr>
          <p:nvPr/>
        </p:nvPicPr>
        <p:blipFill>
          <a:blip r:embed="rId2"/>
          <a:stretch>
            <a:fillRect/>
          </a:stretch>
        </p:blipFill>
        <p:spPr>
          <a:xfrm>
            <a:off x="4590090" y="1828800"/>
            <a:ext cx="29813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NACL (Network ACL)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ACLs vs 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82740" y="1801368"/>
            <a:ext cx="979603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69_0.png"/>
          <p:cNvPicPr>
            <a:picLocks noChangeAspect="1"/>
          </p:cNvPicPr>
          <p:nvPr/>
        </p:nvPicPr>
        <p:blipFill>
          <a:blip r:embed="rId2"/>
          <a:stretch>
            <a:fillRect/>
          </a:stretch>
        </p:blipFill>
        <p:spPr>
          <a:xfrm>
            <a:off x="1210172" y="1828800"/>
            <a:ext cx="974117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 and Network Access Control Lists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5101" y="1801368"/>
            <a:ext cx="100913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0_0.png"/>
          <p:cNvPicPr>
            <a:picLocks noChangeAspect="1"/>
          </p:cNvPicPr>
          <p:nvPr/>
        </p:nvPicPr>
        <p:blipFill>
          <a:blip r:embed="rId2"/>
          <a:stretch>
            <a:fillRect/>
          </a:stretch>
        </p:blipFill>
        <p:spPr>
          <a:xfrm>
            <a:off x="1062533" y="1828800"/>
            <a:ext cx="100364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Subnets and Network Access Control Lists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9077" y="1801368"/>
            <a:ext cx="922336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1_0.png"/>
          <p:cNvPicPr>
            <a:picLocks noChangeAspect="1"/>
          </p:cNvPicPr>
          <p:nvPr/>
        </p:nvPicPr>
        <p:blipFill>
          <a:blip r:embed="rId2"/>
          <a:stretch>
            <a:fillRect/>
          </a:stretch>
        </p:blipFill>
        <p:spPr>
          <a:xfrm>
            <a:off x="1496509" y="1828800"/>
            <a:ext cx="916850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Stateless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84951"/>
            <a:ext cx="10479024" cy="336825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2_0.png"/>
          <p:cNvPicPr>
            <a:picLocks noChangeAspect="1"/>
          </p:cNvPicPr>
          <p:nvPr/>
        </p:nvPicPr>
        <p:blipFill>
          <a:blip r:embed="rId2"/>
          <a:stretch>
            <a:fillRect/>
          </a:stretch>
        </p:blipFill>
        <p:spPr>
          <a:xfrm>
            <a:off x="868680" y="2412383"/>
            <a:ext cx="10424160" cy="3313393"/>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271</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28788" y="1801368"/>
            <a:ext cx="450394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3_0.png"/>
          <p:cNvPicPr>
            <a:picLocks noChangeAspect="1"/>
          </p:cNvPicPr>
          <p:nvPr/>
        </p:nvPicPr>
        <p:blipFill>
          <a:blip r:embed="rId2"/>
          <a:stretch>
            <a:fillRect/>
          </a:stretch>
        </p:blipFill>
        <p:spPr>
          <a:xfrm>
            <a:off x="3856220" y="1828800"/>
            <a:ext cx="444908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272</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Stateful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50824"/>
            <a:ext cx="10479024" cy="343651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4_0.png"/>
          <p:cNvPicPr>
            <a:picLocks noChangeAspect="1"/>
          </p:cNvPicPr>
          <p:nvPr/>
        </p:nvPicPr>
        <p:blipFill>
          <a:blip r:embed="rId2"/>
          <a:stretch>
            <a:fillRect/>
          </a:stretch>
        </p:blipFill>
        <p:spPr>
          <a:xfrm>
            <a:off x="868680" y="2378256"/>
            <a:ext cx="10424160" cy="338164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273</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Stateful packet filtering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2058" y="1801368"/>
            <a:ext cx="1043740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5_0.png"/>
          <p:cNvPicPr>
            <a:picLocks noChangeAspect="1"/>
          </p:cNvPicPr>
          <p:nvPr/>
        </p:nvPicPr>
        <p:blipFill>
          <a:blip r:embed="rId2"/>
          <a:stretch>
            <a:fillRect/>
          </a:stretch>
        </p:blipFill>
        <p:spPr>
          <a:xfrm>
            <a:off x="889490" y="1828800"/>
            <a:ext cx="1038253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274</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Flow Logs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Capture information about IP traffic going into your interfaces:</a:t>
            </a:r>
          </a:p>
          <a:p>
            <a:pPr>
              <a:spcAft>
                <a:spcPts val="1000"/>
              </a:spcAft>
            </a:pPr>
            <a:r>
              <a:rPr sz="1800" b="0">
                <a:solidFill>
                  <a:srgbClr val="161B26"/>
                </a:solidFill>
                <a:latin typeface="Arial"/>
              </a:rPr>
              <a:t>•  VPC Flow Logs</a:t>
            </a:r>
          </a:p>
          <a:p>
            <a:pPr>
              <a:spcAft>
                <a:spcPts val="1000"/>
              </a:spcAft>
            </a:pPr>
            <a:r>
              <a:rPr sz="1800" b="0">
                <a:solidFill>
                  <a:srgbClr val="161B26"/>
                </a:solidFill>
                <a:latin typeface="Arial"/>
              </a:rPr>
              <a:t>•  Subnet Flow Logs</a:t>
            </a:r>
          </a:p>
          <a:p>
            <a:pPr>
              <a:spcAft>
                <a:spcPts val="1000"/>
              </a:spcAft>
            </a:pPr>
            <a:r>
              <a:rPr sz="1800" b="0">
                <a:solidFill>
                  <a:srgbClr val="161B26"/>
                </a:solidFill>
                <a:latin typeface="Arial"/>
              </a:rPr>
              <a:t>•  Elastic Network Interface Flow Logs</a:t>
            </a:r>
          </a:p>
          <a:p>
            <a:pPr>
              <a:spcAft>
                <a:spcPts val="1000"/>
              </a:spcAft>
            </a:pPr>
            <a:r>
              <a:rPr sz="1800" b="0">
                <a:solidFill>
                  <a:srgbClr val="161B26"/>
                </a:solidFill>
                <a:latin typeface="Arial"/>
              </a:rPr>
              <a:t>•  Helps to monitor &amp; troubleshoot connectivity issues. Example:</a:t>
            </a:r>
          </a:p>
          <a:p>
            <a:pPr>
              <a:spcAft>
                <a:spcPts val="1000"/>
              </a:spcAft>
            </a:pPr>
            <a:r>
              <a:rPr sz="1800" b="0">
                <a:solidFill>
                  <a:srgbClr val="161B26"/>
                </a:solidFill>
                <a:latin typeface="Arial"/>
              </a:rPr>
              <a:t>•  Subnets to internet</a:t>
            </a:r>
          </a:p>
          <a:p>
            <a:pPr>
              <a:spcAft>
                <a:spcPts val="1000"/>
              </a:spcAft>
            </a:pPr>
            <a:r>
              <a:rPr sz="1800" b="0">
                <a:solidFill>
                  <a:srgbClr val="161B26"/>
                </a:solidFill>
                <a:latin typeface="Arial"/>
              </a:rPr>
              <a:t>•  Subnets to subnets</a:t>
            </a:r>
          </a:p>
          <a:p>
            <a:pPr>
              <a:spcAft>
                <a:spcPts val="1000"/>
              </a:spcAft>
            </a:pPr>
            <a:r>
              <a:rPr sz="1800" b="0">
                <a:solidFill>
                  <a:srgbClr val="161B26"/>
                </a:solidFill>
                <a:latin typeface="Arial"/>
              </a:rPr>
              <a:t>•  Internet to subnets</a:t>
            </a:r>
          </a:p>
          <a:p>
            <a:pPr>
              <a:spcAft>
                <a:spcPts val="1000"/>
              </a:spcAft>
            </a:pPr>
            <a:r>
              <a:rPr sz="1800" b="0">
                <a:solidFill>
                  <a:srgbClr val="161B26"/>
                </a:solidFill>
                <a:latin typeface="Arial"/>
              </a:rPr>
              <a:t>•  Captures network information from AWS managed interfaces too: Elastic Load Balancers, ElastiCache, RDS, Aurora, etc…</a:t>
            </a:r>
          </a:p>
          <a:p>
            <a:pPr>
              <a:spcAft>
                <a:spcPts val="1000"/>
              </a:spcAft>
            </a:pPr>
            <a:r>
              <a:rPr sz="1800" b="0">
                <a:solidFill>
                  <a:srgbClr val="161B26"/>
                </a:solidFill>
                <a:latin typeface="Arial"/>
              </a:rPr>
              <a:t>•  VPC Flow logs data can go to S3, CloudWatch Logs, and Kinesis Data Firehose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275</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Peering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31634" y="1801368"/>
            <a:ext cx="429825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7_0.png"/>
          <p:cNvPicPr>
            <a:picLocks noChangeAspect="1"/>
          </p:cNvPicPr>
          <p:nvPr/>
        </p:nvPicPr>
        <p:blipFill>
          <a:blip r:embed="rId2"/>
          <a:stretch>
            <a:fillRect/>
          </a:stretch>
        </p:blipFill>
        <p:spPr>
          <a:xfrm>
            <a:off x="3959066" y="1828800"/>
            <a:ext cx="424338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Connect two VPC, privately using AWS’ network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276</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Endpoints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19117" y="1801368"/>
            <a:ext cx="37232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8_0.png"/>
          <p:cNvPicPr>
            <a:picLocks noChangeAspect="1"/>
          </p:cNvPicPr>
          <p:nvPr/>
        </p:nvPicPr>
        <p:blipFill>
          <a:blip r:embed="rId2"/>
          <a:stretch>
            <a:fillRect/>
          </a:stretch>
        </p:blipFill>
        <p:spPr>
          <a:xfrm>
            <a:off x="4246549" y="1828800"/>
            <a:ext cx="366842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Endpoints allow you to connect to AWS Services using a private network instead of the public www network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277</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PrivateLink (VPC Endpoint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61036"/>
            <a:ext cx="10479024" cy="385032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79_0.png"/>
          <p:cNvPicPr>
            <a:picLocks noChangeAspect="1"/>
          </p:cNvPicPr>
          <p:nvPr/>
        </p:nvPicPr>
        <p:blipFill>
          <a:blip r:embed="rId2"/>
          <a:stretch>
            <a:fillRect/>
          </a:stretch>
        </p:blipFill>
        <p:spPr>
          <a:xfrm>
            <a:off x="868680" y="1988468"/>
            <a:ext cx="10424160" cy="3795463"/>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Most secure &amp; scalable way to expose a service to 1000s of VPCs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278</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 to Site VPN &amp; Direct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03187" y="1801368"/>
            <a:ext cx="455514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0_0.png"/>
          <p:cNvPicPr>
            <a:picLocks noChangeAspect="1"/>
          </p:cNvPicPr>
          <p:nvPr/>
        </p:nvPicPr>
        <p:blipFill>
          <a:blip r:embed="rId2"/>
          <a:stretch>
            <a:fillRect/>
          </a:stretch>
        </p:blipFill>
        <p:spPr>
          <a:xfrm>
            <a:off x="3830619" y="1828800"/>
            <a:ext cx="450028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Site to Site VPN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279</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Site to Site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817879"/>
            <a:ext cx="10479024" cy="213664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1_0.png"/>
          <p:cNvPicPr>
            <a:picLocks noChangeAspect="1"/>
          </p:cNvPicPr>
          <p:nvPr/>
        </p:nvPicPr>
        <p:blipFill>
          <a:blip r:embed="rId2"/>
          <a:stretch>
            <a:fillRect/>
          </a:stretch>
        </p:blipFill>
        <p:spPr>
          <a:xfrm>
            <a:off x="868680" y="2845311"/>
            <a:ext cx="10424160" cy="2081778"/>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On-premises: must use a Customer Gateway (CGW)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Virtual Private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35101" y="1801368"/>
            <a:ext cx="100913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2_0.png"/>
          <p:cNvPicPr>
            <a:picLocks noChangeAspect="1"/>
          </p:cNvPicPr>
          <p:nvPr/>
        </p:nvPicPr>
        <p:blipFill>
          <a:blip r:embed="rId2"/>
          <a:stretch>
            <a:fillRect/>
          </a:stretch>
        </p:blipFill>
        <p:spPr>
          <a:xfrm>
            <a:off x="1062533" y="1828800"/>
            <a:ext cx="100364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281</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Direct Connect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8447" y="1801368"/>
            <a:ext cx="100646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3_0.png"/>
          <p:cNvPicPr>
            <a:picLocks noChangeAspect="1"/>
          </p:cNvPicPr>
          <p:nvPr/>
        </p:nvPicPr>
        <p:blipFill>
          <a:blip r:embed="rId2"/>
          <a:stretch>
            <a:fillRect/>
          </a:stretch>
        </p:blipFill>
        <p:spPr>
          <a:xfrm>
            <a:off x="1075879" y="1828800"/>
            <a:ext cx="100097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282</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Client VPN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47855"/>
            <a:ext cx="10479024" cy="28766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4_0.png"/>
          <p:cNvPicPr>
            <a:picLocks noChangeAspect="1"/>
          </p:cNvPicPr>
          <p:nvPr/>
        </p:nvPicPr>
        <p:blipFill>
          <a:blip r:embed="rId2"/>
          <a:stretch>
            <a:fillRect/>
          </a:stretch>
        </p:blipFill>
        <p:spPr>
          <a:xfrm>
            <a:off x="868680" y="2475287"/>
            <a:ext cx="10424160" cy="282182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Connect from your computer using OpenVPN to your private network in AWS and on-premises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Network topologies can become complicated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23351" y="1801368"/>
            <a:ext cx="811481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5_0.png"/>
          <p:cNvPicPr>
            <a:picLocks noChangeAspect="1"/>
          </p:cNvPicPr>
          <p:nvPr/>
        </p:nvPicPr>
        <p:blipFill>
          <a:blip r:embed="rId2"/>
          <a:stretch>
            <a:fillRect/>
          </a:stretch>
        </p:blipFill>
        <p:spPr>
          <a:xfrm>
            <a:off x="2050783" y="1828800"/>
            <a:ext cx="805995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284</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Transit Gateway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55108" y="1801368"/>
            <a:ext cx="385130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86_0.png"/>
          <p:cNvPicPr>
            <a:picLocks noChangeAspect="1"/>
          </p:cNvPicPr>
          <p:nvPr/>
        </p:nvPicPr>
        <p:blipFill>
          <a:blip r:embed="rId2"/>
          <a:stretch>
            <a:fillRect/>
          </a:stretch>
        </p:blipFill>
        <p:spPr>
          <a:xfrm>
            <a:off x="4182540" y="1828800"/>
            <a:ext cx="379644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having transitive peering between thousands of VPC and on-premises, hub-and-spoke (star) connection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285</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 Virtual Private Cloud</a:t>
            </a:r>
          </a:p>
          <a:p>
            <a:pPr>
              <a:spcAft>
                <a:spcPts val="1000"/>
              </a:spcAft>
            </a:pPr>
            <a:r>
              <a:rPr sz="1800" b="0">
                <a:solidFill>
                  <a:srgbClr val="161B26"/>
                </a:solidFill>
                <a:latin typeface="Arial"/>
              </a:rPr>
              <a:t>•  Subnets – Tied to an AZ, network partition of the VPC</a:t>
            </a:r>
          </a:p>
          <a:p>
            <a:pPr>
              <a:spcAft>
                <a:spcPts val="1000"/>
              </a:spcAft>
            </a:pPr>
            <a:r>
              <a:rPr sz="1800" b="0">
                <a:solidFill>
                  <a:srgbClr val="161B26"/>
                </a:solidFill>
                <a:latin typeface="Arial"/>
              </a:rPr>
              <a:t>•  Internet Gateway – at the VPC level, provide Internet Access</a:t>
            </a:r>
          </a:p>
          <a:p>
            <a:pPr>
              <a:spcAft>
                <a:spcPts val="1000"/>
              </a:spcAft>
            </a:pPr>
            <a:r>
              <a:rPr sz="1800" b="0">
                <a:solidFill>
                  <a:srgbClr val="161B26"/>
                </a:solidFill>
                <a:latin typeface="Arial"/>
              </a:rPr>
              <a:t>•  NAT Gateway / Instances – give internet access to private subnets</a:t>
            </a:r>
          </a:p>
          <a:p>
            <a:pPr>
              <a:spcAft>
                <a:spcPts val="1000"/>
              </a:spcAft>
            </a:pPr>
            <a:r>
              <a:rPr sz="1800" b="0">
                <a:solidFill>
                  <a:srgbClr val="161B26"/>
                </a:solidFill>
                <a:latin typeface="Arial"/>
              </a:rPr>
              <a:t>•  NACL – Stateless, subnet rules for inbound and outbound</a:t>
            </a:r>
          </a:p>
          <a:p>
            <a:pPr>
              <a:spcAft>
                <a:spcPts val="1000"/>
              </a:spcAft>
            </a:pPr>
            <a:r>
              <a:rPr sz="1800" b="0">
                <a:solidFill>
                  <a:srgbClr val="161B26"/>
                </a:solidFill>
                <a:latin typeface="Arial"/>
              </a:rPr>
              <a:t>•  Security Groups – Stateful, operate at the EC2 instance level or ENI</a:t>
            </a:r>
          </a:p>
          <a:p>
            <a:pPr>
              <a:spcAft>
                <a:spcPts val="1000"/>
              </a:spcAft>
            </a:pPr>
            <a:r>
              <a:rPr sz="1800" b="0">
                <a:solidFill>
                  <a:srgbClr val="161B26"/>
                </a:solidFill>
                <a:latin typeface="Arial"/>
              </a:rPr>
              <a:t>•  VPC Peering – Connect two VPC with non overlapping IP ranges, nontransitive</a:t>
            </a:r>
          </a:p>
          <a:p>
            <a:pPr>
              <a:spcAft>
                <a:spcPts val="1000"/>
              </a:spcAft>
            </a:pPr>
            <a:r>
              <a:rPr sz="1800" b="0">
                <a:solidFill>
                  <a:srgbClr val="161B26"/>
                </a:solidFill>
                <a:latin typeface="Arial"/>
              </a:rPr>
              <a:t>•  Elastic IP –fixed public IPv4, ongoing cost if not in-use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286</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VPC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VPC Endpoints – Provide private access to AWS Services within VPC</a:t>
            </a:r>
          </a:p>
          <a:p>
            <a:pPr>
              <a:spcAft>
                <a:spcPts val="1000"/>
              </a:spcAft>
            </a:pPr>
            <a:r>
              <a:rPr sz="1800" b="0">
                <a:solidFill>
                  <a:srgbClr val="161B26"/>
                </a:solidFill>
                <a:latin typeface="Arial"/>
              </a:rPr>
              <a:t>•  PrivateLink – Privately connect to a service in a 3rd party VPC</a:t>
            </a:r>
          </a:p>
          <a:p>
            <a:pPr>
              <a:spcAft>
                <a:spcPts val="1000"/>
              </a:spcAft>
            </a:pPr>
            <a:r>
              <a:rPr sz="1800" b="0">
                <a:solidFill>
                  <a:srgbClr val="161B26"/>
                </a:solidFill>
                <a:latin typeface="Arial"/>
              </a:rPr>
              <a:t>•  VPC Flow Logs – network traffic logs</a:t>
            </a:r>
          </a:p>
          <a:p>
            <a:pPr>
              <a:spcAft>
                <a:spcPts val="1000"/>
              </a:spcAft>
            </a:pPr>
            <a:r>
              <a:rPr sz="1800" b="0">
                <a:solidFill>
                  <a:srgbClr val="161B26"/>
                </a:solidFill>
                <a:latin typeface="Arial"/>
              </a:rPr>
              <a:t>•  Site to Site VPN – VPN over public internet between on-premises DC and AWS</a:t>
            </a:r>
          </a:p>
          <a:p>
            <a:pPr>
              <a:spcAft>
                <a:spcPts val="1000"/>
              </a:spcAft>
            </a:pPr>
            <a:r>
              <a:rPr sz="1800" b="0">
                <a:solidFill>
                  <a:srgbClr val="161B26"/>
                </a:solidFill>
                <a:latin typeface="Arial"/>
              </a:rPr>
              <a:t>•  Client VPN – OpenVPN connection from your computer into your VPC</a:t>
            </a:r>
          </a:p>
          <a:p>
            <a:pPr>
              <a:spcAft>
                <a:spcPts val="1000"/>
              </a:spcAft>
            </a:pPr>
            <a:r>
              <a:rPr sz="1800" b="0">
                <a:solidFill>
                  <a:srgbClr val="161B26"/>
                </a:solidFill>
                <a:latin typeface="Arial"/>
              </a:rPr>
              <a:t>•  Direct Connect – direct private connection to AWS</a:t>
            </a:r>
          </a:p>
          <a:p>
            <a:pPr>
              <a:spcAft>
                <a:spcPts val="1000"/>
              </a:spcAft>
            </a:pPr>
            <a:r>
              <a:rPr sz="1800" b="0">
                <a:solidFill>
                  <a:srgbClr val="161B26"/>
                </a:solidFill>
                <a:latin typeface="Arial"/>
              </a:rPr>
              <a:t>•  Transit Gateway – Connect thousands of VPC and on-premises networks together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287</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Elastic Load Balancing &amp; Auto</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Scaling Groups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288</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&amp; 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means that an application / system can handle greater loads by adapting.</a:t>
            </a:r>
          </a:p>
          <a:p>
            <a:pPr>
              <a:spcAft>
                <a:spcPts val="1000"/>
              </a:spcAft>
            </a:pPr>
            <a:r>
              <a:rPr sz="2000" b="0">
                <a:solidFill>
                  <a:srgbClr val="161B26"/>
                </a:solidFill>
                <a:latin typeface="Arial"/>
              </a:rPr>
              <a:t>•  There are two kinds of scalability:</a:t>
            </a:r>
          </a:p>
          <a:p>
            <a:pPr>
              <a:spcAft>
                <a:spcPts val="1000"/>
              </a:spcAft>
            </a:pPr>
            <a:r>
              <a:rPr sz="2000" b="0">
                <a:solidFill>
                  <a:srgbClr val="161B26"/>
                </a:solidFill>
                <a:latin typeface="Arial"/>
              </a:rPr>
              <a:t>•  Vertical Scalability</a:t>
            </a:r>
          </a:p>
          <a:p>
            <a:pPr>
              <a:spcAft>
                <a:spcPts val="1000"/>
              </a:spcAft>
            </a:pPr>
            <a:r>
              <a:rPr sz="2000" b="0">
                <a:solidFill>
                  <a:srgbClr val="161B26"/>
                </a:solidFill>
                <a:latin typeface="Arial"/>
              </a:rPr>
              <a:t>•  Horizontal Scalability (= elasticity)</a:t>
            </a:r>
          </a:p>
          <a:p>
            <a:pPr>
              <a:spcAft>
                <a:spcPts val="1000"/>
              </a:spcAft>
            </a:pPr>
            <a:r>
              <a:rPr sz="2000" b="0">
                <a:solidFill>
                  <a:srgbClr val="161B26"/>
                </a:solidFill>
                <a:latin typeface="Arial"/>
              </a:rPr>
              <a:t>•  Scalability is linked but different to High Availability</a:t>
            </a:r>
          </a:p>
          <a:p>
            <a:pPr>
              <a:spcAft>
                <a:spcPts val="1000"/>
              </a:spcAft>
            </a:pPr>
            <a:r>
              <a:rPr sz="2000" b="0">
                <a:solidFill>
                  <a:srgbClr val="161B26"/>
                </a:solidFill>
                <a:latin typeface="Arial"/>
              </a:rPr>
              <a:t>•  Let’s deep dive into the distinction, using a call center as an example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289</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Vertical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52683" y="1801368"/>
            <a:ext cx="345615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91_0.png"/>
          <p:cNvPicPr>
            <a:picLocks noChangeAspect="1"/>
          </p:cNvPicPr>
          <p:nvPr/>
        </p:nvPicPr>
        <p:blipFill>
          <a:blip r:embed="rId2"/>
          <a:stretch>
            <a:fillRect/>
          </a:stretch>
        </p:blipFill>
        <p:spPr>
          <a:xfrm>
            <a:off x="4380115" y="1828800"/>
            <a:ext cx="340129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Vertical Scalability means increasing the size of the instance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Horizontal Scalability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759734" y="1801368"/>
            <a:ext cx="264205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92_0.png"/>
          <p:cNvPicPr>
            <a:picLocks noChangeAspect="1"/>
          </p:cNvPicPr>
          <p:nvPr/>
        </p:nvPicPr>
        <p:blipFill>
          <a:blip r:embed="rId2"/>
          <a:stretch>
            <a:fillRect/>
          </a:stretch>
        </p:blipFill>
        <p:spPr>
          <a:xfrm>
            <a:off x="4787166" y="1828800"/>
            <a:ext cx="258718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Horizontal Scalability means increasing the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291</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65205" y="1801368"/>
            <a:ext cx="34311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93_0.png"/>
          <p:cNvPicPr>
            <a:picLocks noChangeAspect="1"/>
          </p:cNvPicPr>
          <p:nvPr/>
        </p:nvPicPr>
        <p:blipFill>
          <a:blip r:embed="rId2"/>
          <a:stretch>
            <a:fillRect/>
          </a:stretch>
        </p:blipFill>
        <p:spPr>
          <a:xfrm>
            <a:off x="4392637" y="1828800"/>
            <a:ext cx="337624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High Availability usually goes hand in hand with horizontal scaling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292</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High Availability &amp; Scalability For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Vertical Scaling: Increase instance size (= scale up / down)</a:t>
            </a:r>
          </a:p>
          <a:p>
            <a:pPr>
              <a:spcAft>
                <a:spcPts val="1000"/>
              </a:spcAft>
            </a:pPr>
            <a:r>
              <a:rPr sz="1800" b="0">
                <a:solidFill>
                  <a:srgbClr val="161B26"/>
                </a:solidFill>
                <a:latin typeface="Arial"/>
              </a:rPr>
              <a:t>•  From: t2.nano - 0.5G of RAM, 1 vCPU</a:t>
            </a:r>
          </a:p>
          <a:p>
            <a:pPr>
              <a:spcAft>
                <a:spcPts val="1000"/>
              </a:spcAft>
            </a:pPr>
            <a:r>
              <a:rPr sz="1800" b="0">
                <a:solidFill>
                  <a:srgbClr val="161B26"/>
                </a:solidFill>
                <a:latin typeface="Arial"/>
              </a:rPr>
              <a:t>•  To: u-12tb1.metal – 12.3 TB of RAM, 448 vCPUs</a:t>
            </a:r>
          </a:p>
          <a:p>
            <a:pPr>
              <a:spcAft>
                <a:spcPts val="1000"/>
              </a:spcAft>
            </a:pPr>
            <a:r>
              <a:rPr sz="1800" b="0">
                <a:solidFill>
                  <a:srgbClr val="161B26"/>
                </a:solidFill>
                <a:latin typeface="Arial"/>
              </a:rPr>
              <a:t>•  Horizontal Scaling: Increase number of instances (= scale out / in)</a:t>
            </a:r>
          </a:p>
          <a:p>
            <a:pPr>
              <a:spcAft>
                <a:spcPts val="1000"/>
              </a:spcAft>
            </a:pPr>
            <a:r>
              <a:rPr sz="1800" b="0">
                <a:solidFill>
                  <a:srgbClr val="161B26"/>
                </a:solidFill>
                <a:latin typeface="Arial"/>
              </a:rPr>
              <a:t>•  Auto Scaling Group</a:t>
            </a:r>
          </a:p>
          <a:p>
            <a:pPr>
              <a:spcAft>
                <a:spcPts val="1000"/>
              </a:spcAft>
            </a:pPr>
            <a:r>
              <a:rPr sz="1800" b="0">
                <a:solidFill>
                  <a:srgbClr val="161B26"/>
                </a:solidFill>
                <a:latin typeface="Arial"/>
              </a:rPr>
              <a:t>•  Load Balancer</a:t>
            </a:r>
          </a:p>
          <a:p>
            <a:pPr>
              <a:spcAft>
                <a:spcPts val="1000"/>
              </a:spcAft>
            </a:pPr>
            <a:r>
              <a:rPr sz="1800" b="0">
                <a:solidFill>
                  <a:srgbClr val="161B26"/>
                </a:solidFill>
                <a:latin typeface="Arial"/>
              </a:rPr>
              <a:t>•  High Availability: Run instances for the same application across multi AZ</a:t>
            </a:r>
          </a:p>
          <a:p>
            <a:pPr>
              <a:spcAft>
                <a:spcPts val="1000"/>
              </a:spcAft>
            </a:pPr>
            <a:r>
              <a:rPr sz="1800" b="0">
                <a:solidFill>
                  <a:srgbClr val="161B26"/>
                </a:solidFill>
                <a:latin typeface="Arial"/>
              </a:rPr>
              <a:t>•  Auto Scaling Group multi AZ</a:t>
            </a:r>
          </a:p>
          <a:p>
            <a:pPr>
              <a:spcAft>
                <a:spcPts val="1000"/>
              </a:spcAft>
            </a:pPr>
            <a:r>
              <a:rPr sz="1800" b="0">
                <a:solidFill>
                  <a:srgbClr val="161B26"/>
                </a:solidFill>
                <a:latin typeface="Arial"/>
              </a:rPr>
              <a:t>•  Load Balancer multi AZ</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293</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Scalability vs Elasticity (vs Agility)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Scalability: ability to accommodate a larger load by making the hardware stronger (scale up), or by adding nodes (scale out)</a:t>
            </a:r>
          </a:p>
          <a:p>
            <a:pPr>
              <a:spcAft>
                <a:spcPts val="1000"/>
              </a:spcAft>
            </a:pPr>
            <a:r>
              <a:rPr sz="2000" b="0">
                <a:solidFill>
                  <a:srgbClr val="161B26"/>
                </a:solidFill>
                <a:latin typeface="Arial"/>
              </a:rPr>
              <a:t>•  Elasticity: once a system is scalable, elasticity means that there will be some “auto-scaling” so that the system can scale based on the load. This is “cloud-friendly”: pay-per-use, match demand, optimize costs</a:t>
            </a:r>
          </a:p>
          <a:p>
            <a:pPr>
              <a:spcAft>
                <a:spcPts val="1000"/>
              </a:spcAft>
            </a:pPr>
            <a:r>
              <a:rPr sz="2000" b="0">
                <a:solidFill>
                  <a:srgbClr val="161B26"/>
                </a:solidFill>
                <a:latin typeface="Arial"/>
              </a:rPr>
              <a:t>•  Agility: (not related to scalability - distractor) new IT resources are only a click away, which means that you reduce the time to make those resources available to your developers from weeks to just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294</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is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8809" y="1801368"/>
            <a:ext cx="990390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96_0.png"/>
          <p:cNvPicPr>
            <a:picLocks noChangeAspect="1"/>
          </p:cNvPicPr>
          <p:nvPr/>
        </p:nvPicPr>
        <p:blipFill>
          <a:blip r:embed="rId2"/>
          <a:stretch>
            <a:fillRect/>
          </a:stretch>
        </p:blipFill>
        <p:spPr>
          <a:xfrm>
            <a:off x="1156241" y="1828800"/>
            <a:ext cx="984903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Load balancers are servers that forward internet traffic to multiple servers (EC2 Instances) downstream.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295</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use an Elastic Load Balancer?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 ELB (Elastic Load Balancer) is a managed load balancer</a:t>
            </a:r>
          </a:p>
          <a:p>
            <a:pPr>
              <a:spcAft>
                <a:spcPts val="1000"/>
              </a:spcAft>
            </a:pPr>
            <a:r>
              <a:rPr sz="1800" b="0">
                <a:solidFill>
                  <a:srgbClr val="161B26"/>
                </a:solidFill>
                <a:latin typeface="Arial"/>
              </a:rPr>
              <a:t>•  AWS guarantees that it will be working</a:t>
            </a:r>
          </a:p>
          <a:p>
            <a:pPr>
              <a:spcAft>
                <a:spcPts val="1000"/>
              </a:spcAft>
            </a:pPr>
            <a:r>
              <a:rPr sz="1800" b="0">
                <a:solidFill>
                  <a:srgbClr val="161B26"/>
                </a:solidFill>
                <a:latin typeface="Arial"/>
              </a:rPr>
              <a:t>•  AWS takes care of upgrades, maintenance, high availability</a:t>
            </a:r>
          </a:p>
          <a:p>
            <a:pPr>
              <a:spcAft>
                <a:spcPts val="1000"/>
              </a:spcAft>
            </a:pPr>
            <a:r>
              <a:rPr sz="1800" b="0">
                <a:solidFill>
                  <a:srgbClr val="161B26"/>
                </a:solidFill>
                <a:latin typeface="Arial"/>
              </a:rPr>
              <a:t>•  AWS provides only a few configuration knobs</a:t>
            </a:r>
          </a:p>
          <a:p>
            <a:pPr>
              <a:spcAft>
                <a:spcPts val="1000"/>
              </a:spcAft>
            </a:pPr>
            <a:r>
              <a:rPr sz="1800" b="0">
                <a:solidFill>
                  <a:srgbClr val="161B26"/>
                </a:solidFill>
                <a:latin typeface="Arial"/>
              </a:rPr>
              <a:t>•  It costs less to setup your own load balancer but it will be a lot more effort on your end (maintenance, integrations)</a:t>
            </a:r>
          </a:p>
          <a:p>
            <a:pPr>
              <a:spcAft>
                <a:spcPts val="1000"/>
              </a:spcAft>
            </a:pPr>
            <a:r>
              <a:rPr sz="1800" b="0">
                <a:solidFill>
                  <a:srgbClr val="161B26"/>
                </a:solidFill>
                <a:latin typeface="Arial"/>
              </a:rPr>
              <a:t>•  4 kinds of load balancers offered by AWS:</a:t>
            </a:r>
          </a:p>
          <a:p>
            <a:pPr>
              <a:spcAft>
                <a:spcPts val="1000"/>
              </a:spcAft>
            </a:pPr>
            <a:r>
              <a:rPr sz="1800" b="0">
                <a:solidFill>
                  <a:srgbClr val="161B26"/>
                </a:solidFill>
                <a:latin typeface="Arial"/>
              </a:rPr>
              <a:t>•  Application Load Balancer (HTTP / HTTPS only) – Layer 7</a:t>
            </a:r>
          </a:p>
          <a:p>
            <a:pPr>
              <a:spcAft>
                <a:spcPts val="1000"/>
              </a:spcAft>
            </a:pPr>
            <a:r>
              <a:rPr sz="1800" b="0">
                <a:solidFill>
                  <a:srgbClr val="161B26"/>
                </a:solidFill>
                <a:latin typeface="Arial"/>
              </a:rPr>
              <a:t>•  Network Load Balancer (ultra-high performance, allows for TCP) – Layer 4</a:t>
            </a:r>
          </a:p>
          <a:p>
            <a:pPr>
              <a:spcAft>
                <a:spcPts val="1000"/>
              </a:spcAft>
            </a:pPr>
            <a:r>
              <a:rPr sz="1800" b="0">
                <a:solidFill>
                  <a:srgbClr val="161B26"/>
                </a:solidFill>
                <a:latin typeface="Arial"/>
              </a:rPr>
              <a:t>•  Gateway Load Balancer – Layer 3</a:t>
            </a:r>
          </a:p>
          <a:p>
            <a:pPr>
              <a:spcAft>
                <a:spcPts val="1000"/>
              </a:spcAft>
            </a:pPr>
            <a:r>
              <a:rPr sz="1800" b="0">
                <a:solidFill>
                  <a:srgbClr val="161B26"/>
                </a:solidFill>
                <a:latin typeface="Arial"/>
              </a:rPr>
              <a:t>•  Classic Load Balancer (retired in 2023) – Layer 4 &amp; 7</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296</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7139" y="1801368"/>
            <a:ext cx="90072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298_0.png"/>
          <p:cNvPicPr>
            <a:picLocks noChangeAspect="1"/>
          </p:cNvPicPr>
          <p:nvPr/>
        </p:nvPicPr>
        <p:blipFill>
          <a:blip r:embed="rId2"/>
          <a:stretch>
            <a:fillRect/>
          </a:stretch>
        </p:blipFill>
        <p:spPr>
          <a:xfrm>
            <a:off x="1604571" y="1828800"/>
            <a:ext cx="89523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297</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What’s an Auto Scaling Group?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 real-life, the load on your websites and application can change</a:t>
            </a:r>
          </a:p>
          <a:p>
            <a:pPr>
              <a:spcAft>
                <a:spcPts val="1000"/>
              </a:spcAft>
            </a:pPr>
            <a:r>
              <a:rPr sz="1800" b="0">
                <a:solidFill>
                  <a:srgbClr val="161B26"/>
                </a:solidFill>
                <a:latin typeface="Arial"/>
              </a:rPr>
              <a:t>•  In the cloud, you can create and get rid of servers very quickly</a:t>
            </a:r>
          </a:p>
          <a:p>
            <a:pPr>
              <a:spcAft>
                <a:spcPts val="1000"/>
              </a:spcAft>
            </a:pPr>
            <a:r>
              <a:rPr sz="1800" b="0">
                <a:solidFill>
                  <a:srgbClr val="161B26"/>
                </a:solidFill>
                <a:latin typeface="Arial"/>
              </a:rPr>
              <a:t>•  The goal of an Auto Scaling Group (ASG) is to:</a:t>
            </a:r>
          </a:p>
          <a:p>
            <a:pPr>
              <a:spcAft>
                <a:spcPts val="1000"/>
              </a:spcAft>
            </a:pPr>
            <a:r>
              <a:rPr sz="1800" b="0">
                <a:solidFill>
                  <a:srgbClr val="161B26"/>
                </a:solidFill>
                <a:latin typeface="Arial"/>
              </a:rPr>
              <a:t>•  Scale out (add EC2 instances) to match an increased load</a:t>
            </a:r>
          </a:p>
          <a:p>
            <a:pPr>
              <a:spcAft>
                <a:spcPts val="1000"/>
              </a:spcAft>
            </a:pPr>
            <a:r>
              <a:rPr sz="1800" b="0">
                <a:solidFill>
                  <a:srgbClr val="161B26"/>
                </a:solidFill>
                <a:latin typeface="Arial"/>
              </a:rPr>
              <a:t>•  Scale in (remove EC2 instances) to match a decreased load</a:t>
            </a:r>
          </a:p>
          <a:p>
            <a:pPr>
              <a:spcAft>
                <a:spcPts val="1000"/>
              </a:spcAft>
            </a:pPr>
            <a:r>
              <a:rPr sz="1800" b="0">
                <a:solidFill>
                  <a:srgbClr val="161B26"/>
                </a:solidFill>
                <a:latin typeface="Arial"/>
              </a:rPr>
              <a:t>•  Ensure we have a minimum and a maximum number of machines running</a:t>
            </a:r>
          </a:p>
          <a:p>
            <a:pPr>
              <a:spcAft>
                <a:spcPts val="1000"/>
              </a:spcAft>
            </a:pPr>
            <a:r>
              <a:rPr sz="1800" b="0">
                <a:solidFill>
                  <a:srgbClr val="161B26"/>
                </a:solidFill>
                <a:latin typeface="Arial"/>
              </a:rPr>
              <a:t>•  Automatically register new instances to a load balancer</a:t>
            </a:r>
          </a:p>
          <a:p>
            <a:pPr>
              <a:spcAft>
                <a:spcPts val="1000"/>
              </a:spcAft>
            </a:pPr>
            <a:r>
              <a:rPr sz="1800" b="0">
                <a:solidFill>
                  <a:srgbClr val="161B26"/>
                </a:solidFill>
                <a:latin typeface="Arial"/>
              </a:rPr>
              <a:t>•  Replace unhealthy instances</a:t>
            </a:r>
          </a:p>
          <a:p>
            <a:pPr>
              <a:spcAft>
                <a:spcPts val="1000"/>
              </a:spcAft>
            </a:pPr>
            <a:r>
              <a:rPr sz="1800" b="0">
                <a:solidFill>
                  <a:srgbClr val="161B26"/>
                </a:solidFill>
                <a:latin typeface="Arial"/>
              </a:rPr>
              <a:t>•  Cost Savings: only run at an optimal capacity (principle of the 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298</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7172"/>
            <a:ext cx="10479024" cy="452381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00_0.png"/>
          <p:cNvPicPr>
            <a:picLocks noChangeAspect="1"/>
          </p:cNvPicPr>
          <p:nvPr/>
        </p:nvPicPr>
        <p:blipFill>
          <a:blip r:embed="rId2"/>
          <a:stretch>
            <a:fillRect/>
          </a:stretch>
        </p:blipFill>
        <p:spPr>
          <a:xfrm>
            <a:off x="868680" y="1834604"/>
            <a:ext cx="10424160" cy="4468951"/>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299</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Elastic Load Balancing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817174" y="1801368"/>
            <a:ext cx="452717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01_0.png"/>
          <p:cNvPicPr>
            <a:picLocks noChangeAspect="1"/>
          </p:cNvPicPr>
          <p:nvPr/>
        </p:nvPicPr>
        <p:blipFill>
          <a:blip r:embed="rId2"/>
          <a:stretch>
            <a:fillRect/>
          </a:stretch>
        </p:blipFill>
        <p:spPr>
          <a:xfrm>
            <a:off x="3844606" y="1828800"/>
            <a:ext cx="447230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08333" y="1801368"/>
            <a:ext cx="954485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02_0.png"/>
          <p:cNvPicPr>
            <a:picLocks noChangeAspect="1"/>
          </p:cNvPicPr>
          <p:nvPr/>
        </p:nvPicPr>
        <p:blipFill>
          <a:blip r:embed="rId2"/>
          <a:stretch>
            <a:fillRect/>
          </a:stretch>
        </p:blipFill>
        <p:spPr>
          <a:xfrm>
            <a:off x="1335765" y="1828800"/>
            <a:ext cx="948998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With Load Balancer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301</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Manual Scaling: Update the size of an ASG manually</a:t>
            </a:r>
          </a:p>
          <a:p>
            <a:pPr>
              <a:spcAft>
                <a:spcPts val="1000"/>
              </a:spcAft>
            </a:pPr>
            <a:r>
              <a:rPr sz="1800" b="0">
                <a:solidFill>
                  <a:srgbClr val="161B26"/>
                </a:solidFill>
                <a:latin typeface="Arial"/>
              </a:rPr>
              <a:t>•  Dynamic Scaling: Respond to changing demand</a:t>
            </a:r>
          </a:p>
          <a:p>
            <a:pPr>
              <a:spcAft>
                <a:spcPts val="1000"/>
              </a:spcAft>
            </a:pPr>
            <a:r>
              <a:rPr sz="1800" b="0">
                <a:solidFill>
                  <a:srgbClr val="161B26"/>
                </a:solidFill>
                <a:latin typeface="Arial"/>
              </a:rPr>
              <a:t>•  Simple / Step Scaling</a:t>
            </a:r>
          </a:p>
          <a:p>
            <a:pPr>
              <a:spcAft>
                <a:spcPts val="1000"/>
              </a:spcAft>
            </a:pPr>
            <a:r>
              <a:rPr sz="1800" b="0">
                <a:solidFill>
                  <a:srgbClr val="161B26"/>
                </a:solidFill>
                <a:latin typeface="Arial"/>
              </a:rPr>
              <a:t>•  When a CloudWatch alarm is triggered (example CPU &gt; 70%), then add 2 units</a:t>
            </a:r>
          </a:p>
          <a:p>
            <a:pPr>
              <a:spcAft>
                <a:spcPts val="1000"/>
              </a:spcAft>
            </a:pPr>
            <a:r>
              <a:rPr sz="1800" b="0">
                <a:solidFill>
                  <a:srgbClr val="161B26"/>
                </a:solidFill>
                <a:latin typeface="Arial"/>
              </a:rPr>
              <a:t>•  When a CloudWatch alarm is triggered (example CPU &lt; 30%), then remove 1</a:t>
            </a:r>
          </a:p>
          <a:p>
            <a:pPr>
              <a:spcAft>
                <a:spcPts val="1000"/>
              </a:spcAft>
            </a:pPr>
            <a:r>
              <a:rPr sz="1800" b="0">
                <a:solidFill>
                  <a:srgbClr val="161B26"/>
                </a:solidFill>
                <a:latin typeface="Arial"/>
              </a:rPr>
              <a:t>•  Target Tracking Scaling</a:t>
            </a:r>
          </a:p>
          <a:p>
            <a:pPr>
              <a:spcAft>
                <a:spcPts val="1000"/>
              </a:spcAft>
            </a:pPr>
            <a:r>
              <a:rPr sz="1800" b="0">
                <a:solidFill>
                  <a:srgbClr val="161B26"/>
                </a:solidFill>
                <a:latin typeface="Arial"/>
              </a:rPr>
              <a:t>•  Example: I want the average ASG CPU to stay at around 40%</a:t>
            </a:r>
          </a:p>
          <a:p>
            <a:pPr>
              <a:spcAft>
                <a:spcPts val="1000"/>
              </a:spcAft>
            </a:pPr>
            <a:r>
              <a:rPr sz="1800" b="0">
                <a:solidFill>
                  <a:srgbClr val="161B26"/>
                </a:solidFill>
                <a:latin typeface="Arial"/>
              </a:rPr>
              <a:t>•  Scheduled Scaling</a:t>
            </a:r>
          </a:p>
          <a:p>
            <a:pPr>
              <a:spcAft>
                <a:spcPts val="1000"/>
              </a:spcAft>
            </a:pPr>
            <a:r>
              <a:rPr sz="1800" b="0">
                <a:solidFill>
                  <a:srgbClr val="161B26"/>
                </a:solidFill>
                <a:latin typeface="Arial"/>
              </a:rPr>
              <a:t>•  Anticipate a scaling based on known usage patterns</a:t>
            </a:r>
          </a:p>
          <a:p>
            <a:pPr>
              <a:spcAft>
                <a:spcPts val="1000"/>
              </a:spcAft>
            </a:pPr>
            <a:r>
              <a:rPr sz="1800" b="0">
                <a:solidFill>
                  <a:srgbClr val="161B26"/>
                </a:solidFill>
                <a:latin typeface="Arial"/>
              </a:rPr>
              <a:t>•  Example: increase the min. capacity to 10 at 5 pm on Fridays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302</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Auto Scaling Groups – Scaling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61607" y="1801368"/>
            <a:ext cx="62383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04_0.png"/>
          <p:cNvPicPr>
            <a:picLocks noChangeAspect="1"/>
          </p:cNvPicPr>
          <p:nvPr/>
        </p:nvPicPr>
        <p:blipFill>
          <a:blip r:embed="rId2"/>
          <a:stretch>
            <a:fillRect/>
          </a:stretch>
        </p:blipFill>
        <p:spPr>
          <a:xfrm>
            <a:off x="2989039" y="1828800"/>
            <a:ext cx="61834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Predictive Scaling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5</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ELB &amp; ASG –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High Availability vs Scalability (vertical and horizontal) vs Elasticity vs Agility in the Cloud</a:t>
            </a:r>
          </a:p>
          <a:p>
            <a:pPr>
              <a:spcAft>
                <a:spcPts val="1000"/>
              </a:spcAft>
            </a:pPr>
            <a:r>
              <a:rPr sz="1800" b="0">
                <a:solidFill>
                  <a:srgbClr val="161B26"/>
                </a:solidFill>
                <a:latin typeface="Arial"/>
              </a:rPr>
              <a:t>•  Elastic Load Balancers (ELB)</a:t>
            </a:r>
          </a:p>
          <a:p>
            <a:pPr>
              <a:spcAft>
                <a:spcPts val="1000"/>
              </a:spcAft>
            </a:pPr>
            <a:r>
              <a:rPr sz="1800" b="0">
                <a:solidFill>
                  <a:srgbClr val="161B26"/>
                </a:solidFill>
                <a:latin typeface="Arial"/>
              </a:rPr>
              <a:t>•  Distribute traffic across backend EC2 instances, can be Multi-AZ</a:t>
            </a:r>
          </a:p>
          <a:p>
            <a:pPr>
              <a:spcAft>
                <a:spcPts val="1000"/>
              </a:spcAft>
            </a:pPr>
            <a:r>
              <a:rPr sz="1800" b="0">
                <a:solidFill>
                  <a:srgbClr val="161B26"/>
                </a:solidFill>
                <a:latin typeface="Arial"/>
              </a:rPr>
              <a:t>•  Supports health checks</a:t>
            </a:r>
          </a:p>
          <a:p>
            <a:pPr>
              <a:spcAft>
                <a:spcPts val="1000"/>
              </a:spcAft>
            </a:pPr>
            <a:r>
              <a:rPr sz="1800" b="0">
                <a:solidFill>
                  <a:srgbClr val="161B26"/>
                </a:solidFill>
                <a:latin typeface="Arial"/>
              </a:rPr>
              <a:t>•  4 types: Classic (old), Application (HTTP – L7), Network (TCP – L4), Gateway (L3)</a:t>
            </a:r>
          </a:p>
          <a:p>
            <a:pPr>
              <a:spcAft>
                <a:spcPts val="1000"/>
              </a:spcAft>
            </a:pPr>
            <a:r>
              <a:rPr sz="1800" b="0">
                <a:solidFill>
                  <a:srgbClr val="161B26"/>
                </a:solidFill>
                <a:latin typeface="Arial"/>
              </a:rPr>
              <a:t>•  Auto Scaling Groups (ASG)</a:t>
            </a:r>
          </a:p>
          <a:p>
            <a:pPr>
              <a:spcAft>
                <a:spcPts val="1000"/>
              </a:spcAft>
            </a:pPr>
            <a:r>
              <a:rPr sz="1800" b="0">
                <a:solidFill>
                  <a:srgbClr val="161B26"/>
                </a:solidFill>
                <a:latin typeface="Arial"/>
              </a:rPr>
              <a:t>•  Implement Elasticity for your application, across multiple AZ</a:t>
            </a:r>
          </a:p>
          <a:p>
            <a:pPr>
              <a:spcAft>
                <a:spcPts val="1000"/>
              </a:spcAft>
            </a:pPr>
            <a:r>
              <a:rPr sz="1800" b="0">
                <a:solidFill>
                  <a:srgbClr val="161B26"/>
                </a:solidFill>
                <a:latin typeface="Arial"/>
              </a:rPr>
              <a:t>•  Scale EC2 instances based on the demand on your system, replace unhealthy</a:t>
            </a:r>
          </a:p>
          <a:p>
            <a:pPr>
              <a:spcAft>
                <a:spcPts val="1000"/>
              </a:spcAft>
            </a:pPr>
            <a:r>
              <a:rPr sz="1800" b="0">
                <a:solidFill>
                  <a:srgbClr val="161B26"/>
                </a:solidFill>
                <a:latin typeface="Arial"/>
              </a:rPr>
              <a:t>•  Integrated with the ELB</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304</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GLOBAL INFRASTRUCTURE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Global Infrastructure</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305</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Why make a global application?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 global application is an application deployed in multiple geographies</a:t>
            </a:r>
          </a:p>
          <a:p>
            <a:pPr>
              <a:spcAft>
                <a:spcPts val="1000"/>
              </a:spcAft>
            </a:pPr>
            <a:r>
              <a:rPr sz="1800" b="0">
                <a:solidFill>
                  <a:srgbClr val="161B26"/>
                </a:solidFill>
                <a:latin typeface="Arial"/>
              </a:rPr>
              <a:t>•  On AWS: this could be Regions and / or Edge Locations</a:t>
            </a:r>
          </a:p>
          <a:p>
            <a:pPr>
              <a:spcAft>
                <a:spcPts val="1000"/>
              </a:spcAft>
            </a:pPr>
            <a:r>
              <a:rPr sz="1800" b="0">
                <a:solidFill>
                  <a:srgbClr val="161B26"/>
                </a:solidFill>
                <a:latin typeface="Arial"/>
              </a:rPr>
              <a:t>•  Decreased Latency</a:t>
            </a:r>
          </a:p>
          <a:p>
            <a:pPr>
              <a:spcAft>
                <a:spcPts val="1000"/>
              </a:spcAft>
            </a:pPr>
            <a:r>
              <a:rPr sz="1800" b="0">
                <a:solidFill>
                  <a:srgbClr val="161B26"/>
                </a:solidFill>
                <a:latin typeface="Arial"/>
              </a:rPr>
              <a:t>•  Latency is the time it takes for a network packet to reach a server</a:t>
            </a:r>
          </a:p>
          <a:p>
            <a:pPr>
              <a:spcAft>
                <a:spcPts val="1000"/>
              </a:spcAft>
            </a:pPr>
            <a:r>
              <a:rPr sz="1800" b="0">
                <a:solidFill>
                  <a:srgbClr val="161B26"/>
                </a:solidFill>
                <a:latin typeface="Arial"/>
              </a:rPr>
              <a:t>•  It takes time for a packet from Asia to reach the US</a:t>
            </a:r>
          </a:p>
          <a:p>
            <a:pPr>
              <a:spcAft>
                <a:spcPts val="1000"/>
              </a:spcAft>
            </a:pPr>
            <a:r>
              <a:rPr sz="1800" b="0">
                <a:solidFill>
                  <a:srgbClr val="161B26"/>
                </a:solidFill>
                <a:latin typeface="Arial"/>
              </a:rPr>
              <a:t>•  Deploy your applications closer to your users to decrease latency, better experience</a:t>
            </a:r>
          </a:p>
          <a:p>
            <a:pPr>
              <a:spcAft>
                <a:spcPts val="1000"/>
              </a:spcAft>
            </a:pPr>
            <a:r>
              <a:rPr sz="1800" b="0">
                <a:solidFill>
                  <a:srgbClr val="161B26"/>
                </a:solidFill>
                <a:latin typeface="Arial"/>
              </a:rPr>
              <a:t>•  Disaster Recovery (DR)</a:t>
            </a:r>
          </a:p>
          <a:p>
            <a:pPr>
              <a:spcAft>
                <a:spcPts val="1000"/>
              </a:spcAft>
            </a:pPr>
            <a:r>
              <a:rPr sz="1800" b="0">
                <a:solidFill>
                  <a:srgbClr val="161B26"/>
                </a:solidFill>
                <a:latin typeface="Arial"/>
              </a:rPr>
              <a:t>•  If an AWS region goes down (earthquake, storms, power shutdown, politics)…</a:t>
            </a:r>
          </a:p>
          <a:p>
            <a:pPr>
              <a:spcAft>
                <a:spcPts val="1000"/>
              </a:spcAft>
            </a:pPr>
            <a:r>
              <a:rPr sz="1800" b="0">
                <a:solidFill>
                  <a:srgbClr val="161B26"/>
                </a:solidFill>
                <a:latin typeface="Arial"/>
              </a:rPr>
              <a:t>•  You can fail-over to another region and have your application still working</a:t>
            </a:r>
          </a:p>
          <a:p>
            <a:pPr>
              <a:spcAft>
                <a:spcPts val="1000"/>
              </a:spcAft>
            </a:pPr>
            <a:r>
              <a:rPr sz="1800" b="0">
                <a:solidFill>
                  <a:srgbClr val="161B26"/>
                </a:solidFill>
                <a:latin typeface="Arial"/>
              </a:rPr>
              <a:t>•  A DR plan is important to increase the availability of your application</a:t>
            </a:r>
          </a:p>
          <a:p>
            <a:pPr>
              <a:spcAft>
                <a:spcPts val="1000"/>
              </a:spcAft>
            </a:pPr>
            <a:r>
              <a:rPr sz="1800" b="0">
                <a:solidFill>
                  <a:srgbClr val="161B26"/>
                </a:solidFill>
                <a:latin typeface="Arial"/>
              </a:rPr>
              <a:t>•  Attack protection: distributed global infrastructure is harder to attack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306</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AWS Infrastructure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55012" y="1801368"/>
            <a:ext cx="725149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08_0.png"/>
          <p:cNvPicPr>
            <a:picLocks noChangeAspect="1"/>
          </p:cNvPicPr>
          <p:nvPr/>
        </p:nvPicPr>
        <p:blipFill>
          <a:blip r:embed="rId2"/>
          <a:stretch>
            <a:fillRect/>
          </a:stretch>
        </p:blipFill>
        <p:spPr>
          <a:xfrm>
            <a:off x="2482444" y="1828800"/>
            <a:ext cx="719663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Regions: For deploying applications and infrastructure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307</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DNS: Route 53</a:t>
            </a:r>
          </a:p>
          <a:p>
            <a:pPr>
              <a:spcAft>
                <a:spcPts val="1000"/>
              </a:spcAft>
            </a:pPr>
            <a:r>
              <a:rPr sz="1800" b="0">
                <a:solidFill>
                  <a:srgbClr val="161B26"/>
                </a:solidFill>
                <a:latin typeface="Arial"/>
              </a:rPr>
              <a:t>•  Great to route users to the closest deployment with least latency</a:t>
            </a:r>
          </a:p>
          <a:p>
            <a:pPr>
              <a:spcAft>
                <a:spcPts val="1000"/>
              </a:spcAft>
            </a:pPr>
            <a:r>
              <a:rPr sz="1800" b="0">
                <a:solidFill>
                  <a:srgbClr val="161B26"/>
                </a:solidFill>
                <a:latin typeface="Arial"/>
              </a:rPr>
              <a:t>•  Great for disaster recovery strategies</a:t>
            </a:r>
          </a:p>
          <a:p>
            <a:pPr>
              <a:spcAft>
                <a:spcPts val="1000"/>
              </a:spcAft>
            </a:pPr>
            <a:r>
              <a:rPr sz="1800" b="0">
                <a:solidFill>
                  <a:srgbClr val="161B26"/>
                </a:solidFill>
                <a:latin typeface="Arial"/>
              </a:rPr>
              <a:t>•  Global Content Delivery Network (CDN): CloudFront</a:t>
            </a:r>
          </a:p>
          <a:p>
            <a:pPr>
              <a:spcAft>
                <a:spcPts val="1000"/>
              </a:spcAft>
            </a:pPr>
            <a:r>
              <a:rPr sz="1800" b="0">
                <a:solidFill>
                  <a:srgbClr val="161B26"/>
                </a:solidFill>
                <a:latin typeface="Arial"/>
              </a:rPr>
              <a:t>•  Replicate part of your application to AWS Edge Locations – decrease latency</a:t>
            </a:r>
          </a:p>
          <a:p>
            <a:pPr>
              <a:spcAft>
                <a:spcPts val="1000"/>
              </a:spcAft>
            </a:pPr>
            <a:r>
              <a:rPr sz="1800" b="0">
                <a:solidFill>
                  <a:srgbClr val="161B26"/>
                </a:solidFill>
                <a:latin typeface="Arial"/>
              </a:rPr>
              <a:t>•  Cache common requests – improved user experience and decreased latency</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Accelerate global uploads &amp; downloads into Amazon S3</a:t>
            </a:r>
          </a:p>
          <a:p>
            <a:pPr>
              <a:spcAft>
                <a:spcPts val="1000"/>
              </a:spcAft>
            </a:pPr>
            <a:r>
              <a:rPr sz="1800" b="0">
                <a:solidFill>
                  <a:srgbClr val="161B26"/>
                </a:solidFill>
                <a:latin typeface="Arial"/>
              </a:rPr>
              <a:t>•  AWS Global Accelerator:</a:t>
            </a:r>
          </a:p>
          <a:p>
            <a:pPr>
              <a:spcAft>
                <a:spcPts val="1000"/>
              </a:spcAft>
            </a:pPr>
            <a:r>
              <a:rPr sz="1800" b="0">
                <a:solidFill>
                  <a:srgbClr val="161B26"/>
                </a:solidFill>
                <a:latin typeface="Arial"/>
              </a:rPr>
              <a:t>•  Improve global application availability and performance using the AWS global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308</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Route 53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Route53 is a Managed DNS (Domain Name System)</a:t>
            </a:r>
          </a:p>
          <a:p>
            <a:pPr>
              <a:spcAft>
                <a:spcPts val="1000"/>
              </a:spcAft>
            </a:pPr>
            <a:r>
              <a:rPr sz="1800" b="0">
                <a:solidFill>
                  <a:srgbClr val="161B26"/>
                </a:solidFill>
                <a:latin typeface="Arial"/>
              </a:rPr>
              <a:t>•  DNS is a collection of rules and records which helps clients understand how to reach a server through URLs.</a:t>
            </a:r>
          </a:p>
          <a:p>
            <a:pPr>
              <a:spcAft>
                <a:spcPts val="1000"/>
              </a:spcAft>
            </a:pPr>
            <a:r>
              <a:rPr sz="1800" b="0">
                <a:solidFill>
                  <a:srgbClr val="161B26"/>
                </a:solidFill>
                <a:latin typeface="Arial"/>
              </a:rPr>
              <a:t>•  In AWS, the most common records are:</a:t>
            </a:r>
          </a:p>
          <a:p>
            <a:pPr>
              <a:spcAft>
                <a:spcPts val="1000"/>
              </a:spcAft>
            </a:pPr>
            <a:r>
              <a:rPr sz="1800" b="0">
                <a:solidFill>
                  <a:srgbClr val="161B26"/>
                </a:solidFill>
                <a:latin typeface="Arial"/>
              </a:rPr>
              <a:t>•  www.google.com =&gt; 12.34.56.78 == A record (IPv4)</a:t>
            </a:r>
          </a:p>
          <a:p>
            <a:pPr>
              <a:spcAft>
                <a:spcPts val="1000"/>
              </a:spcAft>
            </a:pPr>
            <a:r>
              <a:rPr sz="1800" b="0">
                <a:solidFill>
                  <a:srgbClr val="161B26"/>
                </a:solidFill>
                <a:latin typeface="Arial"/>
              </a:rPr>
              <a:t>•  www.google.com =&gt; 2001:0db8:85a3:0000:0000:8a2e:0370:7334 == AAAA IPv6</a:t>
            </a:r>
          </a:p>
          <a:p>
            <a:pPr>
              <a:spcAft>
                <a:spcPts val="1000"/>
              </a:spcAft>
            </a:pPr>
            <a:r>
              <a:rPr sz="1800" b="0">
                <a:solidFill>
                  <a:srgbClr val="161B26"/>
                </a:solidFill>
                <a:latin typeface="Arial"/>
              </a:rPr>
              <a:t>•  search.google.com =&gt; www.google.com == CNAME: hostname to hostname</a:t>
            </a:r>
          </a:p>
          <a:p>
            <a:pPr>
              <a:spcAft>
                <a:spcPts val="1000"/>
              </a:spcAft>
            </a:pPr>
            <a:r>
              <a:rPr sz="1800" b="0">
                <a:solidFill>
                  <a:srgbClr val="161B26"/>
                </a:solidFill>
                <a:latin typeface="Arial"/>
              </a:rPr>
              <a:t>•  example.com =&gt; AWS resource == Alias (ex: ELB, CloudFront, S3, RDS, etc…)</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309</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Domain Name System (DNS)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90220"/>
            <a:ext cx="10479024" cy="39577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1_0.png"/>
          <p:cNvPicPr>
            <a:picLocks noChangeAspect="1"/>
          </p:cNvPicPr>
          <p:nvPr/>
        </p:nvPicPr>
        <p:blipFill>
          <a:blip r:embed="rId2"/>
          <a:stretch>
            <a:fillRect/>
          </a:stretch>
        </p:blipFill>
        <p:spPr>
          <a:xfrm>
            <a:off x="868680" y="2117652"/>
            <a:ext cx="10424160" cy="3902855"/>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 Diagram for A Record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46468" y="1801368"/>
            <a:ext cx="68685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2_0.png"/>
          <p:cNvPicPr>
            <a:picLocks noChangeAspect="1"/>
          </p:cNvPicPr>
          <p:nvPr/>
        </p:nvPicPr>
        <p:blipFill>
          <a:blip r:embed="rId2"/>
          <a:stretch>
            <a:fillRect/>
          </a:stretch>
        </p:blipFill>
        <p:spPr>
          <a:xfrm>
            <a:off x="2673900" y="1828800"/>
            <a:ext cx="681372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311</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Routing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3_0.png"/>
          <p:cNvPicPr>
            <a:picLocks noChangeAspect="1"/>
          </p:cNvPicPr>
          <p:nvPr/>
        </p:nvPicPr>
        <p:blipFill>
          <a:blip r:embed="rId2"/>
          <a:stretch>
            <a:fillRect/>
          </a:stretch>
        </p:blipFill>
        <p:spPr>
          <a:xfrm>
            <a:off x="868680" y="2134910"/>
            <a:ext cx="10424160" cy="386834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312</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Route 53 Routing Policies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87865"/>
            <a:ext cx="10479024" cy="41624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4_0.png"/>
          <p:cNvPicPr>
            <a:picLocks noChangeAspect="1"/>
          </p:cNvPicPr>
          <p:nvPr/>
        </p:nvPicPr>
        <p:blipFill>
          <a:blip r:embed="rId2"/>
          <a:stretch>
            <a:fillRect/>
          </a:stretch>
        </p:blipFill>
        <p:spPr>
          <a:xfrm>
            <a:off x="868680" y="2015297"/>
            <a:ext cx="10424160" cy="410756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313</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22957" y="1801368"/>
            <a:ext cx="731560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5_0.png"/>
          <p:cNvPicPr>
            <a:picLocks noChangeAspect="1"/>
          </p:cNvPicPr>
          <p:nvPr/>
        </p:nvPicPr>
        <p:blipFill>
          <a:blip r:embed="rId2"/>
          <a:stretch>
            <a:fillRect/>
          </a:stretch>
        </p:blipFill>
        <p:spPr>
          <a:xfrm>
            <a:off x="2450389" y="1828800"/>
            <a:ext cx="726074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Content Delivery Network (CDN)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314</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Origins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S3 bucket</a:t>
            </a:r>
          </a:p>
          <a:p>
            <a:pPr>
              <a:spcAft>
                <a:spcPts val="1000"/>
              </a:spcAft>
            </a:pPr>
            <a:r>
              <a:rPr sz="1800" b="0">
                <a:solidFill>
                  <a:srgbClr val="161B26"/>
                </a:solidFill>
                <a:latin typeface="Arial"/>
              </a:rPr>
              <a:t>•  For distributing files and caching them at the edge</a:t>
            </a:r>
          </a:p>
          <a:p>
            <a:pPr>
              <a:spcAft>
                <a:spcPts val="1000"/>
              </a:spcAft>
            </a:pPr>
            <a:r>
              <a:rPr sz="1800" b="0">
                <a:solidFill>
                  <a:srgbClr val="161B26"/>
                </a:solidFill>
                <a:latin typeface="Arial"/>
              </a:rPr>
              <a:t>•  Enhanced security with CloudFront Origin Access Control (OAC)</a:t>
            </a:r>
          </a:p>
          <a:p>
            <a:pPr>
              <a:spcAft>
                <a:spcPts val="1000"/>
              </a:spcAft>
            </a:pPr>
            <a:r>
              <a:rPr sz="1800" b="0">
                <a:solidFill>
                  <a:srgbClr val="161B26"/>
                </a:solidFill>
                <a:latin typeface="Arial"/>
              </a:rPr>
              <a:t>•  OAC is replacing Origin Access Identity (OAI)</a:t>
            </a:r>
          </a:p>
          <a:p>
            <a:pPr>
              <a:spcAft>
                <a:spcPts val="1000"/>
              </a:spcAft>
            </a:pPr>
            <a:r>
              <a:rPr sz="1800" b="0">
                <a:solidFill>
                  <a:srgbClr val="161B26"/>
                </a:solidFill>
                <a:latin typeface="Arial"/>
              </a:rPr>
              <a:t>•  CloudFront can be used as an ingress (to upload files to S3)</a:t>
            </a:r>
          </a:p>
          <a:p>
            <a:pPr>
              <a:spcAft>
                <a:spcPts val="1000"/>
              </a:spcAft>
            </a:pPr>
            <a:r>
              <a:rPr sz="1800" b="0">
                <a:solidFill>
                  <a:srgbClr val="161B26"/>
                </a:solidFill>
                <a:latin typeface="Arial"/>
              </a:rPr>
              <a:t>•  Custom Origin (HTTP)</a:t>
            </a:r>
          </a:p>
          <a:p>
            <a:pPr>
              <a:spcAft>
                <a:spcPts val="1000"/>
              </a:spcAft>
            </a:pPr>
            <a:r>
              <a:rPr sz="1800" b="0">
                <a:solidFill>
                  <a:srgbClr val="161B26"/>
                </a:solidFill>
                <a:latin typeface="Arial"/>
              </a:rPr>
              <a:t>•  Application Load Balancer</a:t>
            </a:r>
          </a:p>
          <a:p>
            <a:pPr>
              <a:spcAft>
                <a:spcPts val="1000"/>
              </a:spcAft>
            </a:pPr>
            <a:r>
              <a:rPr sz="1800" b="0">
                <a:solidFill>
                  <a:srgbClr val="161B26"/>
                </a:solidFill>
                <a:latin typeface="Arial"/>
              </a:rPr>
              <a:t>•  EC2 instance</a:t>
            </a:r>
          </a:p>
          <a:p>
            <a:pPr>
              <a:spcAft>
                <a:spcPts val="1000"/>
              </a:spcAft>
            </a:pPr>
            <a:r>
              <a:rPr sz="1800" b="0">
                <a:solidFill>
                  <a:srgbClr val="161B26"/>
                </a:solidFill>
                <a:latin typeface="Arial"/>
              </a:rPr>
              <a:t>•  S3 website (must first enable the bucket as a static S3 website)</a:t>
            </a:r>
          </a:p>
          <a:p>
            <a:pPr>
              <a:spcAft>
                <a:spcPts val="1000"/>
              </a:spcAft>
            </a:pPr>
            <a:r>
              <a:rPr sz="1800" b="0">
                <a:solidFill>
                  <a:srgbClr val="161B26"/>
                </a:solidFill>
                <a:latin typeface="Arial"/>
              </a:rPr>
              <a:t>•  Any HTTP backend you want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315</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at a high level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6750" y="1801368"/>
            <a:ext cx="1022802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7_0.png"/>
          <p:cNvPicPr>
            <a:picLocks noChangeAspect="1"/>
          </p:cNvPicPr>
          <p:nvPr/>
        </p:nvPicPr>
        <p:blipFill>
          <a:blip r:embed="rId2"/>
          <a:stretch>
            <a:fillRect/>
          </a:stretch>
        </p:blipFill>
        <p:spPr>
          <a:xfrm>
            <a:off x="994182" y="1828800"/>
            <a:ext cx="1017315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316</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 S3 as an Origin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3847" y="1801368"/>
            <a:ext cx="759382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18_0.png"/>
          <p:cNvPicPr>
            <a:picLocks noChangeAspect="1"/>
          </p:cNvPicPr>
          <p:nvPr/>
        </p:nvPicPr>
        <p:blipFill>
          <a:blip r:embed="rId2"/>
          <a:stretch>
            <a:fillRect/>
          </a:stretch>
        </p:blipFill>
        <p:spPr>
          <a:xfrm>
            <a:off x="2311279" y="1828800"/>
            <a:ext cx="753896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317</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CloudFront vs S3 Cross Region Replication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CloudFront:</a:t>
            </a:r>
          </a:p>
          <a:p>
            <a:pPr>
              <a:spcAft>
                <a:spcPts val="1000"/>
              </a:spcAft>
            </a:pPr>
            <a:r>
              <a:rPr sz="1800" b="0">
                <a:solidFill>
                  <a:srgbClr val="161B26"/>
                </a:solidFill>
                <a:latin typeface="Arial"/>
              </a:rPr>
              <a:t>•  Global Edge network</a:t>
            </a:r>
          </a:p>
          <a:p>
            <a:pPr>
              <a:spcAft>
                <a:spcPts val="1000"/>
              </a:spcAft>
            </a:pPr>
            <a:r>
              <a:rPr sz="1800" b="0">
                <a:solidFill>
                  <a:srgbClr val="161B26"/>
                </a:solidFill>
                <a:latin typeface="Arial"/>
              </a:rPr>
              <a:t>•  Files are cached for a TTL (maybe a day)</a:t>
            </a:r>
          </a:p>
          <a:p>
            <a:pPr>
              <a:spcAft>
                <a:spcPts val="1000"/>
              </a:spcAft>
            </a:pPr>
            <a:r>
              <a:rPr sz="1800" b="0">
                <a:solidFill>
                  <a:srgbClr val="161B26"/>
                </a:solidFill>
                <a:latin typeface="Arial"/>
              </a:rPr>
              <a:t>•  Great for static content that must be available everywhere</a:t>
            </a:r>
          </a:p>
          <a:p>
            <a:pPr>
              <a:spcAft>
                <a:spcPts val="1000"/>
              </a:spcAft>
            </a:pPr>
            <a:r>
              <a:rPr sz="1800" b="0">
                <a:solidFill>
                  <a:srgbClr val="161B26"/>
                </a:solidFill>
                <a:latin typeface="Arial"/>
              </a:rPr>
              <a:t>•  S3 Cross Region Replication:</a:t>
            </a:r>
          </a:p>
          <a:p>
            <a:pPr>
              <a:spcAft>
                <a:spcPts val="1000"/>
              </a:spcAft>
            </a:pPr>
            <a:r>
              <a:rPr sz="1800" b="0">
                <a:solidFill>
                  <a:srgbClr val="161B26"/>
                </a:solidFill>
                <a:latin typeface="Arial"/>
              </a:rPr>
              <a:t>•  Must be setup for each region you want replication to happen</a:t>
            </a:r>
          </a:p>
          <a:p>
            <a:pPr>
              <a:spcAft>
                <a:spcPts val="1000"/>
              </a:spcAft>
            </a:pPr>
            <a:r>
              <a:rPr sz="1800" b="0">
                <a:solidFill>
                  <a:srgbClr val="161B26"/>
                </a:solidFill>
                <a:latin typeface="Arial"/>
              </a:rPr>
              <a:t>•  Files are updated in near real-time</a:t>
            </a:r>
          </a:p>
          <a:p>
            <a:pPr>
              <a:spcAft>
                <a:spcPts val="1000"/>
              </a:spcAft>
            </a:pPr>
            <a:r>
              <a:rPr sz="1800" b="0">
                <a:solidFill>
                  <a:srgbClr val="161B26"/>
                </a:solidFill>
                <a:latin typeface="Arial"/>
              </a:rPr>
              <a:t>•  Read only</a:t>
            </a:r>
          </a:p>
          <a:p>
            <a:pPr>
              <a:spcAft>
                <a:spcPts val="1000"/>
              </a:spcAft>
            </a:pPr>
            <a:r>
              <a:rPr sz="1800" b="0">
                <a:solidFill>
                  <a:srgbClr val="161B26"/>
                </a:solidFill>
                <a:latin typeface="Arial"/>
              </a:rPr>
              <a:t>•  Great for dynamic content that needs to be available at low-latency in few regions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318</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S3 Transfer Acceleration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54887"/>
            <a:ext cx="10479024" cy="30283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0_0.png"/>
          <p:cNvPicPr>
            <a:picLocks noChangeAspect="1"/>
          </p:cNvPicPr>
          <p:nvPr/>
        </p:nvPicPr>
        <p:blipFill>
          <a:blip r:embed="rId2"/>
          <a:stretch>
            <a:fillRect/>
          </a:stretch>
        </p:blipFill>
        <p:spPr>
          <a:xfrm>
            <a:off x="868680" y="2582319"/>
            <a:ext cx="10424160" cy="297352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319</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933935" y="1801368"/>
            <a:ext cx="429365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1_0.png"/>
          <p:cNvPicPr>
            <a:picLocks noChangeAspect="1"/>
          </p:cNvPicPr>
          <p:nvPr/>
        </p:nvPicPr>
        <p:blipFill>
          <a:blip r:embed="rId2"/>
          <a:stretch>
            <a:fillRect/>
          </a:stretch>
        </p:blipFill>
        <p:spPr>
          <a:xfrm>
            <a:off x="3961367" y="1828800"/>
            <a:ext cx="423878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Improve global application availability and performance using the AWS global network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90365" y="1801368"/>
            <a:ext cx="998078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2_0.png"/>
          <p:cNvPicPr>
            <a:picLocks noChangeAspect="1"/>
          </p:cNvPicPr>
          <p:nvPr/>
        </p:nvPicPr>
        <p:blipFill>
          <a:blip r:embed="rId2"/>
          <a:stretch>
            <a:fillRect/>
          </a:stretch>
        </p:blipFill>
        <p:spPr>
          <a:xfrm>
            <a:off x="1117797" y="1828800"/>
            <a:ext cx="9925925"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https://aws.amazon.com/global-accelerator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321</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 vs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926109" y="1801368"/>
            <a:ext cx="830930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3_0.png"/>
          <p:cNvPicPr>
            <a:picLocks noChangeAspect="1"/>
          </p:cNvPicPr>
          <p:nvPr/>
        </p:nvPicPr>
        <p:blipFill>
          <a:blip r:embed="rId2"/>
          <a:stretch>
            <a:fillRect/>
          </a:stretch>
        </p:blipFill>
        <p:spPr>
          <a:xfrm>
            <a:off x="1953541" y="1828800"/>
            <a:ext cx="8254437"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https://speedtest.globalaccelerator.aws/#/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Global Accelerator vs CloudFront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They both use the AWS global network and its edge locations around the world</a:t>
            </a:r>
          </a:p>
          <a:p>
            <a:pPr>
              <a:spcAft>
                <a:spcPts val="1000"/>
              </a:spcAft>
            </a:pPr>
            <a:r>
              <a:rPr sz="1800" b="0">
                <a:solidFill>
                  <a:srgbClr val="161B26"/>
                </a:solidFill>
                <a:latin typeface="Arial"/>
              </a:rPr>
              <a:t>•  Both services integrate with AWS Shield for DDoS protection.</a:t>
            </a:r>
          </a:p>
          <a:p>
            <a:pPr>
              <a:spcAft>
                <a:spcPts val="1000"/>
              </a:spcAft>
            </a:pPr>
            <a:r>
              <a:rPr sz="1800" b="0">
                <a:solidFill>
                  <a:srgbClr val="161B26"/>
                </a:solidFill>
                <a:latin typeface="Arial"/>
              </a:rPr>
              <a:t>•  CloudFront – Content Delivery Network</a:t>
            </a:r>
          </a:p>
          <a:p>
            <a:pPr>
              <a:spcAft>
                <a:spcPts val="1000"/>
              </a:spcAft>
            </a:pPr>
            <a:r>
              <a:rPr sz="1800" b="0">
                <a:solidFill>
                  <a:srgbClr val="161B26"/>
                </a:solidFill>
                <a:latin typeface="Arial"/>
              </a:rPr>
              <a:t>•  Improves performance for your cacheable content (such as images and videos)</a:t>
            </a:r>
          </a:p>
          <a:p>
            <a:pPr>
              <a:spcAft>
                <a:spcPts val="1000"/>
              </a:spcAft>
            </a:pPr>
            <a:r>
              <a:rPr sz="1800" b="0">
                <a:solidFill>
                  <a:srgbClr val="161B26"/>
                </a:solidFill>
                <a:latin typeface="Arial"/>
              </a:rPr>
              <a:t>•  Content is served at the edge</a:t>
            </a:r>
          </a:p>
          <a:p>
            <a:pPr>
              <a:spcAft>
                <a:spcPts val="1000"/>
              </a:spcAft>
            </a:pPr>
            <a:r>
              <a:rPr sz="1800" b="0">
                <a:solidFill>
                  <a:srgbClr val="161B26"/>
                </a:solidFill>
                <a:latin typeface="Arial"/>
              </a:rPr>
              <a:t>•  Global Accelerator</a:t>
            </a:r>
          </a:p>
          <a:p>
            <a:pPr>
              <a:spcAft>
                <a:spcPts val="1000"/>
              </a:spcAft>
            </a:pPr>
            <a:r>
              <a:rPr sz="1800" b="0">
                <a:solidFill>
                  <a:srgbClr val="161B26"/>
                </a:solidFill>
                <a:latin typeface="Arial"/>
              </a:rPr>
              <a:t>•  No caching, proxying packets at the edge to applications running in one or more AWS Regions.</a:t>
            </a:r>
          </a:p>
          <a:p>
            <a:pPr>
              <a:spcAft>
                <a:spcPts val="1000"/>
              </a:spcAft>
            </a:pPr>
            <a:r>
              <a:rPr sz="1800" b="0">
                <a:solidFill>
                  <a:srgbClr val="161B26"/>
                </a:solidFill>
                <a:latin typeface="Arial"/>
              </a:rPr>
              <a:t>•  Improves performance for a wide range of applications over TCP or UDP</a:t>
            </a:r>
          </a:p>
          <a:p>
            <a:pPr>
              <a:spcAft>
                <a:spcPts val="1000"/>
              </a:spcAft>
            </a:pPr>
            <a:r>
              <a:rPr sz="1800" b="0">
                <a:solidFill>
                  <a:srgbClr val="161B26"/>
                </a:solidFill>
                <a:latin typeface="Arial"/>
              </a:rPr>
              <a:t>•  Good for HTTP use cases that require static IP addresses</a:t>
            </a:r>
          </a:p>
          <a:p>
            <a:pPr>
              <a:spcAft>
                <a:spcPts val="1000"/>
              </a:spcAft>
            </a:pPr>
            <a:r>
              <a:rPr sz="1800" b="0">
                <a:solidFill>
                  <a:srgbClr val="161B26"/>
                </a:solidFill>
                <a:latin typeface="Arial"/>
              </a:rPr>
              <a:t>•  Good for HTTP use cases that required deterministic, fast regional failover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323</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Outposts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84843" y="1801368"/>
            <a:ext cx="719183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5_0.png"/>
          <p:cNvPicPr>
            <a:picLocks noChangeAspect="1"/>
          </p:cNvPicPr>
          <p:nvPr/>
        </p:nvPicPr>
        <p:blipFill>
          <a:blip r:embed="rId2"/>
          <a:stretch>
            <a:fillRect/>
          </a:stretch>
        </p:blipFill>
        <p:spPr>
          <a:xfrm>
            <a:off x="2512275" y="1828800"/>
            <a:ext cx="7136969"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Hybrid Cloud: businesses that keep an on-premises infrastructure alongside a cloud infrastructure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324</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Outposts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260702"/>
            <a:ext cx="10479024" cy="12509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6_0.png"/>
          <p:cNvPicPr>
            <a:picLocks noChangeAspect="1"/>
          </p:cNvPicPr>
          <p:nvPr/>
        </p:nvPicPr>
        <p:blipFill>
          <a:blip r:embed="rId2"/>
          <a:stretch>
            <a:fillRect/>
          </a:stretch>
        </p:blipFill>
        <p:spPr>
          <a:xfrm>
            <a:off x="868680" y="3288134"/>
            <a:ext cx="10424160" cy="119613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Benefits: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325</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WaveLength</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57926" y="1801368"/>
            <a:ext cx="364566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7_0.png"/>
          <p:cNvPicPr>
            <a:picLocks noChangeAspect="1"/>
          </p:cNvPicPr>
          <p:nvPr/>
        </p:nvPicPr>
        <p:blipFill>
          <a:blip r:embed="rId2"/>
          <a:stretch>
            <a:fillRect/>
          </a:stretch>
        </p:blipFill>
        <p:spPr>
          <a:xfrm>
            <a:off x="4285358" y="1828800"/>
            <a:ext cx="359080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326</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Local Zones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89768" y="1801368"/>
            <a:ext cx="378198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8_0.png"/>
          <p:cNvPicPr>
            <a:picLocks noChangeAspect="1"/>
          </p:cNvPicPr>
          <p:nvPr/>
        </p:nvPicPr>
        <p:blipFill>
          <a:blip r:embed="rId2"/>
          <a:stretch>
            <a:fillRect/>
          </a:stretch>
        </p:blipFill>
        <p:spPr>
          <a:xfrm>
            <a:off x="4217200" y="1828800"/>
            <a:ext cx="372712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327</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8456" y="1801368"/>
            <a:ext cx="9744607"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29_0.png"/>
          <p:cNvPicPr>
            <a:picLocks noChangeAspect="1"/>
          </p:cNvPicPr>
          <p:nvPr/>
        </p:nvPicPr>
        <p:blipFill>
          <a:blip r:embed="rId2"/>
          <a:stretch>
            <a:fillRect/>
          </a:stretch>
        </p:blipFill>
        <p:spPr>
          <a:xfrm>
            <a:off x="1235888" y="1828800"/>
            <a:ext cx="9689743"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328</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Architecture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72378" y="1801368"/>
            <a:ext cx="981676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30_0.png"/>
          <p:cNvPicPr>
            <a:picLocks noChangeAspect="1"/>
          </p:cNvPicPr>
          <p:nvPr/>
        </p:nvPicPr>
        <p:blipFill>
          <a:blip r:embed="rId2"/>
          <a:stretch>
            <a:fillRect/>
          </a:stretch>
        </p:blipFill>
        <p:spPr>
          <a:xfrm>
            <a:off x="1199810" y="1828800"/>
            <a:ext cx="9761900"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329</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Outposts</a:t>
            </a:r>
          </a:p>
          <a:p>
            <a:pPr>
              <a:spcAft>
                <a:spcPts val="1000"/>
              </a:spcAft>
            </a:pPr>
            <a:r>
              <a:rPr sz="1800" b="0">
                <a:solidFill>
                  <a:srgbClr val="161B26"/>
                </a:solidFill>
                <a:latin typeface="Arial"/>
              </a:rPr>
              <a:t>•  Deploy Outposts Racks in your own Data Centers to extend AWS services</a:t>
            </a:r>
          </a:p>
          <a:p>
            <a:pPr>
              <a:spcAft>
                <a:spcPts val="1000"/>
              </a:spcAft>
            </a:pPr>
            <a:r>
              <a:rPr sz="1800" b="0">
                <a:solidFill>
                  <a:srgbClr val="161B26"/>
                </a:solidFill>
                <a:latin typeface="Arial"/>
              </a:rPr>
              <a:t>•  AWS WaveLength</a:t>
            </a:r>
          </a:p>
          <a:p>
            <a:pPr>
              <a:spcAft>
                <a:spcPts val="1000"/>
              </a:spcAft>
            </a:pPr>
            <a:r>
              <a:rPr sz="1800" b="0">
                <a:solidFill>
                  <a:srgbClr val="161B26"/>
                </a:solidFill>
                <a:latin typeface="Arial"/>
              </a:rPr>
              <a:t>•  Brings AWS services to the edge of the 5G networks</a:t>
            </a:r>
          </a:p>
          <a:p>
            <a:pPr>
              <a:spcAft>
                <a:spcPts val="1000"/>
              </a:spcAft>
            </a:pPr>
            <a:r>
              <a:rPr sz="1800" b="0">
                <a:solidFill>
                  <a:srgbClr val="161B26"/>
                </a:solidFill>
                <a:latin typeface="Arial"/>
              </a:rPr>
              <a:t>•  Ultra-low latency applications</a:t>
            </a:r>
          </a:p>
          <a:p>
            <a:pPr>
              <a:spcAft>
                <a:spcPts val="1000"/>
              </a:spcAft>
            </a:pPr>
            <a:r>
              <a:rPr sz="1800" b="0">
                <a:solidFill>
                  <a:srgbClr val="161B26"/>
                </a:solidFill>
                <a:latin typeface="Arial"/>
              </a:rPr>
              <a:t>•  AWS Local Zones</a:t>
            </a:r>
          </a:p>
          <a:p>
            <a:pPr>
              <a:spcAft>
                <a:spcPts val="1000"/>
              </a:spcAft>
            </a:pPr>
            <a:r>
              <a:rPr sz="1800" b="0">
                <a:solidFill>
                  <a:srgbClr val="161B26"/>
                </a:solidFill>
                <a:latin typeface="Arial"/>
              </a:rPr>
              <a:t>•  Bring AWS resources (compute, database, storage, …) closer to your users</a:t>
            </a:r>
          </a:p>
          <a:p>
            <a:pPr>
              <a:spcAft>
                <a:spcPts val="1000"/>
              </a:spcAft>
            </a:pPr>
            <a:r>
              <a:rPr sz="1800" b="0">
                <a:solidFill>
                  <a:srgbClr val="161B26"/>
                </a:solidFill>
                <a:latin typeface="Arial"/>
              </a:rPr>
              <a:t>•  Good for latency-sensitive applications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Global Applications in AWS -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DNS: Route 53</a:t>
            </a:r>
          </a:p>
          <a:p>
            <a:pPr>
              <a:spcAft>
                <a:spcPts val="1000"/>
              </a:spcAft>
            </a:pPr>
            <a:r>
              <a:rPr sz="1800" b="0">
                <a:solidFill>
                  <a:srgbClr val="161B26"/>
                </a:solidFill>
                <a:latin typeface="Arial"/>
              </a:rPr>
              <a:t>•  Great to route users to the closest deployment with least latency</a:t>
            </a:r>
          </a:p>
          <a:p>
            <a:pPr>
              <a:spcAft>
                <a:spcPts val="1000"/>
              </a:spcAft>
            </a:pPr>
            <a:r>
              <a:rPr sz="1800" b="0">
                <a:solidFill>
                  <a:srgbClr val="161B26"/>
                </a:solidFill>
                <a:latin typeface="Arial"/>
              </a:rPr>
              <a:t>•  Great for disaster recovery strategies</a:t>
            </a:r>
          </a:p>
          <a:p>
            <a:pPr>
              <a:spcAft>
                <a:spcPts val="1000"/>
              </a:spcAft>
            </a:pPr>
            <a:r>
              <a:rPr sz="1800" b="0">
                <a:solidFill>
                  <a:srgbClr val="161B26"/>
                </a:solidFill>
                <a:latin typeface="Arial"/>
              </a:rPr>
              <a:t>•  Global Content Delivery Network (CDN): CloudFront</a:t>
            </a:r>
          </a:p>
          <a:p>
            <a:pPr>
              <a:spcAft>
                <a:spcPts val="1000"/>
              </a:spcAft>
            </a:pPr>
            <a:r>
              <a:rPr sz="1800" b="0">
                <a:solidFill>
                  <a:srgbClr val="161B26"/>
                </a:solidFill>
                <a:latin typeface="Arial"/>
              </a:rPr>
              <a:t>•  Replicate part of your application to AWS Edge Locations – decrease latency</a:t>
            </a:r>
          </a:p>
          <a:p>
            <a:pPr>
              <a:spcAft>
                <a:spcPts val="1000"/>
              </a:spcAft>
            </a:pPr>
            <a:r>
              <a:rPr sz="1800" b="0">
                <a:solidFill>
                  <a:srgbClr val="161B26"/>
                </a:solidFill>
                <a:latin typeface="Arial"/>
              </a:rPr>
              <a:t>•  Cache common requests – improved user experience and decreased latency</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Accelerate global uploads &amp; downloads into Amazon S3</a:t>
            </a:r>
          </a:p>
          <a:p>
            <a:pPr>
              <a:spcAft>
                <a:spcPts val="1000"/>
              </a:spcAft>
            </a:pPr>
            <a:r>
              <a:rPr sz="1800" b="0">
                <a:solidFill>
                  <a:srgbClr val="161B26"/>
                </a:solidFill>
                <a:latin typeface="Arial"/>
              </a:rPr>
              <a:t>•  AWS Global Accelerator</a:t>
            </a:r>
          </a:p>
          <a:p>
            <a:pPr>
              <a:spcAft>
                <a:spcPts val="1000"/>
              </a:spcAft>
            </a:pPr>
            <a:r>
              <a:rPr sz="1800" b="0">
                <a:solidFill>
                  <a:srgbClr val="161B26"/>
                </a:solidFill>
                <a:latin typeface="Arial"/>
              </a:rPr>
              <a:t>•  Improve global application availability and performance using the AWS global network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331</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 Integration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Cloud Integration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332</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Sync vs Async Communications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79347"/>
            <a:ext cx="10479024" cy="257946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34_0.png"/>
          <p:cNvPicPr>
            <a:picLocks noChangeAspect="1"/>
          </p:cNvPicPr>
          <p:nvPr/>
        </p:nvPicPr>
        <p:blipFill>
          <a:blip r:embed="rId2"/>
          <a:stretch>
            <a:fillRect/>
          </a:stretch>
        </p:blipFill>
        <p:spPr>
          <a:xfrm>
            <a:off x="868680" y="2806779"/>
            <a:ext cx="10424160" cy="252460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Sync vs Async Communications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Synchronous between applications can be problematic if there are sudden spikes of traffic</a:t>
            </a:r>
          </a:p>
          <a:p>
            <a:pPr>
              <a:spcAft>
                <a:spcPts val="1000"/>
              </a:spcAft>
            </a:pPr>
            <a:r>
              <a:rPr sz="1800" b="0">
                <a:solidFill>
                  <a:srgbClr val="161B26"/>
                </a:solidFill>
                <a:latin typeface="Arial"/>
              </a:rPr>
              <a:t>•  What if you need to suddenly encode 1000 videos but usually it’s 10?</a:t>
            </a:r>
          </a:p>
          <a:p>
            <a:pPr>
              <a:spcAft>
                <a:spcPts val="1000"/>
              </a:spcAft>
            </a:pPr>
            <a:r>
              <a:rPr sz="1800" b="0">
                <a:solidFill>
                  <a:srgbClr val="161B26"/>
                </a:solidFill>
                <a:latin typeface="Arial"/>
              </a:rPr>
              <a:t>•  In that case, it’s better to decouple your applications:</a:t>
            </a:r>
          </a:p>
          <a:p>
            <a:pPr>
              <a:spcAft>
                <a:spcPts val="1000"/>
              </a:spcAft>
            </a:pPr>
            <a:r>
              <a:rPr sz="1800" b="0">
                <a:solidFill>
                  <a:srgbClr val="161B26"/>
                </a:solidFill>
                <a:latin typeface="Arial"/>
              </a:rPr>
              <a:t>•  using SQS: queue model</a:t>
            </a:r>
          </a:p>
          <a:p>
            <a:pPr>
              <a:spcAft>
                <a:spcPts val="1000"/>
              </a:spcAft>
            </a:pPr>
            <a:r>
              <a:rPr sz="1800" b="0">
                <a:solidFill>
                  <a:srgbClr val="161B26"/>
                </a:solidFill>
                <a:latin typeface="Arial"/>
              </a:rPr>
              <a:t>•  using SNS: pub/sub model</a:t>
            </a:r>
          </a:p>
          <a:p>
            <a:pPr>
              <a:spcAft>
                <a:spcPts val="1000"/>
              </a:spcAft>
            </a:pPr>
            <a:r>
              <a:rPr sz="1800" b="0">
                <a:solidFill>
                  <a:srgbClr val="161B26"/>
                </a:solidFill>
                <a:latin typeface="Arial"/>
              </a:rPr>
              <a:t>•  using Kinesis: real-time data streaming model</a:t>
            </a:r>
          </a:p>
          <a:p>
            <a:pPr>
              <a:spcAft>
                <a:spcPts val="1000"/>
              </a:spcAft>
            </a:pPr>
            <a:r>
              <a:rPr sz="1800" b="0">
                <a:solidFill>
                  <a:srgbClr val="161B26"/>
                </a:solidFill>
                <a:latin typeface="Arial"/>
              </a:rPr>
              <a:t>•  These services can scale independently from our application!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334</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Simple Queue Service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13671" y="1801368"/>
            <a:ext cx="953417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36_0.png"/>
          <p:cNvPicPr>
            <a:picLocks noChangeAspect="1"/>
          </p:cNvPicPr>
          <p:nvPr/>
        </p:nvPicPr>
        <p:blipFill>
          <a:blip r:embed="rId2"/>
          <a:stretch>
            <a:fillRect/>
          </a:stretch>
        </p:blipFill>
        <p:spPr>
          <a:xfrm>
            <a:off x="1341103" y="1828800"/>
            <a:ext cx="947931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What’s a queue?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335</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Standard Queue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Oldest AWS offering (over 10 years old)</a:t>
            </a:r>
          </a:p>
          <a:p>
            <a:pPr>
              <a:spcAft>
                <a:spcPts val="1000"/>
              </a:spcAft>
            </a:pPr>
            <a:r>
              <a:rPr sz="1800" b="0">
                <a:solidFill>
                  <a:srgbClr val="161B26"/>
                </a:solidFill>
                <a:latin typeface="Arial"/>
              </a:rPr>
              <a:t>•  Fully managed service (~serverless), use to decouple applications</a:t>
            </a:r>
          </a:p>
          <a:p>
            <a:pPr>
              <a:spcAft>
                <a:spcPts val="1000"/>
              </a:spcAft>
            </a:pPr>
            <a:r>
              <a:rPr sz="1800" b="0">
                <a:solidFill>
                  <a:srgbClr val="161B26"/>
                </a:solidFill>
                <a:latin typeface="Arial"/>
              </a:rPr>
              <a:t>•  Scales from 1 message per second to 10,000s per second</a:t>
            </a:r>
          </a:p>
          <a:p>
            <a:pPr>
              <a:spcAft>
                <a:spcPts val="1000"/>
              </a:spcAft>
            </a:pPr>
            <a:r>
              <a:rPr sz="1800" b="0">
                <a:solidFill>
                  <a:srgbClr val="161B26"/>
                </a:solidFill>
                <a:latin typeface="Arial"/>
              </a:rPr>
              <a:t>•  Default retention of messages: 4 days, maximum of 14 days</a:t>
            </a:r>
          </a:p>
          <a:p>
            <a:pPr>
              <a:spcAft>
                <a:spcPts val="1000"/>
              </a:spcAft>
            </a:pPr>
            <a:r>
              <a:rPr sz="1800" b="0">
                <a:solidFill>
                  <a:srgbClr val="161B26"/>
                </a:solidFill>
                <a:latin typeface="Arial"/>
              </a:rPr>
              <a:t>•  No limit to how many messages can be in the queue</a:t>
            </a:r>
          </a:p>
          <a:p>
            <a:pPr>
              <a:spcAft>
                <a:spcPts val="1000"/>
              </a:spcAft>
            </a:pPr>
            <a:r>
              <a:rPr sz="1800" b="0">
                <a:solidFill>
                  <a:srgbClr val="161B26"/>
                </a:solidFill>
                <a:latin typeface="Arial"/>
              </a:rPr>
              <a:t>•  Messages are deleted after they’re read by consumers</a:t>
            </a:r>
          </a:p>
          <a:p>
            <a:pPr>
              <a:spcAft>
                <a:spcPts val="1000"/>
              </a:spcAft>
            </a:pPr>
            <a:r>
              <a:rPr sz="1800" b="0">
                <a:solidFill>
                  <a:srgbClr val="161B26"/>
                </a:solidFill>
                <a:latin typeface="Arial"/>
              </a:rPr>
              <a:t>•  Low latency (&lt;10 ms on publish and receive)</a:t>
            </a:r>
          </a:p>
          <a:p>
            <a:pPr>
              <a:spcAft>
                <a:spcPts val="1000"/>
              </a:spcAft>
            </a:pPr>
            <a:r>
              <a:rPr sz="1800" b="0">
                <a:solidFill>
                  <a:srgbClr val="161B26"/>
                </a:solidFill>
                <a:latin typeface="Arial"/>
              </a:rPr>
              <a:t>•  Consumers share the work to read messages &amp; scale horizontally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336</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SQS to decouple between application tiers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64213"/>
            <a:ext cx="10479024" cy="400973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38_0.png"/>
          <p:cNvPicPr>
            <a:picLocks noChangeAspect="1"/>
          </p:cNvPicPr>
          <p:nvPr/>
        </p:nvPicPr>
        <p:blipFill>
          <a:blip r:embed="rId2"/>
          <a:stretch>
            <a:fillRect/>
          </a:stretch>
        </p:blipFill>
        <p:spPr>
          <a:xfrm>
            <a:off x="868680" y="2091645"/>
            <a:ext cx="10424160" cy="3954869"/>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337</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SQS – FIFO Queues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186371"/>
            <a:ext cx="10479024" cy="376541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39_0.png"/>
          <p:cNvPicPr>
            <a:picLocks noChangeAspect="1"/>
          </p:cNvPicPr>
          <p:nvPr/>
        </p:nvPicPr>
        <p:blipFill>
          <a:blip r:embed="rId2"/>
          <a:stretch>
            <a:fillRect/>
          </a:stretch>
        </p:blipFill>
        <p:spPr>
          <a:xfrm>
            <a:off x="868680" y="2213803"/>
            <a:ext cx="10424160" cy="3710553"/>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338</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1: Fulfilling an order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42207" y="1801368"/>
            <a:ext cx="84771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0_0.png"/>
          <p:cNvPicPr>
            <a:picLocks noChangeAspect="1"/>
          </p:cNvPicPr>
          <p:nvPr/>
        </p:nvPicPr>
        <p:blipFill>
          <a:blip r:embed="rId2"/>
          <a:stretch>
            <a:fillRect/>
          </a:stretch>
        </p:blipFill>
        <p:spPr>
          <a:xfrm>
            <a:off x="1869639" y="1828800"/>
            <a:ext cx="842224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339</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2: Orders in a queue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405" y="1801368"/>
            <a:ext cx="102407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1_0.png"/>
          <p:cNvPicPr>
            <a:picLocks noChangeAspect="1"/>
          </p:cNvPicPr>
          <p:nvPr/>
        </p:nvPicPr>
        <p:blipFill>
          <a:blip r:embed="rId2"/>
          <a:stretch>
            <a:fillRect/>
          </a:stretch>
        </p:blipFill>
        <p:spPr>
          <a:xfrm>
            <a:off x="987837" y="1828800"/>
            <a:ext cx="101858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28034" y="1801368"/>
            <a:ext cx="101054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2_0.png"/>
          <p:cNvPicPr>
            <a:picLocks noChangeAspect="1"/>
          </p:cNvPicPr>
          <p:nvPr/>
        </p:nvPicPr>
        <p:blipFill>
          <a:blip r:embed="rId2"/>
          <a:stretch>
            <a:fillRect/>
          </a:stretch>
        </p:blipFill>
        <p:spPr>
          <a:xfrm>
            <a:off x="1055466" y="1828800"/>
            <a:ext cx="100505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341</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957"/>
            <a:ext cx="10479024" cy="385648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3_0.png"/>
          <p:cNvPicPr>
            <a:picLocks noChangeAspect="1"/>
          </p:cNvPicPr>
          <p:nvPr/>
        </p:nvPicPr>
        <p:blipFill>
          <a:blip r:embed="rId2"/>
          <a:stretch>
            <a:fillRect/>
          </a:stretch>
        </p:blipFill>
        <p:spPr>
          <a:xfrm>
            <a:off x="868680" y="1985389"/>
            <a:ext cx="10424160" cy="380162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The “event publishers” only sends message to one SNS topic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342</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Publishing updates from a single topic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28110" y="1801368"/>
            <a:ext cx="970530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4_0.png"/>
          <p:cNvPicPr>
            <a:picLocks noChangeAspect="1"/>
          </p:cNvPicPr>
          <p:nvPr/>
        </p:nvPicPr>
        <p:blipFill>
          <a:blip r:embed="rId2"/>
          <a:stretch>
            <a:fillRect/>
          </a:stretch>
        </p:blipFill>
        <p:spPr>
          <a:xfrm>
            <a:off x="1255542" y="1828800"/>
            <a:ext cx="965043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343</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Publishing updates from multiple topics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9645" y="1801368"/>
            <a:ext cx="1028222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5_0.png"/>
          <p:cNvPicPr>
            <a:picLocks noChangeAspect="1"/>
          </p:cNvPicPr>
          <p:nvPr/>
        </p:nvPicPr>
        <p:blipFill>
          <a:blip r:embed="rId2"/>
          <a:stretch>
            <a:fillRect/>
          </a:stretch>
        </p:blipFill>
        <p:spPr>
          <a:xfrm>
            <a:off x="967077" y="1828800"/>
            <a:ext cx="10227365"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344</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Kinesis (high level overview)</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49955" y="1801368"/>
            <a:ext cx="1006161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6_0.png"/>
          <p:cNvPicPr>
            <a:picLocks noChangeAspect="1"/>
          </p:cNvPicPr>
          <p:nvPr/>
        </p:nvPicPr>
        <p:blipFill>
          <a:blip r:embed="rId2"/>
          <a:stretch>
            <a:fillRect/>
          </a:stretch>
        </p:blipFill>
        <p:spPr>
          <a:xfrm>
            <a:off x="1077387" y="1828800"/>
            <a:ext cx="10006746"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345</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MQ</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92455"/>
            <a:ext cx="10479024" cy="17874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47_0.png"/>
          <p:cNvPicPr>
            <a:picLocks noChangeAspect="1"/>
          </p:cNvPicPr>
          <p:nvPr/>
        </p:nvPicPr>
        <p:blipFill>
          <a:blip r:embed="rId2"/>
          <a:stretch>
            <a:fillRect/>
          </a:stretch>
        </p:blipFill>
        <p:spPr>
          <a:xfrm>
            <a:off x="868680" y="3019887"/>
            <a:ext cx="10424160" cy="173262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SQS, SNS are “cloud-native” services: proprietary protocols from AWS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346</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Integration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SQS:</a:t>
            </a:r>
          </a:p>
          <a:p>
            <a:pPr>
              <a:spcAft>
                <a:spcPts val="1000"/>
              </a:spcAft>
            </a:pPr>
            <a:r>
              <a:rPr sz="1800" b="0">
                <a:solidFill>
                  <a:srgbClr val="161B26"/>
                </a:solidFill>
                <a:latin typeface="Arial"/>
              </a:rPr>
              <a:t>•  Queue service in AWS</a:t>
            </a:r>
          </a:p>
          <a:p>
            <a:pPr>
              <a:spcAft>
                <a:spcPts val="1000"/>
              </a:spcAft>
            </a:pPr>
            <a:r>
              <a:rPr sz="1800" b="0">
                <a:solidFill>
                  <a:srgbClr val="161B26"/>
                </a:solidFill>
                <a:latin typeface="Arial"/>
              </a:rPr>
              <a:t>•  Multiple Producers, messages are kept up to 14 days</a:t>
            </a:r>
          </a:p>
          <a:p>
            <a:pPr>
              <a:spcAft>
                <a:spcPts val="1000"/>
              </a:spcAft>
            </a:pPr>
            <a:r>
              <a:rPr sz="1800" b="0">
                <a:solidFill>
                  <a:srgbClr val="161B26"/>
                </a:solidFill>
                <a:latin typeface="Arial"/>
              </a:rPr>
              <a:t>•  Multiple Consumers share the read and delete messages when done</a:t>
            </a:r>
          </a:p>
          <a:p>
            <a:pPr>
              <a:spcAft>
                <a:spcPts val="1000"/>
              </a:spcAft>
            </a:pPr>
            <a:r>
              <a:rPr sz="1800" b="0">
                <a:solidFill>
                  <a:srgbClr val="161B26"/>
                </a:solidFill>
                <a:latin typeface="Arial"/>
              </a:rPr>
              <a:t>•  Used to decouple applications in AWS</a:t>
            </a:r>
          </a:p>
          <a:p>
            <a:pPr>
              <a:spcAft>
                <a:spcPts val="1000"/>
              </a:spcAft>
            </a:pPr>
            <a:r>
              <a:rPr sz="1800" b="0">
                <a:solidFill>
                  <a:srgbClr val="161B26"/>
                </a:solidFill>
                <a:latin typeface="Arial"/>
              </a:rPr>
              <a:t>•  SNS:</a:t>
            </a:r>
          </a:p>
          <a:p>
            <a:pPr>
              <a:spcAft>
                <a:spcPts val="1000"/>
              </a:spcAft>
            </a:pPr>
            <a:r>
              <a:rPr sz="1800" b="0">
                <a:solidFill>
                  <a:srgbClr val="161B26"/>
                </a:solidFill>
                <a:latin typeface="Arial"/>
              </a:rPr>
              <a:t>•  Notification service in AWS</a:t>
            </a:r>
          </a:p>
          <a:p>
            <a:pPr>
              <a:spcAft>
                <a:spcPts val="1000"/>
              </a:spcAft>
            </a:pPr>
            <a:r>
              <a:rPr sz="1800" b="0">
                <a:solidFill>
                  <a:srgbClr val="161B26"/>
                </a:solidFill>
                <a:latin typeface="Arial"/>
              </a:rPr>
              <a:t>•  Subscribers: Email, Lambda, SQS, HTTP, Mobile…</a:t>
            </a:r>
          </a:p>
          <a:p>
            <a:pPr>
              <a:spcAft>
                <a:spcPts val="1000"/>
              </a:spcAft>
            </a:pPr>
            <a:r>
              <a:rPr sz="1800" b="0">
                <a:solidFill>
                  <a:srgbClr val="161B26"/>
                </a:solidFill>
                <a:latin typeface="Arial"/>
              </a:rPr>
              <a:t>•  Multiple Subscribers, send all messages to all of them</a:t>
            </a:r>
          </a:p>
          <a:p>
            <a:pPr>
              <a:spcAft>
                <a:spcPts val="1000"/>
              </a:spcAft>
            </a:pPr>
            <a:r>
              <a:rPr sz="1800" b="0">
                <a:solidFill>
                  <a:srgbClr val="161B26"/>
                </a:solidFill>
                <a:latin typeface="Arial"/>
              </a:rPr>
              <a:t>•  No message retention</a:t>
            </a:r>
          </a:p>
          <a:p>
            <a:pPr>
              <a:spcAft>
                <a:spcPts val="1000"/>
              </a:spcAft>
            </a:pPr>
            <a:r>
              <a:rPr sz="1800" b="0">
                <a:solidFill>
                  <a:srgbClr val="161B26"/>
                </a:solidFill>
                <a:latin typeface="Arial"/>
              </a:rPr>
              <a:t>•  Kinesis: real-time data streaming, persistence and analysis</a:t>
            </a:r>
          </a:p>
          <a:p>
            <a:pPr>
              <a:spcAft>
                <a:spcPts val="1000"/>
              </a:spcAft>
            </a:pPr>
            <a:r>
              <a:rPr sz="1800" b="0">
                <a:solidFill>
                  <a:srgbClr val="161B26"/>
                </a:solidFill>
                <a:latin typeface="Arial"/>
              </a:rPr>
              <a:t>•  Amazon MQ: managed message broker for ActiveMQ and RabbitMQ in the cloud (MQTT, AMQP.. protocols)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347</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AWS Analytics Services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348</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CLOUD MONITORING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Cloud Monitoring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349</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0" name="TextBox 9"/>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CloudWatch provides metrics for every services in AWS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5" name="TextBox 14"/>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Metric is a variable to monitor (CPUUtilization, NetworkIn…)</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0" name="TextBox 19"/>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Metrics have timestamps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5" name="TextBox 24"/>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Can create CloudWatch dashboards of metrics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CloudWatch Billing metric</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44938" y="1801368"/>
            <a:ext cx="907164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52_0.png"/>
          <p:cNvPicPr>
            <a:picLocks noChangeAspect="1"/>
          </p:cNvPicPr>
          <p:nvPr/>
        </p:nvPicPr>
        <p:blipFill>
          <a:blip r:embed="rId2"/>
          <a:stretch>
            <a:fillRect/>
          </a:stretch>
        </p:blipFill>
        <p:spPr>
          <a:xfrm>
            <a:off x="1572370" y="1828800"/>
            <a:ext cx="9016779"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351</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dashboard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30684" y="1801368"/>
            <a:ext cx="89001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53_0.png"/>
          <p:cNvPicPr>
            <a:picLocks noChangeAspect="1"/>
          </p:cNvPicPr>
          <p:nvPr/>
        </p:nvPicPr>
        <p:blipFill>
          <a:blip r:embed="rId2"/>
          <a:stretch>
            <a:fillRect/>
          </a:stretch>
        </p:blipFill>
        <p:spPr>
          <a:xfrm>
            <a:off x="1658116" y="1828800"/>
            <a:ext cx="8845288"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352</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Important Metrics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instances: CPU Utilization, Status Checks, Network (not RAM)</a:t>
            </a:r>
          </a:p>
          <a:p>
            <a:pPr>
              <a:spcAft>
                <a:spcPts val="1000"/>
              </a:spcAft>
            </a:pPr>
            <a:r>
              <a:rPr sz="1800" b="0">
                <a:solidFill>
                  <a:srgbClr val="161B26"/>
                </a:solidFill>
                <a:latin typeface="Arial"/>
              </a:rPr>
              <a:t>•  Default metrics every 5 minutes</a:t>
            </a:r>
          </a:p>
          <a:p>
            <a:pPr>
              <a:spcAft>
                <a:spcPts val="1000"/>
              </a:spcAft>
            </a:pPr>
            <a:r>
              <a:rPr sz="1800" b="0">
                <a:solidFill>
                  <a:srgbClr val="161B26"/>
                </a:solidFill>
                <a:latin typeface="Arial"/>
              </a:rPr>
              <a:t>•  Option for Detailed Monitoring ($$$): metrics every 1 minute</a:t>
            </a:r>
          </a:p>
          <a:p>
            <a:pPr>
              <a:spcAft>
                <a:spcPts val="1000"/>
              </a:spcAft>
            </a:pPr>
            <a:r>
              <a:rPr sz="1800" b="0">
                <a:solidFill>
                  <a:srgbClr val="161B26"/>
                </a:solidFill>
                <a:latin typeface="Arial"/>
              </a:rPr>
              <a:t>•  EBS volumes: Disk Read/Writes</a:t>
            </a:r>
          </a:p>
          <a:p>
            <a:pPr>
              <a:spcAft>
                <a:spcPts val="1000"/>
              </a:spcAft>
            </a:pPr>
            <a:r>
              <a:rPr sz="1800" b="0">
                <a:solidFill>
                  <a:srgbClr val="161B26"/>
                </a:solidFill>
                <a:latin typeface="Arial"/>
              </a:rPr>
              <a:t>•  S3 buckets: BucketSizeBytes, NumberOfObjects, AllRequests</a:t>
            </a:r>
          </a:p>
          <a:p>
            <a:pPr>
              <a:spcAft>
                <a:spcPts val="1000"/>
              </a:spcAft>
            </a:pPr>
            <a:r>
              <a:rPr sz="1800" b="0">
                <a:solidFill>
                  <a:srgbClr val="161B26"/>
                </a:solidFill>
                <a:latin typeface="Arial"/>
              </a:rPr>
              <a:t>•  Billing: Total Estimated Charge (only in us-east-1)</a:t>
            </a:r>
          </a:p>
          <a:p>
            <a:pPr>
              <a:spcAft>
                <a:spcPts val="1000"/>
              </a:spcAft>
            </a:pPr>
            <a:r>
              <a:rPr sz="1800" b="0">
                <a:solidFill>
                  <a:srgbClr val="161B26"/>
                </a:solidFill>
                <a:latin typeface="Arial"/>
              </a:rPr>
              <a:t>•  Service Limits: how much you’ve been using a service API</a:t>
            </a:r>
          </a:p>
          <a:p>
            <a:pPr>
              <a:spcAft>
                <a:spcPts val="1000"/>
              </a:spcAft>
            </a:pPr>
            <a:r>
              <a:rPr sz="1800" b="0">
                <a:solidFill>
                  <a:srgbClr val="161B26"/>
                </a:solidFill>
                <a:latin typeface="Arial"/>
              </a:rPr>
              <a:t>•  Custom metrics: push your own metrics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353</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Alarms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Alarms are used to trigger notifications for any metric</a:t>
            </a:r>
          </a:p>
          <a:p>
            <a:pPr>
              <a:spcAft>
                <a:spcPts val="1000"/>
              </a:spcAft>
            </a:pPr>
            <a:r>
              <a:rPr sz="1800" b="0">
                <a:solidFill>
                  <a:srgbClr val="161B26"/>
                </a:solidFill>
                <a:latin typeface="Arial"/>
              </a:rPr>
              <a:t>•  Alarms actions…</a:t>
            </a:r>
          </a:p>
          <a:p>
            <a:pPr>
              <a:spcAft>
                <a:spcPts val="1000"/>
              </a:spcAft>
            </a:pPr>
            <a:r>
              <a:rPr sz="1800" b="0">
                <a:solidFill>
                  <a:srgbClr val="161B26"/>
                </a:solidFill>
                <a:latin typeface="Arial"/>
              </a:rPr>
              <a:t>•  Auto Scaling: increase or decrease EC2 instances “desired” count</a:t>
            </a:r>
          </a:p>
          <a:p>
            <a:pPr>
              <a:spcAft>
                <a:spcPts val="1000"/>
              </a:spcAft>
            </a:pPr>
            <a:r>
              <a:rPr sz="1800" b="0">
                <a:solidFill>
                  <a:srgbClr val="161B26"/>
                </a:solidFill>
                <a:latin typeface="Arial"/>
              </a:rPr>
              <a:t>•  EC2 Actions: stop, terminate, reboot or recover an EC2 instance</a:t>
            </a:r>
          </a:p>
          <a:p>
            <a:pPr>
              <a:spcAft>
                <a:spcPts val="1000"/>
              </a:spcAft>
            </a:pPr>
            <a:r>
              <a:rPr sz="1800" b="0">
                <a:solidFill>
                  <a:srgbClr val="161B26"/>
                </a:solidFill>
                <a:latin typeface="Arial"/>
              </a:rPr>
              <a:t>•  SNS notifications: send a notification into an SNS topic</a:t>
            </a:r>
          </a:p>
          <a:p>
            <a:pPr>
              <a:spcAft>
                <a:spcPts val="1000"/>
              </a:spcAft>
            </a:pPr>
            <a:r>
              <a:rPr sz="1800" b="0">
                <a:solidFill>
                  <a:srgbClr val="161B26"/>
                </a:solidFill>
                <a:latin typeface="Arial"/>
              </a:rPr>
              <a:t>•  Various options (sampling, %, max, min, etc…)</a:t>
            </a:r>
          </a:p>
          <a:p>
            <a:pPr>
              <a:spcAft>
                <a:spcPts val="1000"/>
              </a:spcAft>
            </a:pPr>
            <a:r>
              <a:rPr sz="1800" b="0">
                <a:solidFill>
                  <a:srgbClr val="161B26"/>
                </a:solidFill>
                <a:latin typeface="Arial"/>
              </a:rPr>
              <a:t>•  Can choose the period on which to evaluate an alarm</a:t>
            </a:r>
          </a:p>
          <a:p>
            <a:pPr>
              <a:spcAft>
                <a:spcPts val="1000"/>
              </a:spcAft>
            </a:pPr>
            <a:r>
              <a:rPr sz="1800" b="0">
                <a:solidFill>
                  <a:srgbClr val="161B26"/>
                </a:solidFill>
                <a:latin typeface="Arial"/>
              </a:rPr>
              <a:t>•  Example: create a billing alarm on the CloudWatch Billing metric</a:t>
            </a:r>
          </a:p>
          <a:p>
            <a:pPr>
              <a:spcAft>
                <a:spcPts val="1000"/>
              </a:spcAft>
            </a:pPr>
            <a:r>
              <a:rPr sz="1800" b="0">
                <a:solidFill>
                  <a:srgbClr val="161B26"/>
                </a:solidFill>
                <a:latin typeface="Arial"/>
              </a:rPr>
              <a:t>•  Alarm States: OK. INSUFFICIENT_DATA, ALARM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354</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CloudWatch Logs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 Logs can collect log from:</a:t>
            </a:r>
          </a:p>
          <a:p>
            <a:pPr>
              <a:spcAft>
                <a:spcPts val="1000"/>
              </a:spcAft>
            </a:pPr>
            <a:r>
              <a:rPr sz="1800" b="0">
                <a:solidFill>
                  <a:srgbClr val="161B26"/>
                </a:solidFill>
                <a:latin typeface="Arial"/>
              </a:rPr>
              <a:t>•  Elastic Beanstalk: collection of logs from application</a:t>
            </a:r>
          </a:p>
          <a:p>
            <a:pPr>
              <a:spcAft>
                <a:spcPts val="1000"/>
              </a:spcAft>
            </a:pPr>
            <a:r>
              <a:rPr sz="1800" b="0">
                <a:solidFill>
                  <a:srgbClr val="161B26"/>
                </a:solidFill>
                <a:latin typeface="Arial"/>
              </a:rPr>
              <a:t>•  ECS: collection from containers</a:t>
            </a:r>
          </a:p>
          <a:p>
            <a:pPr>
              <a:spcAft>
                <a:spcPts val="1000"/>
              </a:spcAft>
            </a:pPr>
            <a:r>
              <a:rPr sz="1800" b="0">
                <a:solidFill>
                  <a:srgbClr val="161B26"/>
                </a:solidFill>
                <a:latin typeface="Arial"/>
              </a:rPr>
              <a:t>•  AWS Lambda: collection from function logs</a:t>
            </a:r>
          </a:p>
          <a:p>
            <a:pPr>
              <a:spcAft>
                <a:spcPts val="1000"/>
              </a:spcAft>
            </a:pPr>
            <a:r>
              <a:rPr sz="1800" b="0">
                <a:solidFill>
                  <a:srgbClr val="161B26"/>
                </a:solidFill>
                <a:latin typeface="Arial"/>
              </a:rPr>
              <a:t>•  CloudTrail based on filter</a:t>
            </a:r>
          </a:p>
          <a:p>
            <a:pPr>
              <a:spcAft>
                <a:spcPts val="1000"/>
              </a:spcAft>
            </a:pPr>
            <a:r>
              <a:rPr sz="1800" b="0">
                <a:solidFill>
                  <a:srgbClr val="161B26"/>
                </a:solidFill>
                <a:latin typeface="Arial"/>
              </a:rPr>
              <a:t>•  CloudWatch log agents: on EC2 machines or on-premises servers</a:t>
            </a:r>
          </a:p>
          <a:p>
            <a:pPr>
              <a:spcAft>
                <a:spcPts val="1000"/>
              </a:spcAft>
            </a:pPr>
            <a:r>
              <a:rPr sz="1800" b="0">
                <a:solidFill>
                  <a:srgbClr val="161B26"/>
                </a:solidFill>
                <a:latin typeface="Arial"/>
              </a:rPr>
              <a:t>•  Route53: Log DNS queries</a:t>
            </a:r>
          </a:p>
          <a:p>
            <a:pPr>
              <a:spcAft>
                <a:spcPts val="1000"/>
              </a:spcAft>
            </a:pPr>
            <a:r>
              <a:rPr sz="1800" b="0">
                <a:solidFill>
                  <a:srgbClr val="161B26"/>
                </a:solidFill>
                <a:latin typeface="Arial"/>
              </a:rPr>
              <a:t>•  Enables real-time monitoring of logs</a:t>
            </a:r>
          </a:p>
          <a:p>
            <a:pPr>
              <a:spcAft>
                <a:spcPts val="1000"/>
              </a:spcAft>
            </a:pPr>
            <a:r>
              <a:rPr sz="1800" b="0">
                <a:solidFill>
                  <a:srgbClr val="161B26"/>
                </a:solidFill>
                <a:latin typeface="Arial"/>
              </a:rPr>
              <a:t>•  Adjustable CloudWatch Logs retention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355</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CloudWatch Logs for EC2</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66417" y="1801368"/>
            <a:ext cx="402868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57_0.png"/>
          <p:cNvPicPr>
            <a:picLocks noChangeAspect="1"/>
          </p:cNvPicPr>
          <p:nvPr/>
        </p:nvPicPr>
        <p:blipFill>
          <a:blip r:embed="rId2"/>
          <a:stretch>
            <a:fillRect/>
          </a:stretch>
        </p:blipFill>
        <p:spPr>
          <a:xfrm>
            <a:off x="4093849" y="1828800"/>
            <a:ext cx="397382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By default, no logs from your EC2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356</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21105" y="1801368"/>
            <a:ext cx="1031931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58_0.png"/>
          <p:cNvPicPr>
            <a:picLocks noChangeAspect="1"/>
          </p:cNvPicPr>
          <p:nvPr/>
        </p:nvPicPr>
        <p:blipFill>
          <a:blip r:embed="rId2"/>
          <a:stretch>
            <a:fillRect/>
          </a:stretch>
        </p:blipFill>
        <p:spPr>
          <a:xfrm>
            <a:off x="948537" y="1828800"/>
            <a:ext cx="10264446"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(formerly CloudWatch Events)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357</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 Rules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59082" y="1801368"/>
            <a:ext cx="964335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59_0.png"/>
          <p:cNvPicPr>
            <a:picLocks noChangeAspect="1"/>
          </p:cNvPicPr>
          <p:nvPr/>
        </p:nvPicPr>
        <p:blipFill>
          <a:blip r:embed="rId2"/>
          <a:stretch>
            <a:fillRect/>
          </a:stretch>
        </p:blipFill>
        <p:spPr>
          <a:xfrm>
            <a:off x="1286514" y="1828800"/>
            <a:ext cx="9588492"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358</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EventBridge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24105"/>
            <a:ext cx="10479024" cy="28899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0_0.png"/>
          <p:cNvPicPr>
            <a:picLocks noChangeAspect="1"/>
          </p:cNvPicPr>
          <p:nvPr/>
        </p:nvPicPr>
        <p:blipFill>
          <a:blip r:embed="rId2"/>
          <a:stretch>
            <a:fillRect/>
          </a:stretch>
        </p:blipFill>
        <p:spPr>
          <a:xfrm>
            <a:off x="868680" y="2651537"/>
            <a:ext cx="10424160" cy="2835086"/>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359</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CloudTrail</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Provides governance, compliance and audit for your AWS Account</a:t>
            </a:r>
          </a:p>
          <a:p>
            <a:pPr>
              <a:spcAft>
                <a:spcPts val="1000"/>
              </a:spcAft>
            </a:pPr>
            <a:r>
              <a:rPr sz="1800" b="0">
                <a:solidFill>
                  <a:srgbClr val="161B26"/>
                </a:solidFill>
                <a:latin typeface="Arial"/>
              </a:rPr>
              <a:t>•  CloudTrail is enabled by default!</a:t>
            </a:r>
          </a:p>
          <a:p>
            <a:pPr>
              <a:spcAft>
                <a:spcPts val="1000"/>
              </a:spcAft>
            </a:pPr>
            <a:r>
              <a:rPr sz="1800" b="0">
                <a:solidFill>
                  <a:srgbClr val="161B26"/>
                </a:solidFill>
                <a:latin typeface="Arial"/>
              </a:rPr>
              <a:t>•  Get an history of events / API calls made within your AWS Account by:</a:t>
            </a:r>
          </a:p>
          <a:p>
            <a:pPr>
              <a:spcAft>
                <a:spcPts val="1000"/>
              </a:spcAft>
            </a:pPr>
            <a:r>
              <a:rPr sz="1800" b="0">
                <a:solidFill>
                  <a:srgbClr val="161B26"/>
                </a:solidFill>
                <a:latin typeface="Arial"/>
              </a:rPr>
              <a:t>•  Console</a:t>
            </a:r>
          </a:p>
          <a:p>
            <a:pPr>
              <a:spcAft>
                <a:spcPts val="1000"/>
              </a:spcAft>
            </a:pPr>
            <a:r>
              <a:rPr sz="1800" b="0">
                <a:solidFill>
                  <a:srgbClr val="161B26"/>
                </a:solidFill>
                <a:latin typeface="Arial"/>
              </a:rPr>
              <a:t>•  SDK</a:t>
            </a:r>
          </a:p>
          <a:p>
            <a:pPr>
              <a:spcAft>
                <a:spcPts val="1000"/>
              </a:spcAft>
            </a:pPr>
            <a:r>
              <a:rPr sz="1800" b="0">
                <a:solidFill>
                  <a:srgbClr val="161B26"/>
                </a:solidFill>
                <a:latin typeface="Arial"/>
              </a:rPr>
              <a:t>•  CLI</a:t>
            </a:r>
          </a:p>
          <a:p>
            <a:pPr>
              <a:spcAft>
                <a:spcPts val="1000"/>
              </a:spcAft>
            </a:pPr>
            <a:r>
              <a:rPr sz="1800" b="0">
                <a:solidFill>
                  <a:srgbClr val="161B26"/>
                </a:solidFill>
                <a:latin typeface="Arial"/>
              </a:rPr>
              <a:t>•  AWS Services</a:t>
            </a:r>
          </a:p>
          <a:p>
            <a:pPr>
              <a:spcAft>
                <a:spcPts val="1000"/>
              </a:spcAft>
            </a:pPr>
            <a:r>
              <a:rPr sz="1800" b="0">
                <a:solidFill>
                  <a:srgbClr val="161B26"/>
                </a:solidFill>
                <a:latin typeface="Arial"/>
              </a:rPr>
              <a:t>•  Can put logs from CloudTrail into CloudWatch Logs or S3</a:t>
            </a:r>
          </a:p>
          <a:p>
            <a:pPr>
              <a:spcAft>
                <a:spcPts val="1000"/>
              </a:spcAft>
            </a:pPr>
            <a:r>
              <a:rPr sz="1800" b="0">
                <a:solidFill>
                  <a:srgbClr val="161B26"/>
                </a:solidFill>
                <a:latin typeface="Arial"/>
              </a:rPr>
              <a:t>•  A trail can be applied to All Regions (default) or a single Region.</a:t>
            </a:r>
          </a:p>
          <a:p>
            <a:pPr>
              <a:spcAft>
                <a:spcPts val="1000"/>
              </a:spcAft>
            </a:pPr>
            <a:r>
              <a:rPr sz="1800" b="0">
                <a:solidFill>
                  <a:srgbClr val="161B26"/>
                </a:solidFill>
                <a:latin typeface="Arial"/>
              </a:rPr>
              <a:t>•  If a resource is deleted in AWS, investigate CloudTrail first!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AWS CloudTrail event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11002"/>
            <a:ext cx="10479024" cy="451615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2_0.png"/>
          <p:cNvPicPr>
            <a:picLocks noChangeAspect="1"/>
          </p:cNvPicPr>
          <p:nvPr/>
        </p:nvPicPr>
        <p:blipFill>
          <a:blip r:embed="rId2"/>
          <a:stretch>
            <a:fillRect/>
          </a:stretch>
        </p:blipFill>
        <p:spPr>
          <a:xfrm>
            <a:off x="868680" y="1838434"/>
            <a:ext cx="10424160" cy="4461292"/>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361</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CloudTrail Diagram</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819897"/>
            <a:ext cx="10479024" cy="449836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3_0.png"/>
          <p:cNvPicPr>
            <a:picLocks noChangeAspect="1"/>
          </p:cNvPicPr>
          <p:nvPr/>
        </p:nvPicPr>
        <p:blipFill>
          <a:blip r:embed="rId2"/>
          <a:stretch>
            <a:fillRect/>
          </a:stretch>
        </p:blipFill>
        <p:spPr>
          <a:xfrm>
            <a:off x="868680" y="1847329"/>
            <a:ext cx="10424160" cy="4443501"/>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362</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Debugging in Production, the good old way:</a:t>
            </a:r>
          </a:p>
          <a:p>
            <a:pPr>
              <a:spcAft>
                <a:spcPts val="1000"/>
              </a:spcAft>
            </a:pPr>
            <a:r>
              <a:rPr sz="1800" b="0">
                <a:solidFill>
                  <a:srgbClr val="161B26"/>
                </a:solidFill>
                <a:latin typeface="Arial"/>
              </a:rPr>
              <a:t>•  Test locally</a:t>
            </a:r>
          </a:p>
          <a:p>
            <a:pPr>
              <a:spcAft>
                <a:spcPts val="1000"/>
              </a:spcAft>
            </a:pPr>
            <a:r>
              <a:rPr sz="1800" b="0">
                <a:solidFill>
                  <a:srgbClr val="161B26"/>
                </a:solidFill>
                <a:latin typeface="Arial"/>
              </a:rPr>
              <a:t>•  Add log statements everywhere</a:t>
            </a:r>
          </a:p>
          <a:p>
            <a:pPr>
              <a:spcAft>
                <a:spcPts val="1000"/>
              </a:spcAft>
            </a:pPr>
            <a:r>
              <a:rPr sz="1800" b="0">
                <a:solidFill>
                  <a:srgbClr val="161B26"/>
                </a:solidFill>
                <a:latin typeface="Arial"/>
              </a:rPr>
              <a:t>•  Re-deploy in production</a:t>
            </a:r>
          </a:p>
          <a:p>
            <a:pPr>
              <a:spcAft>
                <a:spcPts val="1000"/>
              </a:spcAft>
            </a:pPr>
            <a:r>
              <a:rPr sz="1800" b="0">
                <a:solidFill>
                  <a:srgbClr val="161B26"/>
                </a:solidFill>
                <a:latin typeface="Arial"/>
              </a:rPr>
              <a:t>•  Log formats differ across applications and log analysis is hard.</a:t>
            </a:r>
          </a:p>
          <a:p>
            <a:pPr>
              <a:spcAft>
                <a:spcPts val="1000"/>
              </a:spcAft>
            </a:pPr>
            <a:r>
              <a:rPr sz="1800" b="0">
                <a:solidFill>
                  <a:srgbClr val="161B26"/>
                </a:solidFill>
                <a:latin typeface="Arial"/>
              </a:rPr>
              <a:t>•  Debugging: one big monolith “easy”, distributed services “hard”</a:t>
            </a:r>
          </a:p>
          <a:p>
            <a:pPr>
              <a:spcAft>
                <a:spcPts val="1000"/>
              </a:spcAft>
            </a:pPr>
            <a:r>
              <a:rPr sz="1800" b="0">
                <a:solidFill>
                  <a:srgbClr val="161B26"/>
                </a:solidFill>
                <a:latin typeface="Arial"/>
              </a:rPr>
              <a:t>•  No common views of your entire architecture</a:t>
            </a:r>
          </a:p>
          <a:p>
            <a:pPr>
              <a:spcAft>
                <a:spcPts val="1000"/>
              </a:spcAft>
            </a:pPr>
            <a:r>
              <a:rPr sz="1800" b="0">
                <a:solidFill>
                  <a:srgbClr val="161B26"/>
                </a:solidFill>
                <a:latin typeface="Arial"/>
              </a:rPr>
              <a:t>•  Enter… AWS X-Ray!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363</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769519" y="1801368"/>
            <a:ext cx="862248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5_0.png"/>
          <p:cNvPicPr>
            <a:picLocks noChangeAspect="1"/>
          </p:cNvPicPr>
          <p:nvPr/>
        </p:nvPicPr>
        <p:blipFill>
          <a:blip r:embed="rId2"/>
          <a:stretch>
            <a:fillRect/>
          </a:stretch>
        </p:blipFill>
        <p:spPr>
          <a:xfrm>
            <a:off x="1796951" y="1828800"/>
            <a:ext cx="8567617"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364</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X-Ray advantages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Troubleshooting performance (bottlenecks)</a:t>
            </a:r>
          </a:p>
          <a:p>
            <a:pPr>
              <a:spcAft>
                <a:spcPts val="1000"/>
              </a:spcAft>
            </a:pPr>
            <a:r>
              <a:rPr sz="1800" b="0">
                <a:solidFill>
                  <a:srgbClr val="161B26"/>
                </a:solidFill>
                <a:latin typeface="Arial"/>
              </a:rPr>
              <a:t>•  Understand dependencies in a microservice architecture</a:t>
            </a:r>
          </a:p>
          <a:p>
            <a:pPr>
              <a:spcAft>
                <a:spcPts val="1000"/>
              </a:spcAft>
            </a:pPr>
            <a:r>
              <a:rPr sz="1800" b="0">
                <a:solidFill>
                  <a:srgbClr val="161B26"/>
                </a:solidFill>
                <a:latin typeface="Arial"/>
              </a:rPr>
              <a:t>•  Pinpoint service issues</a:t>
            </a:r>
          </a:p>
          <a:p>
            <a:pPr>
              <a:spcAft>
                <a:spcPts val="1000"/>
              </a:spcAft>
            </a:pPr>
            <a:r>
              <a:rPr sz="1800" b="0">
                <a:solidFill>
                  <a:srgbClr val="161B26"/>
                </a:solidFill>
                <a:latin typeface="Arial"/>
              </a:rPr>
              <a:t>•  Review request behavior</a:t>
            </a:r>
          </a:p>
          <a:p>
            <a:pPr>
              <a:spcAft>
                <a:spcPts val="1000"/>
              </a:spcAft>
            </a:pPr>
            <a:r>
              <a:rPr sz="1800" b="0">
                <a:solidFill>
                  <a:srgbClr val="161B26"/>
                </a:solidFill>
                <a:latin typeface="Arial"/>
              </a:rPr>
              <a:t>•  Find errors and exceptions</a:t>
            </a:r>
          </a:p>
          <a:p>
            <a:pPr>
              <a:spcAft>
                <a:spcPts val="1000"/>
              </a:spcAft>
            </a:pPr>
            <a:r>
              <a:rPr sz="1800" b="0">
                <a:solidFill>
                  <a:srgbClr val="161B26"/>
                </a:solidFill>
                <a:latin typeface="Arial"/>
              </a:rPr>
              <a:t>•  Are we meeting time SLA?</a:t>
            </a:r>
          </a:p>
          <a:p>
            <a:pPr>
              <a:spcAft>
                <a:spcPts val="1000"/>
              </a:spcAft>
            </a:pPr>
            <a:r>
              <a:rPr sz="1800" b="0">
                <a:solidFill>
                  <a:srgbClr val="161B26"/>
                </a:solidFill>
                <a:latin typeface="Arial"/>
              </a:rPr>
              <a:t>•  Where I am throttled?</a:t>
            </a:r>
          </a:p>
          <a:p>
            <a:pPr>
              <a:spcAft>
                <a:spcPts val="1000"/>
              </a:spcAft>
            </a:pPr>
            <a:r>
              <a:rPr sz="1800" b="0">
                <a:solidFill>
                  <a:srgbClr val="161B26"/>
                </a:solidFill>
                <a:latin typeface="Arial"/>
              </a:rPr>
              <a:t>•  Identify users that are impacted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365</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667726"/>
            <a:ext cx="10479024" cy="243694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7_0.png"/>
          <p:cNvPicPr>
            <a:picLocks noChangeAspect="1"/>
          </p:cNvPicPr>
          <p:nvPr/>
        </p:nvPicPr>
        <p:blipFill>
          <a:blip r:embed="rId2"/>
          <a:stretch>
            <a:fillRect/>
          </a:stretch>
        </p:blipFill>
        <p:spPr>
          <a:xfrm>
            <a:off x="868680" y="2695158"/>
            <a:ext cx="10424160" cy="238208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An ML-powered service for automated code reviews and application performance recommendations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366</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 Reviewer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774702" y="1801368"/>
            <a:ext cx="461211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8_0.png"/>
          <p:cNvPicPr>
            <a:picLocks noChangeAspect="1"/>
          </p:cNvPicPr>
          <p:nvPr/>
        </p:nvPicPr>
        <p:blipFill>
          <a:blip r:embed="rId2"/>
          <a:stretch>
            <a:fillRect/>
          </a:stretch>
        </p:blipFill>
        <p:spPr>
          <a:xfrm>
            <a:off x="3802134" y="1828800"/>
            <a:ext cx="4557251"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Identify critical issues, security vulnerabilities, and hard-to-find bugs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367</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CodeGuru Profiler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76818" y="1801368"/>
            <a:ext cx="70078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69_0.png"/>
          <p:cNvPicPr>
            <a:picLocks noChangeAspect="1"/>
          </p:cNvPicPr>
          <p:nvPr/>
        </p:nvPicPr>
        <p:blipFill>
          <a:blip r:embed="rId2"/>
          <a:stretch>
            <a:fillRect/>
          </a:stretch>
        </p:blipFill>
        <p:spPr>
          <a:xfrm>
            <a:off x="2604250" y="1828800"/>
            <a:ext cx="6953020"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understand the runtime behavior of your application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368</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Service History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085276" y="1801368"/>
            <a:ext cx="599096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0_0.png"/>
          <p:cNvPicPr>
            <a:picLocks noChangeAspect="1"/>
          </p:cNvPicPr>
          <p:nvPr/>
        </p:nvPicPr>
        <p:blipFill>
          <a:blip r:embed="rId2"/>
          <a:stretch>
            <a:fillRect/>
          </a:stretch>
        </p:blipFill>
        <p:spPr>
          <a:xfrm>
            <a:off x="3112708" y="1828800"/>
            <a:ext cx="5936104" cy="411480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Shows all regions, all services health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369</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Previously called AWS Personal Health Dashboard (PHD)</a:t>
            </a:r>
          </a:p>
          <a:p>
            <a:pPr>
              <a:spcAft>
                <a:spcPts val="1000"/>
              </a:spcAft>
            </a:pPr>
            <a:r>
              <a:rPr sz="2000" b="0">
                <a:solidFill>
                  <a:srgbClr val="161B26"/>
                </a:solidFill>
                <a:latin typeface="Arial"/>
              </a:rPr>
              <a:t>•  AWS Account Health Dashboard provides alerts and remediation guidance when AWS is experiencing events that may impact you.</a:t>
            </a:r>
          </a:p>
          <a:p>
            <a:pPr>
              <a:spcAft>
                <a:spcPts val="1000"/>
              </a:spcAft>
            </a:pPr>
            <a:r>
              <a:rPr sz="2000" b="0">
                <a:solidFill>
                  <a:srgbClr val="161B26"/>
                </a:solidFill>
                <a:latin typeface="Arial"/>
              </a:rPr>
              <a:t>•  While the Service Health Dashboard displays the general status of AWS services, Account Health Dashboard gives you a personalized view into the performance and availability of the AWS services underlying your AWS resources.</a:t>
            </a:r>
          </a:p>
          <a:p>
            <a:pPr>
              <a:spcAft>
                <a:spcPts val="1000"/>
              </a:spcAft>
            </a:pPr>
            <a:r>
              <a:rPr sz="2000" b="0">
                <a:solidFill>
                  <a:srgbClr val="161B26"/>
                </a:solidFill>
                <a:latin typeface="Arial"/>
              </a:rPr>
              <a:t>•  The dashboard displays relevant and timely information to help you manage events in progress and provides proactive notification to help you plan for scheduled activities.</a:t>
            </a:r>
          </a:p>
          <a:p>
            <a:pPr>
              <a:spcAft>
                <a:spcPts val="1000"/>
              </a:spcAft>
            </a:pPr>
            <a:r>
              <a:rPr sz="2000" b="0">
                <a:solidFill>
                  <a:srgbClr val="161B26"/>
                </a:solidFill>
                <a:latin typeface="Arial"/>
              </a:rPr>
              <a:t>•  Can aggregate data from an entire AWS Organization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Health Dashboard – Your Account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027980"/>
            <a:ext cx="10479024" cy="371643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2_0.png"/>
          <p:cNvPicPr>
            <a:picLocks noChangeAspect="1"/>
          </p:cNvPicPr>
          <p:nvPr/>
        </p:nvPicPr>
        <p:blipFill>
          <a:blip r:embed="rId2"/>
          <a:stretch>
            <a:fillRect/>
          </a:stretch>
        </p:blipFill>
        <p:spPr>
          <a:xfrm>
            <a:off x="868680" y="2055412"/>
            <a:ext cx="10424160" cy="3661575"/>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Global service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371</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Monitoring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CloudWatch:</a:t>
            </a:r>
          </a:p>
          <a:p>
            <a:pPr>
              <a:spcAft>
                <a:spcPts val="1000"/>
              </a:spcAft>
            </a:pPr>
            <a:r>
              <a:rPr sz="1800" b="0">
                <a:solidFill>
                  <a:srgbClr val="161B26"/>
                </a:solidFill>
                <a:latin typeface="Arial"/>
              </a:rPr>
              <a:t>•  Metrics: monitor the performance of AWS services and billing metrics</a:t>
            </a:r>
          </a:p>
          <a:p>
            <a:pPr>
              <a:spcAft>
                <a:spcPts val="1000"/>
              </a:spcAft>
            </a:pPr>
            <a:r>
              <a:rPr sz="1800" b="0">
                <a:solidFill>
                  <a:srgbClr val="161B26"/>
                </a:solidFill>
                <a:latin typeface="Arial"/>
              </a:rPr>
              <a:t>•  Alarms: automate notification, perform EC2 action, notify to SNS based on metric</a:t>
            </a:r>
          </a:p>
          <a:p>
            <a:pPr>
              <a:spcAft>
                <a:spcPts val="1000"/>
              </a:spcAft>
            </a:pPr>
            <a:r>
              <a:rPr sz="1800" b="0">
                <a:solidFill>
                  <a:srgbClr val="161B26"/>
                </a:solidFill>
                <a:latin typeface="Arial"/>
              </a:rPr>
              <a:t>•  Logs: collect log files from EC2 instances, servers, Lambda functions…</a:t>
            </a:r>
          </a:p>
          <a:p>
            <a:pPr>
              <a:spcAft>
                <a:spcPts val="1000"/>
              </a:spcAft>
            </a:pPr>
            <a:r>
              <a:rPr sz="1800" b="0">
                <a:solidFill>
                  <a:srgbClr val="161B26"/>
                </a:solidFill>
                <a:latin typeface="Arial"/>
              </a:rPr>
              <a:t>•  Events (or EventBridge): react to events in AWS, or trigger a rule on a schedule</a:t>
            </a:r>
          </a:p>
          <a:p>
            <a:pPr>
              <a:spcAft>
                <a:spcPts val="1000"/>
              </a:spcAft>
            </a:pPr>
            <a:r>
              <a:rPr sz="1800" b="0">
                <a:solidFill>
                  <a:srgbClr val="161B26"/>
                </a:solidFill>
                <a:latin typeface="Arial"/>
              </a:rPr>
              <a:t>•  CloudTrail: audit API calls made within your AWS account</a:t>
            </a:r>
          </a:p>
          <a:p>
            <a:pPr>
              <a:spcAft>
                <a:spcPts val="1000"/>
              </a:spcAft>
            </a:pPr>
            <a:r>
              <a:rPr sz="1800" b="0">
                <a:solidFill>
                  <a:srgbClr val="161B26"/>
                </a:solidFill>
                <a:latin typeface="Arial"/>
              </a:rPr>
              <a:t>•  CloudTrail Insights: automated analysis of your CloudTrail Events</a:t>
            </a:r>
          </a:p>
          <a:p>
            <a:pPr>
              <a:spcAft>
                <a:spcPts val="1000"/>
              </a:spcAft>
            </a:pPr>
            <a:r>
              <a:rPr sz="1800" b="0">
                <a:solidFill>
                  <a:srgbClr val="161B26"/>
                </a:solidFill>
                <a:latin typeface="Arial"/>
              </a:rPr>
              <a:t>•  X-Ray: trace requests made through your distributed applications</a:t>
            </a:r>
          </a:p>
          <a:p>
            <a:pPr>
              <a:spcAft>
                <a:spcPts val="1000"/>
              </a:spcAft>
            </a:pPr>
            <a:r>
              <a:rPr sz="1800" b="0">
                <a:solidFill>
                  <a:srgbClr val="161B26"/>
                </a:solidFill>
                <a:latin typeface="Arial"/>
              </a:rPr>
              <a:t>•  AWS Health Dashboard: status of all AWS services across all regions</a:t>
            </a:r>
          </a:p>
          <a:p>
            <a:pPr>
              <a:spcAft>
                <a:spcPts val="1000"/>
              </a:spcAft>
            </a:pPr>
            <a:r>
              <a:rPr sz="1800" b="0">
                <a:solidFill>
                  <a:srgbClr val="161B26"/>
                </a:solidFill>
                <a:latin typeface="Arial"/>
              </a:rPr>
              <a:t>•  AWS Account Health Dashboard: AWS events that impact your infrastructure</a:t>
            </a:r>
          </a:p>
          <a:p>
            <a:pPr>
              <a:spcAft>
                <a:spcPts val="1000"/>
              </a:spcAft>
            </a:pPr>
            <a:r>
              <a:rPr sz="1800" b="0">
                <a:solidFill>
                  <a:srgbClr val="161B26"/>
                </a:solidFill>
                <a:latin typeface="Arial"/>
              </a:rPr>
              <a:t>•  Amazon CodeGuru: automated code reviews and application performance recommendations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372</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MACHINE LEARNING</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Machine Learning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373</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Rekognition</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Find objects, people, text, scenes in images and videos using ML</a:t>
            </a:r>
          </a:p>
          <a:p>
            <a:pPr>
              <a:spcAft>
                <a:spcPts val="1000"/>
              </a:spcAft>
            </a:pPr>
            <a:r>
              <a:rPr sz="1800" b="0">
                <a:solidFill>
                  <a:srgbClr val="161B26"/>
                </a:solidFill>
                <a:latin typeface="Arial"/>
              </a:rPr>
              <a:t>•  Facial analysis and facial search to do user verification, people counting</a:t>
            </a:r>
          </a:p>
          <a:p>
            <a:pPr>
              <a:spcAft>
                <a:spcPts val="1000"/>
              </a:spcAft>
            </a:pPr>
            <a:r>
              <a:rPr sz="1800" b="0">
                <a:solidFill>
                  <a:srgbClr val="161B26"/>
                </a:solidFill>
                <a:latin typeface="Arial"/>
              </a:rPr>
              <a:t>•  Create a database of “familiar faces” or compare against celebrities</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Labeling</a:t>
            </a:r>
          </a:p>
          <a:p>
            <a:pPr>
              <a:spcAft>
                <a:spcPts val="1000"/>
              </a:spcAft>
            </a:pPr>
            <a:r>
              <a:rPr sz="1800" b="0">
                <a:solidFill>
                  <a:srgbClr val="161B26"/>
                </a:solidFill>
                <a:latin typeface="Arial"/>
              </a:rPr>
              <a:t>•  Content Moderation</a:t>
            </a:r>
          </a:p>
          <a:p>
            <a:pPr>
              <a:spcAft>
                <a:spcPts val="1000"/>
              </a:spcAft>
            </a:pPr>
            <a:r>
              <a:rPr sz="1800" b="0">
                <a:solidFill>
                  <a:srgbClr val="161B26"/>
                </a:solidFill>
                <a:latin typeface="Arial"/>
              </a:rPr>
              <a:t>•  Text Detection</a:t>
            </a:r>
          </a:p>
          <a:p>
            <a:pPr>
              <a:spcAft>
                <a:spcPts val="1000"/>
              </a:spcAft>
            </a:pPr>
            <a:r>
              <a:rPr sz="1800" b="0">
                <a:solidFill>
                  <a:srgbClr val="161B26"/>
                </a:solidFill>
                <a:latin typeface="Arial"/>
              </a:rPr>
              <a:t>•  Face Detection and Analysis (gender, age range, emotions…)</a:t>
            </a:r>
          </a:p>
          <a:p>
            <a:pPr>
              <a:spcAft>
                <a:spcPts val="1000"/>
              </a:spcAft>
            </a:pPr>
            <a:r>
              <a:rPr sz="1800" b="0">
                <a:solidFill>
                  <a:srgbClr val="161B26"/>
                </a:solidFill>
                <a:latin typeface="Arial"/>
              </a:rPr>
              <a:t>•  Face Search and Verification</a:t>
            </a:r>
          </a:p>
          <a:p>
            <a:pPr>
              <a:spcAft>
                <a:spcPts val="1000"/>
              </a:spcAft>
            </a:pPr>
            <a:r>
              <a:rPr sz="1800" b="0">
                <a:solidFill>
                  <a:srgbClr val="161B26"/>
                </a:solidFill>
                <a:latin typeface="Arial"/>
              </a:rPr>
              <a:t>•  Celebrity Recognition</a:t>
            </a:r>
          </a:p>
          <a:p>
            <a:pPr>
              <a:spcAft>
                <a:spcPts val="1000"/>
              </a:spcAft>
            </a:pPr>
            <a:r>
              <a:rPr sz="1800" b="0">
                <a:solidFill>
                  <a:srgbClr val="161B26"/>
                </a:solidFill>
                <a:latin typeface="Arial"/>
              </a:rPr>
              <a:t>•  Pathing (ex: for sports game analysis)</a:t>
            </a:r>
          </a:p>
          <a:p>
            <a:pPr>
              <a:spcAft>
                <a:spcPts val="1000"/>
              </a:spcAft>
            </a:pPr>
            <a:r>
              <a:rPr sz="1800" b="0">
                <a:solidFill>
                  <a:srgbClr val="161B26"/>
                </a:solidFill>
                <a:latin typeface="Arial"/>
              </a:rPr>
              <a:t>•  https://aws.amazon.com/rekognition/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374</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Transcribe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43634"/>
            <a:ext cx="10479024" cy="148513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6_0.png"/>
          <p:cNvPicPr>
            <a:picLocks noChangeAspect="1"/>
          </p:cNvPicPr>
          <p:nvPr/>
        </p:nvPicPr>
        <p:blipFill>
          <a:blip r:embed="rId2"/>
          <a:stretch>
            <a:fillRect/>
          </a:stretch>
        </p:blipFill>
        <p:spPr>
          <a:xfrm>
            <a:off x="868680" y="3171066"/>
            <a:ext cx="10424160" cy="1430268"/>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convert speech to text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375</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Polly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135999"/>
            <a:ext cx="10479024" cy="15004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7_0.png"/>
          <p:cNvPicPr>
            <a:picLocks noChangeAspect="1"/>
          </p:cNvPicPr>
          <p:nvPr/>
        </p:nvPicPr>
        <p:blipFill>
          <a:blip r:embed="rId2"/>
          <a:stretch>
            <a:fillRect/>
          </a:stretch>
        </p:blipFill>
        <p:spPr>
          <a:xfrm>
            <a:off x="868680" y="3163431"/>
            <a:ext cx="10424160" cy="1445537"/>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Turn text into lifelike speech using deep learning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376</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Translate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247808"/>
            <a:ext cx="10479024" cy="327678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8_0.png"/>
          <p:cNvPicPr>
            <a:picLocks noChangeAspect="1"/>
          </p:cNvPicPr>
          <p:nvPr/>
        </p:nvPicPr>
        <p:blipFill>
          <a:blip r:embed="rId2"/>
          <a:stretch>
            <a:fillRect/>
          </a:stretch>
        </p:blipFill>
        <p:spPr>
          <a:xfrm>
            <a:off x="868680" y="2275240"/>
            <a:ext cx="10424160" cy="3221920"/>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Natural and accurate language translation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377</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Lex &amp; Connect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3085100"/>
            <a:ext cx="10479024" cy="16022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79_0.png"/>
          <p:cNvPicPr>
            <a:picLocks noChangeAspect="1"/>
          </p:cNvPicPr>
          <p:nvPr/>
        </p:nvPicPr>
        <p:blipFill>
          <a:blip r:embed="rId2"/>
          <a:stretch>
            <a:fillRect/>
          </a:stretch>
        </p:blipFill>
        <p:spPr>
          <a:xfrm>
            <a:off x="868680" y="3112532"/>
            <a:ext cx="10424160" cy="154733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Amazon Lex: (same technology that powers Alexa)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378</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Comprehend</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For Natural Language Processing – NLP</a:t>
            </a:r>
          </a:p>
          <a:p>
            <a:pPr>
              <a:spcAft>
                <a:spcPts val="1000"/>
              </a:spcAft>
            </a:pPr>
            <a:r>
              <a:rPr sz="1800" b="0">
                <a:solidFill>
                  <a:srgbClr val="161B26"/>
                </a:solidFill>
                <a:latin typeface="Arial"/>
              </a:rPr>
              <a:t>•  Fully managed and serverless service</a:t>
            </a:r>
          </a:p>
          <a:p>
            <a:pPr>
              <a:spcAft>
                <a:spcPts val="1000"/>
              </a:spcAft>
            </a:pPr>
            <a:r>
              <a:rPr sz="1800" b="0">
                <a:solidFill>
                  <a:srgbClr val="161B26"/>
                </a:solidFill>
                <a:latin typeface="Arial"/>
              </a:rPr>
              <a:t>•  Uses machine learning to find insights and relationships in text</a:t>
            </a:r>
          </a:p>
          <a:p>
            <a:pPr>
              <a:spcAft>
                <a:spcPts val="1000"/>
              </a:spcAft>
            </a:pPr>
            <a:r>
              <a:rPr sz="1800" b="0">
                <a:solidFill>
                  <a:srgbClr val="161B26"/>
                </a:solidFill>
                <a:latin typeface="Arial"/>
              </a:rPr>
              <a:t>•  Language of the text</a:t>
            </a:r>
          </a:p>
          <a:p>
            <a:pPr>
              <a:spcAft>
                <a:spcPts val="1000"/>
              </a:spcAft>
            </a:pPr>
            <a:r>
              <a:rPr sz="1800" b="0">
                <a:solidFill>
                  <a:srgbClr val="161B26"/>
                </a:solidFill>
                <a:latin typeface="Arial"/>
              </a:rPr>
              <a:t>•  Extracts key phrases, places, people, brands, or events</a:t>
            </a:r>
          </a:p>
          <a:p>
            <a:pPr>
              <a:spcAft>
                <a:spcPts val="1000"/>
              </a:spcAft>
            </a:pPr>
            <a:r>
              <a:rPr sz="1800" b="0">
                <a:solidFill>
                  <a:srgbClr val="161B26"/>
                </a:solidFill>
                <a:latin typeface="Arial"/>
              </a:rPr>
              <a:t>•  Understands how positive or negative the text is</a:t>
            </a:r>
          </a:p>
          <a:p>
            <a:pPr>
              <a:spcAft>
                <a:spcPts val="1000"/>
              </a:spcAft>
            </a:pPr>
            <a:r>
              <a:rPr sz="1800" b="0">
                <a:solidFill>
                  <a:srgbClr val="161B26"/>
                </a:solidFill>
                <a:latin typeface="Arial"/>
              </a:rPr>
              <a:t>•  Analyzes text using tokenization and parts of speech</a:t>
            </a:r>
          </a:p>
          <a:p>
            <a:pPr>
              <a:spcAft>
                <a:spcPts val="1000"/>
              </a:spcAft>
            </a:pPr>
            <a:r>
              <a:rPr sz="1800" b="0">
                <a:solidFill>
                  <a:srgbClr val="161B26"/>
                </a:solidFill>
                <a:latin typeface="Arial"/>
              </a:rPr>
              <a:t>•  Automatically organizes a collection of text files by topic</a:t>
            </a:r>
          </a:p>
          <a:p>
            <a:pPr>
              <a:spcAft>
                <a:spcPts val="1000"/>
              </a:spcAft>
            </a:pPr>
            <a:r>
              <a:rPr sz="1800" b="0">
                <a:solidFill>
                  <a:srgbClr val="161B26"/>
                </a:solidFill>
                <a:latin typeface="Arial"/>
              </a:rPr>
              <a:t>•  Sample use cases:</a:t>
            </a:r>
          </a:p>
          <a:p>
            <a:pPr>
              <a:spcAft>
                <a:spcPts val="1000"/>
              </a:spcAft>
            </a:pPr>
            <a:r>
              <a:rPr sz="1800" b="0">
                <a:solidFill>
                  <a:srgbClr val="161B26"/>
                </a:solidFill>
                <a:latin typeface="Arial"/>
              </a:rPr>
              <a:t>•  analyze customer interactions (emails) to find what leads to a positive or negative experience</a:t>
            </a:r>
          </a:p>
          <a:p>
            <a:pPr>
              <a:spcAft>
                <a:spcPts val="1000"/>
              </a:spcAft>
            </a:pPr>
            <a:r>
              <a:rPr sz="1800" b="0">
                <a:solidFill>
                  <a:srgbClr val="161B26"/>
                </a:solidFill>
                <a:latin typeface="Arial"/>
              </a:rPr>
              <a:t>•  Create and groups articles by topics that Comprehend will uncover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379</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SageMaker</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98402"/>
            <a:ext cx="10479024" cy="37755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1_0.png"/>
          <p:cNvPicPr>
            <a:picLocks noChangeAspect="1"/>
          </p:cNvPicPr>
          <p:nvPr/>
        </p:nvPicPr>
        <p:blipFill>
          <a:blip r:embed="rId2"/>
          <a:stretch>
            <a:fillRect/>
          </a:stretch>
        </p:blipFill>
        <p:spPr>
          <a:xfrm>
            <a:off x="868680" y="2025834"/>
            <a:ext cx="10424160" cy="3720732"/>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service for developers / data scientists to build ML models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Forecast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69525"/>
            <a:ext cx="10479024" cy="22333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2_0.png"/>
          <p:cNvPicPr>
            <a:picLocks noChangeAspect="1"/>
          </p:cNvPicPr>
          <p:nvPr/>
        </p:nvPicPr>
        <p:blipFill>
          <a:blip r:embed="rId2"/>
          <a:stretch>
            <a:fillRect/>
          </a:stretch>
        </p:blipFill>
        <p:spPr>
          <a:xfrm>
            <a:off x="868680" y="2796957"/>
            <a:ext cx="10424160" cy="217848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service that uses ML to deliver highly accurate forecasts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381</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Kendra</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761890"/>
            <a:ext cx="10479024" cy="2248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3_0.png"/>
          <p:cNvPicPr>
            <a:picLocks noChangeAspect="1"/>
          </p:cNvPicPr>
          <p:nvPr/>
        </p:nvPicPr>
        <p:blipFill>
          <a:blip r:embed="rId2"/>
          <a:stretch>
            <a:fillRect/>
          </a:stretch>
        </p:blipFill>
        <p:spPr>
          <a:xfrm>
            <a:off x="868680" y="2789322"/>
            <a:ext cx="10424160" cy="2193756"/>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document search service powered by Machine Learning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382</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Personalize</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543023"/>
            <a:ext cx="10479024" cy="2686353"/>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4_0.png"/>
          <p:cNvPicPr>
            <a:picLocks noChangeAspect="1"/>
          </p:cNvPicPr>
          <p:nvPr/>
        </p:nvPicPr>
        <p:blipFill>
          <a:blip r:embed="rId2"/>
          <a:stretch>
            <a:fillRect/>
          </a:stretch>
        </p:blipFill>
        <p:spPr>
          <a:xfrm>
            <a:off x="868680" y="2570455"/>
            <a:ext cx="10424160" cy="2631489"/>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Fully managed ML-service to build apps with real-time personalized recommendations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383</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Textract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2927312"/>
            <a:ext cx="10479024" cy="191777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5_0.png"/>
          <p:cNvPicPr>
            <a:picLocks noChangeAspect="1"/>
          </p:cNvPicPr>
          <p:nvPr/>
        </p:nvPicPr>
        <p:blipFill>
          <a:blip r:embed="rId2"/>
          <a:stretch>
            <a:fillRect/>
          </a:stretch>
        </p:blipFill>
        <p:spPr>
          <a:xfrm>
            <a:off x="868680" y="2954744"/>
            <a:ext cx="10424160" cy="1862911"/>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Automatically extracts text, handwriting, and data from any scanned documents using AI and ML</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384</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Machine Learning Summary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Rekognition: face detection, labeling, celebrity recognition</a:t>
            </a:r>
          </a:p>
          <a:p>
            <a:pPr>
              <a:spcAft>
                <a:spcPts val="1000"/>
              </a:spcAft>
            </a:pPr>
            <a:r>
              <a:rPr sz="1800" b="0">
                <a:solidFill>
                  <a:srgbClr val="161B26"/>
                </a:solidFill>
                <a:latin typeface="Arial"/>
              </a:rPr>
              <a:t>•  Transcribe: audio to text (ex: subtitles)</a:t>
            </a:r>
          </a:p>
          <a:p>
            <a:pPr>
              <a:spcAft>
                <a:spcPts val="1000"/>
              </a:spcAft>
            </a:pPr>
            <a:r>
              <a:rPr sz="1800" b="0">
                <a:solidFill>
                  <a:srgbClr val="161B26"/>
                </a:solidFill>
                <a:latin typeface="Arial"/>
              </a:rPr>
              <a:t>•  Polly: text to audio</a:t>
            </a:r>
          </a:p>
          <a:p>
            <a:pPr>
              <a:spcAft>
                <a:spcPts val="1000"/>
              </a:spcAft>
            </a:pPr>
            <a:r>
              <a:rPr sz="1800" b="0">
                <a:solidFill>
                  <a:srgbClr val="161B26"/>
                </a:solidFill>
                <a:latin typeface="Arial"/>
              </a:rPr>
              <a:t>•  Translate: translations</a:t>
            </a:r>
          </a:p>
          <a:p>
            <a:pPr>
              <a:spcAft>
                <a:spcPts val="1000"/>
              </a:spcAft>
            </a:pPr>
            <a:r>
              <a:rPr sz="1800" b="0">
                <a:solidFill>
                  <a:srgbClr val="161B26"/>
                </a:solidFill>
                <a:latin typeface="Arial"/>
              </a:rPr>
              <a:t>•  Lex: build conversational bots – chatbots</a:t>
            </a:r>
          </a:p>
          <a:p>
            <a:pPr>
              <a:spcAft>
                <a:spcPts val="1000"/>
              </a:spcAft>
            </a:pPr>
            <a:r>
              <a:rPr sz="1800" b="0">
                <a:solidFill>
                  <a:srgbClr val="161B26"/>
                </a:solidFill>
                <a:latin typeface="Arial"/>
              </a:rPr>
              <a:t>•  Connect: cloud contact center</a:t>
            </a:r>
          </a:p>
          <a:p>
            <a:pPr>
              <a:spcAft>
                <a:spcPts val="1000"/>
              </a:spcAft>
            </a:pPr>
            <a:r>
              <a:rPr sz="1800" b="0">
                <a:solidFill>
                  <a:srgbClr val="161B26"/>
                </a:solidFill>
                <a:latin typeface="Arial"/>
              </a:rPr>
              <a:t>•  Comprehend: natural language processing</a:t>
            </a:r>
          </a:p>
          <a:p>
            <a:pPr>
              <a:spcAft>
                <a:spcPts val="1000"/>
              </a:spcAft>
            </a:pPr>
            <a:r>
              <a:rPr sz="1800" b="0">
                <a:solidFill>
                  <a:srgbClr val="161B26"/>
                </a:solidFill>
                <a:latin typeface="Arial"/>
              </a:rPr>
              <a:t>•  SageMaker: machine learning for every developer and data scientist</a:t>
            </a:r>
          </a:p>
          <a:p>
            <a:pPr>
              <a:spcAft>
                <a:spcPts val="1000"/>
              </a:spcAft>
            </a:pPr>
            <a:r>
              <a:rPr sz="1800" b="0">
                <a:solidFill>
                  <a:srgbClr val="161B26"/>
                </a:solidFill>
                <a:latin typeface="Arial"/>
              </a:rPr>
              <a:t>•  Forecast: build highly accurate forecasts</a:t>
            </a:r>
          </a:p>
          <a:p>
            <a:pPr>
              <a:spcAft>
                <a:spcPts val="1000"/>
              </a:spcAft>
            </a:pPr>
            <a:r>
              <a:rPr sz="1800" b="0">
                <a:solidFill>
                  <a:srgbClr val="161B26"/>
                </a:solidFill>
                <a:latin typeface="Arial"/>
              </a:rPr>
              <a:t>•  Kendra: ML-powered search engine</a:t>
            </a:r>
          </a:p>
          <a:p>
            <a:pPr>
              <a:spcAft>
                <a:spcPts val="1000"/>
              </a:spcAft>
            </a:pPr>
            <a:r>
              <a:rPr sz="1800" b="0">
                <a:solidFill>
                  <a:srgbClr val="161B26"/>
                </a:solidFill>
                <a:latin typeface="Arial"/>
              </a:rPr>
              <a:t>•  Personalize: real-time personalized recommendations</a:t>
            </a:r>
          </a:p>
          <a:p>
            <a:pPr>
              <a:spcAft>
                <a:spcPts val="1000"/>
              </a:spcAft>
            </a:pPr>
            <a:r>
              <a:rPr sz="1800" b="0">
                <a:solidFill>
                  <a:srgbClr val="161B26"/>
                </a:solidFill>
                <a:latin typeface="Arial"/>
              </a:rPr>
              <a:t>•  Textract: detect text and data in documents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385</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Edge locations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671947" y="1801368"/>
            <a:ext cx="88176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387_0.png"/>
          <p:cNvPicPr>
            <a:picLocks noChangeAspect="1"/>
          </p:cNvPicPr>
          <p:nvPr/>
        </p:nvPicPr>
        <p:blipFill>
          <a:blip r:embed="rId2"/>
          <a:stretch>
            <a:fillRect/>
          </a:stretch>
        </p:blipFill>
        <p:spPr>
          <a:xfrm>
            <a:off x="1699379" y="1828800"/>
            <a:ext cx="8762761" cy="4480560"/>
          </a:xfrm>
          <a:prstGeom prst="rect">
            <a:avLst/>
          </a:prstGeom>
        </p:spPr>
      </p:pic>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386</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7</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Support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387</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Security &amp;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388</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Shared Responsibility Model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 - Security of the Cloud</a:t>
            </a:r>
          </a:p>
          <a:p>
            <a:pPr>
              <a:spcAft>
                <a:spcPts val="1000"/>
              </a:spcAft>
            </a:pPr>
            <a:r>
              <a:rPr sz="1800" b="0">
                <a:solidFill>
                  <a:srgbClr val="161B26"/>
                </a:solidFill>
                <a:latin typeface="Arial"/>
              </a:rPr>
              <a:t>•  Protecting infrastructure (hardware, software, facilities, and networking) that runs</a:t>
            </a:r>
          </a:p>
          <a:p>
            <a:pPr>
              <a:spcAft>
                <a:spcPts val="1000"/>
              </a:spcAft>
            </a:pPr>
            <a:r>
              <a:rPr sz="1800" b="0">
                <a:solidFill>
                  <a:srgbClr val="161B26"/>
                </a:solidFill>
                <a:latin typeface="Arial"/>
              </a:rPr>
              <a:t>•  all the AWS services</a:t>
            </a:r>
          </a:p>
          <a:p>
            <a:pPr>
              <a:spcAft>
                <a:spcPts val="1000"/>
              </a:spcAft>
            </a:pPr>
            <a:r>
              <a:rPr sz="1800" b="0">
                <a:solidFill>
                  <a:srgbClr val="161B26"/>
                </a:solidFill>
                <a:latin typeface="Arial"/>
              </a:rPr>
              <a:t>•  Managed services like S3, DynamoDB, RDS, etc.</a:t>
            </a:r>
          </a:p>
          <a:p>
            <a:pPr>
              <a:spcAft>
                <a:spcPts val="1000"/>
              </a:spcAft>
            </a:pPr>
            <a:r>
              <a:rPr sz="1800" b="0">
                <a:solidFill>
                  <a:srgbClr val="161B26"/>
                </a:solidFill>
                <a:latin typeface="Arial"/>
              </a:rPr>
              <a:t>•  Customer responsibility - Security in the Cloud</a:t>
            </a:r>
          </a:p>
          <a:p>
            <a:pPr>
              <a:spcAft>
                <a:spcPts val="1000"/>
              </a:spcAft>
            </a:pPr>
            <a:r>
              <a:rPr sz="1800" b="0">
                <a:solidFill>
                  <a:srgbClr val="161B26"/>
                </a:solidFill>
                <a:latin typeface="Arial"/>
              </a:rPr>
              <a:t>•  For EC2 instance, customer is responsible for management of the guest OS</a:t>
            </a:r>
          </a:p>
          <a:p>
            <a:pPr>
              <a:spcAft>
                <a:spcPts val="1000"/>
              </a:spcAft>
            </a:pPr>
            <a:r>
              <a:rPr sz="1800" b="0">
                <a:solidFill>
                  <a:srgbClr val="161B26"/>
                </a:solidFill>
                <a:latin typeface="Arial"/>
              </a:rPr>
              <a:t>•  (including security patches and updates), firewall &amp; network configuration, IAM</a:t>
            </a:r>
          </a:p>
          <a:p>
            <a:pPr>
              <a:spcAft>
                <a:spcPts val="1000"/>
              </a:spcAft>
            </a:pPr>
            <a:r>
              <a:rPr sz="1800" b="0">
                <a:solidFill>
                  <a:srgbClr val="161B26"/>
                </a:solidFill>
                <a:latin typeface="Arial"/>
              </a:rPr>
              <a:t>•  Encrypting application data</a:t>
            </a:r>
          </a:p>
          <a:p>
            <a:pPr>
              <a:spcAft>
                <a:spcPts val="1000"/>
              </a:spcAft>
            </a:pPr>
            <a:r>
              <a:rPr sz="1800" b="0">
                <a:solidFill>
                  <a:srgbClr val="161B26"/>
                </a:solidFill>
                <a:latin typeface="Arial"/>
              </a:rPr>
              <a:t>•  Shared controls:</a:t>
            </a:r>
          </a:p>
          <a:p>
            <a:pPr>
              <a:spcAft>
                <a:spcPts val="1000"/>
              </a:spcAft>
            </a:pPr>
            <a:r>
              <a:rPr sz="1800" b="0">
                <a:solidFill>
                  <a:srgbClr val="161B26"/>
                </a:solidFill>
                <a:latin typeface="Arial"/>
              </a:rPr>
              <a:t>•  Patch Management, Configuration Management, Awareness &amp; Training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389</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RDS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Manage the underlying EC2 instance, disable SSH access</a:t>
            </a:r>
          </a:p>
          <a:p>
            <a:pPr>
              <a:spcAft>
                <a:spcPts val="1000"/>
              </a:spcAft>
            </a:pPr>
            <a:r>
              <a:rPr sz="1800" b="0">
                <a:solidFill>
                  <a:srgbClr val="161B26"/>
                </a:solidFill>
                <a:latin typeface="Arial"/>
              </a:rPr>
              <a:t>•  Automated DB patching</a:t>
            </a:r>
          </a:p>
          <a:p>
            <a:pPr>
              <a:spcAft>
                <a:spcPts val="1000"/>
              </a:spcAft>
            </a:pPr>
            <a:r>
              <a:rPr sz="1800" b="0">
                <a:solidFill>
                  <a:srgbClr val="161B26"/>
                </a:solidFill>
                <a:latin typeface="Arial"/>
              </a:rPr>
              <a:t>•  Automated OS patching</a:t>
            </a:r>
          </a:p>
          <a:p>
            <a:pPr>
              <a:spcAft>
                <a:spcPts val="1000"/>
              </a:spcAft>
            </a:pPr>
            <a:r>
              <a:rPr sz="1800" b="0">
                <a:solidFill>
                  <a:srgbClr val="161B26"/>
                </a:solidFill>
                <a:latin typeface="Arial"/>
              </a:rPr>
              <a:t>•  Audit the underlying instance and disks &amp; guarantee it functions</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Check the ports / IP / security group inbound rules in DB’s SG</a:t>
            </a:r>
          </a:p>
          <a:p>
            <a:pPr>
              <a:spcAft>
                <a:spcPts val="1000"/>
              </a:spcAft>
            </a:pPr>
            <a:r>
              <a:rPr sz="1800" b="0">
                <a:solidFill>
                  <a:srgbClr val="161B26"/>
                </a:solidFill>
                <a:latin typeface="Arial"/>
              </a:rPr>
              <a:t>•  In-database user creation and permissions</a:t>
            </a:r>
          </a:p>
          <a:p>
            <a:pPr>
              <a:spcAft>
                <a:spcPts val="1000"/>
              </a:spcAft>
            </a:pPr>
            <a:r>
              <a:rPr sz="1800" b="0">
                <a:solidFill>
                  <a:srgbClr val="161B26"/>
                </a:solidFill>
                <a:latin typeface="Arial"/>
              </a:rPr>
              <a:t>•  Creating a database with or without public access</a:t>
            </a:r>
          </a:p>
          <a:p>
            <a:pPr>
              <a:spcAft>
                <a:spcPts val="1000"/>
              </a:spcAft>
            </a:pPr>
            <a:r>
              <a:rPr sz="1800" b="0">
                <a:solidFill>
                  <a:srgbClr val="161B26"/>
                </a:solidFill>
                <a:latin typeface="Arial"/>
              </a:rPr>
              <a:t>•  Ensure parameter groups or DB is configured to only allow SSL connections</a:t>
            </a:r>
          </a:p>
          <a:p>
            <a:pPr>
              <a:spcAft>
                <a:spcPts val="1000"/>
              </a:spcAft>
            </a:pPr>
            <a:r>
              <a:rPr sz="1800" b="0">
                <a:solidFill>
                  <a:srgbClr val="161B26"/>
                </a:solidFill>
                <a:latin typeface="Arial"/>
              </a:rPr>
              <a:t>•  Database encryption setting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Example, for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responsibility:</a:t>
            </a:r>
          </a:p>
          <a:p>
            <a:pPr>
              <a:spcAft>
                <a:spcPts val="1000"/>
              </a:spcAft>
            </a:pPr>
            <a:r>
              <a:rPr sz="1800" b="0">
                <a:solidFill>
                  <a:srgbClr val="161B26"/>
                </a:solidFill>
                <a:latin typeface="Arial"/>
              </a:rPr>
              <a:t>•  Guarantee you get unlimited storage</a:t>
            </a:r>
          </a:p>
          <a:p>
            <a:pPr>
              <a:spcAft>
                <a:spcPts val="1000"/>
              </a:spcAft>
            </a:pPr>
            <a:r>
              <a:rPr sz="1800" b="0">
                <a:solidFill>
                  <a:srgbClr val="161B26"/>
                </a:solidFill>
                <a:latin typeface="Arial"/>
              </a:rPr>
              <a:t>•  Guarantee you get encryption</a:t>
            </a:r>
          </a:p>
          <a:p>
            <a:pPr>
              <a:spcAft>
                <a:spcPts val="1000"/>
              </a:spcAft>
            </a:pPr>
            <a:r>
              <a:rPr sz="1800" b="0">
                <a:solidFill>
                  <a:srgbClr val="161B26"/>
                </a:solidFill>
                <a:latin typeface="Arial"/>
              </a:rPr>
              <a:t>•  Ensure separation of the data between different customers</a:t>
            </a:r>
          </a:p>
          <a:p>
            <a:pPr>
              <a:spcAft>
                <a:spcPts val="1000"/>
              </a:spcAft>
            </a:pPr>
            <a:r>
              <a:rPr sz="1800" b="0">
                <a:solidFill>
                  <a:srgbClr val="161B26"/>
                </a:solidFill>
                <a:latin typeface="Arial"/>
              </a:rPr>
              <a:t>•  Ensure AWS employees can’t access your data</a:t>
            </a:r>
          </a:p>
          <a:p>
            <a:pPr>
              <a:spcAft>
                <a:spcPts val="1000"/>
              </a:spcAft>
            </a:pPr>
            <a:r>
              <a:rPr sz="1800" b="0">
                <a:solidFill>
                  <a:srgbClr val="161B26"/>
                </a:solidFill>
                <a:latin typeface="Arial"/>
              </a:rPr>
              <a:t>•  Your responsibility:</a:t>
            </a:r>
          </a:p>
          <a:p>
            <a:pPr>
              <a:spcAft>
                <a:spcPts val="1000"/>
              </a:spcAft>
            </a:pPr>
            <a:r>
              <a:rPr sz="1800" b="0">
                <a:solidFill>
                  <a:srgbClr val="161B26"/>
                </a:solidFill>
                <a:latin typeface="Arial"/>
              </a:rPr>
              <a:t>•  Bucket configuration</a:t>
            </a:r>
          </a:p>
          <a:p>
            <a:pPr>
              <a:spcAft>
                <a:spcPts val="1000"/>
              </a:spcAft>
            </a:pPr>
            <a:r>
              <a:rPr sz="1800" b="0">
                <a:solidFill>
                  <a:srgbClr val="161B26"/>
                </a:solidFill>
                <a:latin typeface="Arial"/>
              </a:rPr>
              <a:t>•  Bucket policy / public setting</a:t>
            </a:r>
          </a:p>
          <a:p>
            <a:pPr>
              <a:spcAft>
                <a:spcPts val="1000"/>
              </a:spcAft>
            </a:pPr>
            <a:r>
              <a:rPr sz="1800" b="0">
                <a:solidFill>
                  <a:srgbClr val="161B26"/>
                </a:solidFill>
                <a:latin typeface="Arial"/>
              </a:rPr>
              <a:t>•  IAM user and roles</a:t>
            </a:r>
          </a:p>
          <a:p>
            <a:pPr>
              <a:spcAft>
                <a:spcPts val="1000"/>
              </a:spcAft>
            </a:pPr>
            <a:r>
              <a:rPr sz="1800" b="0">
                <a:solidFill>
                  <a:srgbClr val="161B26"/>
                </a:solidFill>
                <a:latin typeface="Arial"/>
              </a:rPr>
              <a:t>•  Enabling encryption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391</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Shared Responsibility Model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70072" y="1801368"/>
            <a:ext cx="802137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3_0.png"/>
          <p:cNvPicPr>
            <a:picLocks noChangeAspect="1"/>
          </p:cNvPicPr>
          <p:nvPr/>
        </p:nvPicPr>
        <p:blipFill>
          <a:blip r:embed="rId2"/>
          <a:stretch>
            <a:fillRect/>
          </a:stretch>
        </p:blipFill>
        <p:spPr>
          <a:xfrm>
            <a:off x="2097504" y="1828800"/>
            <a:ext cx="796651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392</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Reference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42133" y="1801368"/>
            <a:ext cx="827725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4_0.png"/>
          <p:cNvPicPr>
            <a:picLocks noChangeAspect="1"/>
          </p:cNvPicPr>
          <p:nvPr/>
        </p:nvPicPr>
        <p:blipFill>
          <a:blip r:embed="rId2"/>
          <a:stretch>
            <a:fillRect/>
          </a:stretch>
        </p:blipFill>
        <p:spPr>
          <a:xfrm>
            <a:off x="1969565" y="1828800"/>
            <a:ext cx="822238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393</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DDoS Protection on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0695" y="1801368"/>
            <a:ext cx="416012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5_0.png"/>
          <p:cNvPicPr>
            <a:picLocks noChangeAspect="1"/>
          </p:cNvPicPr>
          <p:nvPr/>
        </p:nvPicPr>
        <p:blipFill>
          <a:blip r:embed="rId2"/>
          <a:stretch>
            <a:fillRect/>
          </a:stretch>
        </p:blipFill>
        <p:spPr>
          <a:xfrm>
            <a:off x="4028127" y="1828800"/>
            <a:ext cx="410526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394</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Sample Reference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27730" y="1801368"/>
            <a:ext cx="9906060"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6_0.png"/>
          <p:cNvPicPr>
            <a:picLocks noChangeAspect="1"/>
          </p:cNvPicPr>
          <p:nvPr/>
        </p:nvPicPr>
        <p:blipFill>
          <a:blip r:embed="rId2"/>
          <a:stretch>
            <a:fillRect/>
          </a:stretch>
        </p:blipFill>
        <p:spPr>
          <a:xfrm>
            <a:off x="1155162" y="1828800"/>
            <a:ext cx="9851196"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for DDoS Protection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395</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Shield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Shield Standard:</a:t>
            </a:r>
          </a:p>
          <a:p>
            <a:pPr>
              <a:spcAft>
                <a:spcPts val="1000"/>
              </a:spcAft>
            </a:pPr>
            <a:r>
              <a:rPr sz="1800" b="0">
                <a:solidFill>
                  <a:srgbClr val="161B26"/>
                </a:solidFill>
                <a:latin typeface="Arial"/>
              </a:rPr>
              <a:t>•  Free service that is activated for every AWS customer</a:t>
            </a:r>
          </a:p>
          <a:p>
            <a:pPr>
              <a:spcAft>
                <a:spcPts val="1000"/>
              </a:spcAft>
            </a:pPr>
            <a:r>
              <a:rPr sz="1800" b="0">
                <a:solidFill>
                  <a:srgbClr val="161B26"/>
                </a:solidFill>
                <a:latin typeface="Arial"/>
              </a:rPr>
              <a:t>•  Provides protection from attacks such as SYN/UDP Floods, Reflection attacks and other layer 3/layer 4 attacks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Optional DDoS mitigation service ($3,000 per month per organization)</a:t>
            </a:r>
          </a:p>
          <a:p>
            <a:pPr>
              <a:spcAft>
                <a:spcPts val="1000"/>
              </a:spcAft>
            </a:pPr>
            <a:r>
              <a:rPr sz="1800" b="0">
                <a:solidFill>
                  <a:srgbClr val="161B26"/>
                </a:solidFill>
                <a:latin typeface="Arial"/>
              </a:rPr>
              <a:t>•  Protect against more sophisticated attack on Amazon EC2, Elastic Load</a:t>
            </a:r>
          </a:p>
          <a:p>
            <a:pPr>
              <a:spcAft>
                <a:spcPts val="1000"/>
              </a:spcAft>
            </a:pPr>
            <a:r>
              <a:rPr sz="1800" b="0">
                <a:solidFill>
                  <a:srgbClr val="161B26"/>
                </a:solidFill>
                <a:latin typeface="Arial"/>
              </a:rPr>
              <a:t>•  Balancing (ELB), Amazon CloudFront, AWS Global Accelerator, and Route 53</a:t>
            </a:r>
          </a:p>
          <a:p>
            <a:pPr>
              <a:spcAft>
                <a:spcPts val="1000"/>
              </a:spcAft>
            </a:pPr>
            <a:r>
              <a:rPr sz="1800" b="0">
                <a:solidFill>
                  <a:srgbClr val="161B26"/>
                </a:solidFill>
                <a:latin typeface="Arial"/>
              </a:rPr>
              <a:t>•  24/7 access to AWS DDoS response team (DRP)</a:t>
            </a:r>
          </a:p>
          <a:p>
            <a:pPr>
              <a:spcAft>
                <a:spcPts val="1000"/>
              </a:spcAft>
            </a:pPr>
            <a:r>
              <a:rPr sz="1800" b="0">
                <a:solidFill>
                  <a:srgbClr val="161B26"/>
                </a:solidFill>
                <a:latin typeface="Arial"/>
              </a:rPr>
              <a:t>•  Protect against higher fees during usage spikes due to DDoS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396</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 – Web Application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Protects your web applications from common web exploits (Layer 7)</a:t>
            </a:r>
          </a:p>
          <a:p>
            <a:pPr>
              <a:spcAft>
                <a:spcPts val="1000"/>
              </a:spcAft>
            </a:pPr>
            <a:r>
              <a:rPr sz="1800" b="0">
                <a:solidFill>
                  <a:srgbClr val="161B26"/>
                </a:solidFill>
                <a:latin typeface="Arial"/>
              </a:rPr>
              <a:t>•  Layer 7 is HTTP (vs Layer 4 is TCP)</a:t>
            </a:r>
          </a:p>
          <a:p>
            <a:pPr>
              <a:spcAft>
                <a:spcPts val="1000"/>
              </a:spcAft>
            </a:pPr>
            <a:r>
              <a:rPr sz="1800" b="0">
                <a:solidFill>
                  <a:srgbClr val="161B26"/>
                </a:solidFill>
                <a:latin typeface="Arial"/>
              </a:rPr>
              <a:t>•  Deploy on Application Load Balancer, API Gateway, CloudFront</a:t>
            </a:r>
          </a:p>
          <a:p>
            <a:pPr>
              <a:spcAft>
                <a:spcPts val="1000"/>
              </a:spcAft>
            </a:pPr>
            <a:r>
              <a:rPr sz="1800" b="0">
                <a:solidFill>
                  <a:srgbClr val="161B26"/>
                </a:solidFill>
                <a:latin typeface="Arial"/>
              </a:rPr>
              <a:t>•  Define Web ACL (Web Access Control List):</a:t>
            </a:r>
          </a:p>
          <a:p>
            <a:pPr>
              <a:spcAft>
                <a:spcPts val="1000"/>
              </a:spcAft>
            </a:pPr>
            <a:r>
              <a:rPr sz="1800" b="0">
                <a:solidFill>
                  <a:srgbClr val="161B26"/>
                </a:solidFill>
                <a:latin typeface="Arial"/>
              </a:rPr>
              <a:t>•  Rules can include IP addresses, HTTP headers, HTTP body, or URI strings</a:t>
            </a:r>
          </a:p>
          <a:p>
            <a:pPr>
              <a:spcAft>
                <a:spcPts val="1000"/>
              </a:spcAft>
            </a:pPr>
            <a:r>
              <a:rPr sz="1800" b="0">
                <a:solidFill>
                  <a:srgbClr val="161B26"/>
                </a:solidFill>
                <a:latin typeface="Arial"/>
              </a:rPr>
              <a:t>•  Protects from common attack - SQL injection and Cross-Site Scripting (XSS)</a:t>
            </a:r>
          </a:p>
          <a:p>
            <a:pPr>
              <a:spcAft>
                <a:spcPts val="1000"/>
              </a:spcAft>
            </a:pPr>
            <a:r>
              <a:rPr sz="1800" b="0">
                <a:solidFill>
                  <a:srgbClr val="161B26"/>
                </a:solidFill>
                <a:latin typeface="Arial"/>
              </a:rPr>
              <a:t>•  Size constraints, geo-match (block countries)</a:t>
            </a:r>
          </a:p>
          <a:p>
            <a:pPr>
              <a:spcAft>
                <a:spcPts val="1000"/>
              </a:spcAft>
            </a:pPr>
            <a:r>
              <a:rPr sz="1800" b="0">
                <a:solidFill>
                  <a:srgbClr val="161B26"/>
                </a:solidFill>
                <a:latin typeface="Arial"/>
              </a:rPr>
              <a:t>•  Rate-based rules (to count occurrences of events) – for DDoS protection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397</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WAF</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09908" y="1801368"/>
            <a:ext cx="514170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399_0.png"/>
          <p:cNvPicPr>
            <a:picLocks noChangeAspect="1"/>
          </p:cNvPicPr>
          <p:nvPr/>
        </p:nvPicPr>
        <p:blipFill>
          <a:blip r:embed="rId2"/>
          <a:stretch>
            <a:fillRect/>
          </a:stretch>
        </p:blipFill>
        <p:spPr>
          <a:xfrm>
            <a:off x="3537340" y="1828800"/>
            <a:ext cx="508684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398</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Network Firewall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39468" y="1801368"/>
            <a:ext cx="388258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0_0.png"/>
          <p:cNvPicPr>
            <a:picLocks noChangeAspect="1"/>
          </p:cNvPicPr>
          <p:nvPr/>
        </p:nvPicPr>
        <p:blipFill>
          <a:blip r:embed="rId2"/>
          <a:stretch>
            <a:fillRect/>
          </a:stretch>
        </p:blipFill>
        <p:spPr>
          <a:xfrm>
            <a:off x="4166900" y="1828800"/>
            <a:ext cx="382772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Protect your entire Amazon VPC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399</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Firewall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Manage security rules in all accounts of an AWS Organization</a:t>
            </a:r>
          </a:p>
          <a:p>
            <a:pPr>
              <a:spcAft>
                <a:spcPts val="1000"/>
              </a:spcAft>
            </a:pPr>
            <a:r>
              <a:rPr sz="1800" b="0">
                <a:solidFill>
                  <a:srgbClr val="161B26"/>
                </a:solidFill>
                <a:latin typeface="Arial"/>
              </a:rPr>
              <a:t>•  Security policy: common set of security rules</a:t>
            </a:r>
          </a:p>
          <a:p>
            <a:pPr>
              <a:spcAft>
                <a:spcPts val="1000"/>
              </a:spcAft>
            </a:pPr>
            <a:r>
              <a:rPr sz="1800" b="0">
                <a:solidFill>
                  <a:srgbClr val="161B26"/>
                </a:solidFill>
                <a:latin typeface="Arial"/>
              </a:rPr>
              <a:t>•  VPC Security Groups for EC2, Application Load Balancer, etc…</a:t>
            </a:r>
          </a:p>
          <a:p>
            <a:pPr>
              <a:spcAft>
                <a:spcPts val="1000"/>
              </a:spcAft>
            </a:pPr>
            <a:r>
              <a:rPr sz="1800" b="0">
                <a:solidFill>
                  <a:srgbClr val="161B26"/>
                </a:solidFill>
                <a:latin typeface="Arial"/>
              </a:rPr>
              <a:t>•  WAF rules</a:t>
            </a:r>
          </a:p>
          <a:p>
            <a:pPr>
              <a:spcAft>
                <a:spcPts val="1000"/>
              </a:spcAft>
            </a:pPr>
            <a:r>
              <a:rPr sz="1800" b="0">
                <a:solidFill>
                  <a:srgbClr val="161B26"/>
                </a:solidFill>
                <a:latin typeface="Arial"/>
              </a:rPr>
              <a:t>•  AWS Shield Advanced</a:t>
            </a:r>
          </a:p>
          <a:p>
            <a:pPr>
              <a:spcAft>
                <a:spcPts val="1000"/>
              </a:spcAft>
            </a:pPr>
            <a:r>
              <a:rPr sz="1800" b="0">
                <a:solidFill>
                  <a:srgbClr val="161B26"/>
                </a:solidFill>
                <a:latin typeface="Arial"/>
              </a:rPr>
              <a:t>•  AWS Network Firewall</a:t>
            </a:r>
          </a:p>
          <a:p>
            <a:pPr>
              <a:spcAft>
                <a:spcPts val="1000"/>
              </a:spcAft>
            </a:pPr>
            <a:r>
              <a:rPr sz="1800" b="0">
                <a:solidFill>
                  <a:srgbClr val="161B26"/>
                </a:solidFill>
                <a:latin typeface="Arial"/>
              </a:rPr>
              <a:t>•  Rules are applied to new resources as they are created (good for compliance) across all and future accounts in your Organization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customers are welcome to carry out security assessments o penetration tests against their AWS infrastructure without prior approval for 8 services:</a:t>
            </a:r>
          </a:p>
          <a:p>
            <a:pPr>
              <a:spcAft>
                <a:spcPts val="1000"/>
              </a:spcAft>
            </a:pPr>
            <a:r>
              <a:rPr sz="1800" b="0">
                <a:solidFill>
                  <a:srgbClr val="161B26"/>
                </a:solidFill>
                <a:latin typeface="Arial"/>
              </a:rPr>
              <a:t>•  Amazon EC2 instances, NAT Gateways, and Elastic Load Balancers</a:t>
            </a:r>
          </a:p>
          <a:p>
            <a:pPr>
              <a:spcAft>
                <a:spcPts val="1000"/>
              </a:spcAft>
            </a:pPr>
            <a:r>
              <a:rPr sz="1800" b="0">
                <a:solidFill>
                  <a:srgbClr val="161B26"/>
                </a:solidFill>
                <a:latin typeface="Arial"/>
              </a:rPr>
              <a:t>•  Amazon RDS</a:t>
            </a:r>
          </a:p>
          <a:p>
            <a:pPr>
              <a:spcAft>
                <a:spcPts val="1000"/>
              </a:spcAft>
            </a:pPr>
            <a:r>
              <a:rPr sz="1800" b="0">
                <a:solidFill>
                  <a:srgbClr val="161B26"/>
                </a:solidFill>
                <a:latin typeface="Arial"/>
              </a:rPr>
              <a:t>•  Amazon CloudFront</a:t>
            </a:r>
          </a:p>
          <a:p>
            <a:pPr>
              <a:spcAft>
                <a:spcPts val="1000"/>
              </a:spcAft>
            </a:pPr>
            <a:r>
              <a:rPr sz="1800" b="0">
                <a:solidFill>
                  <a:srgbClr val="161B26"/>
                </a:solidFill>
                <a:latin typeface="Arial"/>
              </a:rPr>
              <a:t>•  Amazon Aurora</a:t>
            </a:r>
          </a:p>
          <a:p>
            <a:pPr>
              <a:spcAft>
                <a:spcPts val="1000"/>
              </a:spcAft>
            </a:pPr>
            <a:r>
              <a:rPr sz="1800" b="0">
                <a:solidFill>
                  <a:srgbClr val="161B26"/>
                </a:solidFill>
                <a:latin typeface="Arial"/>
              </a:rPr>
              <a:t>•  Amazon API Gateways</a:t>
            </a:r>
          </a:p>
          <a:p>
            <a:pPr>
              <a:spcAft>
                <a:spcPts val="1000"/>
              </a:spcAft>
            </a:pPr>
            <a:r>
              <a:rPr sz="1800" b="0">
                <a:solidFill>
                  <a:srgbClr val="161B26"/>
                </a:solidFill>
                <a:latin typeface="Arial"/>
              </a:rPr>
              <a:t>•  AWS Lambda and Lambda Edge functions</a:t>
            </a:r>
          </a:p>
          <a:p>
            <a:pPr>
              <a:spcAft>
                <a:spcPts val="1000"/>
              </a:spcAft>
            </a:pPr>
            <a:r>
              <a:rPr sz="1800" b="0">
                <a:solidFill>
                  <a:srgbClr val="161B26"/>
                </a:solidFill>
                <a:latin typeface="Arial"/>
              </a:rPr>
              <a:t>•  Amazon Lightsail resources</a:t>
            </a:r>
          </a:p>
          <a:p>
            <a:pPr>
              <a:spcAft>
                <a:spcPts val="1000"/>
              </a:spcAft>
            </a:pPr>
            <a:r>
              <a:rPr sz="1800" b="0">
                <a:solidFill>
                  <a:srgbClr val="161B26"/>
                </a:solidFill>
                <a:latin typeface="Arial"/>
              </a:rPr>
              <a:t>•  Amazon Elastic Beanstalk environments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401</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Penetration Testing on AWS Cloud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Prohibited Activities</a:t>
            </a:r>
          </a:p>
          <a:p>
            <a:pPr>
              <a:spcAft>
                <a:spcPts val="1000"/>
              </a:spcAft>
            </a:pPr>
            <a:r>
              <a:rPr sz="1800" b="0">
                <a:solidFill>
                  <a:srgbClr val="161B26"/>
                </a:solidFill>
                <a:latin typeface="Arial"/>
              </a:rPr>
              <a:t>•  DNS zone walking via Amazon Route 53 Hosted Zones</a:t>
            </a:r>
          </a:p>
          <a:p>
            <a:pPr>
              <a:spcAft>
                <a:spcPts val="1000"/>
              </a:spcAft>
            </a:pPr>
            <a:r>
              <a:rPr sz="1800" b="0">
                <a:solidFill>
                  <a:srgbClr val="161B26"/>
                </a:solidFill>
                <a:latin typeface="Arial"/>
              </a:rPr>
              <a:t>•  Denial of Service (DoS), Distributed Denial of Service (DDoS), Simulated DoS, Simulated DDoS</a:t>
            </a:r>
          </a:p>
          <a:p>
            <a:pPr>
              <a:spcAft>
                <a:spcPts val="1000"/>
              </a:spcAft>
            </a:pPr>
            <a:r>
              <a:rPr sz="1800" b="0">
                <a:solidFill>
                  <a:srgbClr val="161B26"/>
                </a:solidFill>
                <a:latin typeface="Arial"/>
              </a:rPr>
              <a:t>•  Port flooding</a:t>
            </a:r>
          </a:p>
          <a:p>
            <a:pPr>
              <a:spcAft>
                <a:spcPts val="1000"/>
              </a:spcAft>
            </a:pPr>
            <a:r>
              <a:rPr sz="1800" b="0">
                <a:solidFill>
                  <a:srgbClr val="161B26"/>
                </a:solidFill>
                <a:latin typeface="Arial"/>
              </a:rPr>
              <a:t>•  Protocol flooding</a:t>
            </a:r>
          </a:p>
          <a:p>
            <a:pPr>
              <a:spcAft>
                <a:spcPts val="1000"/>
              </a:spcAft>
            </a:pPr>
            <a:r>
              <a:rPr sz="1800" b="0">
                <a:solidFill>
                  <a:srgbClr val="161B26"/>
                </a:solidFill>
                <a:latin typeface="Arial"/>
              </a:rPr>
              <a:t>•  Request flooding (login request flooding, API request flooding)</a:t>
            </a:r>
          </a:p>
          <a:p>
            <a:pPr>
              <a:spcAft>
                <a:spcPts val="1000"/>
              </a:spcAft>
            </a:pPr>
            <a:r>
              <a:rPr sz="1800" b="0">
                <a:solidFill>
                  <a:srgbClr val="161B26"/>
                </a:solidFill>
                <a:latin typeface="Arial"/>
              </a:rPr>
              <a:t>•  For any other simulated events, contact aws-security-simulatedevent@amazon.com</a:t>
            </a:r>
          </a:p>
          <a:p>
            <a:pPr>
              <a:spcAft>
                <a:spcPts val="1000"/>
              </a:spcAft>
            </a:pPr>
            <a:r>
              <a:rPr sz="1800" b="0">
                <a:solidFill>
                  <a:srgbClr val="161B26"/>
                </a:solidFill>
                <a:latin typeface="Arial"/>
              </a:rPr>
              <a:t>•  Read more: https://aws.amazon.com/security/penetration-testing/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402</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Data at rest vs. Data in transit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92255"/>
            <a:ext cx="10479024" cy="238789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4_0.png"/>
          <p:cNvPicPr>
            <a:picLocks noChangeAspect="1"/>
          </p:cNvPicPr>
          <p:nvPr/>
        </p:nvPicPr>
        <p:blipFill>
          <a:blip r:embed="rId2"/>
          <a:stretch>
            <a:fillRect/>
          </a:stretch>
        </p:blipFill>
        <p:spPr>
          <a:xfrm>
            <a:off x="868680" y="2719687"/>
            <a:ext cx="10424160" cy="233302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At rest: data stored or archived on a device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403</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KMS (Key Management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Anytime you hear “encryption” for an AWS service, it’s most likely KMS</a:t>
            </a:r>
          </a:p>
          <a:p>
            <a:pPr>
              <a:spcAft>
                <a:spcPts val="1000"/>
              </a:spcAft>
            </a:pPr>
            <a:r>
              <a:rPr sz="1800" b="0">
                <a:solidFill>
                  <a:srgbClr val="161B26"/>
                </a:solidFill>
                <a:latin typeface="Arial"/>
              </a:rPr>
              <a:t>•  KMS = AWS manages the encryption keys for us</a:t>
            </a:r>
          </a:p>
          <a:p>
            <a:pPr>
              <a:spcAft>
                <a:spcPts val="1000"/>
              </a:spcAft>
            </a:pPr>
            <a:r>
              <a:rPr sz="1800" b="0">
                <a:solidFill>
                  <a:srgbClr val="161B26"/>
                </a:solidFill>
                <a:latin typeface="Arial"/>
              </a:rPr>
              <a:t>•  Encryption Opt-in:</a:t>
            </a:r>
          </a:p>
          <a:p>
            <a:pPr>
              <a:spcAft>
                <a:spcPts val="1000"/>
              </a:spcAft>
            </a:pPr>
            <a:r>
              <a:rPr sz="1800" b="0">
                <a:solidFill>
                  <a:srgbClr val="161B26"/>
                </a:solidFill>
                <a:latin typeface="Arial"/>
              </a:rPr>
              <a:t>•  EBS volumes: encrypt volumes</a:t>
            </a:r>
          </a:p>
          <a:p>
            <a:pPr>
              <a:spcAft>
                <a:spcPts val="1000"/>
              </a:spcAft>
            </a:pPr>
            <a:r>
              <a:rPr sz="1800" b="0">
                <a:solidFill>
                  <a:srgbClr val="161B26"/>
                </a:solidFill>
                <a:latin typeface="Arial"/>
              </a:rPr>
              <a:t>•  S3 buckets: Server-side encryption of objects</a:t>
            </a:r>
          </a:p>
          <a:p>
            <a:pPr>
              <a:spcAft>
                <a:spcPts val="1000"/>
              </a:spcAft>
            </a:pPr>
            <a:r>
              <a:rPr sz="1800" b="0">
                <a:solidFill>
                  <a:srgbClr val="161B26"/>
                </a:solidFill>
                <a:latin typeface="Arial"/>
              </a:rPr>
              <a:t>•  Redshift database: encryption of data</a:t>
            </a:r>
          </a:p>
          <a:p>
            <a:pPr>
              <a:spcAft>
                <a:spcPts val="1000"/>
              </a:spcAft>
            </a:pPr>
            <a:r>
              <a:rPr sz="1800" b="0">
                <a:solidFill>
                  <a:srgbClr val="161B26"/>
                </a:solidFill>
                <a:latin typeface="Arial"/>
              </a:rPr>
              <a:t>•  RDS database: encryption of data</a:t>
            </a:r>
          </a:p>
          <a:p>
            <a:pPr>
              <a:spcAft>
                <a:spcPts val="1000"/>
              </a:spcAft>
            </a:pPr>
            <a:r>
              <a:rPr sz="1800" b="0">
                <a:solidFill>
                  <a:srgbClr val="161B26"/>
                </a:solidFill>
                <a:latin typeface="Arial"/>
              </a:rPr>
              <a:t>•  EFS drives: encryption of data</a:t>
            </a:r>
          </a:p>
          <a:p>
            <a:pPr>
              <a:spcAft>
                <a:spcPts val="1000"/>
              </a:spcAft>
            </a:pPr>
            <a:r>
              <a:rPr sz="1800" b="0">
                <a:solidFill>
                  <a:srgbClr val="161B26"/>
                </a:solidFill>
                <a:latin typeface="Arial"/>
              </a:rPr>
              <a:t>•  Encryption Automatically enabled:</a:t>
            </a:r>
          </a:p>
          <a:p>
            <a:pPr>
              <a:spcAft>
                <a:spcPts val="1000"/>
              </a:spcAft>
            </a:pPr>
            <a:r>
              <a:rPr sz="1800" b="0">
                <a:solidFill>
                  <a:srgbClr val="161B26"/>
                </a:solidFill>
                <a:latin typeface="Arial"/>
              </a:rPr>
              <a:t>•  CloudTrail Logs</a:t>
            </a:r>
          </a:p>
          <a:p>
            <a:pPr>
              <a:spcAft>
                <a:spcPts val="1000"/>
              </a:spcAft>
            </a:pPr>
            <a:r>
              <a:rPr sz="1800" b="0">
                <a:solidFill>
                  <a:srgbClr val="161B26"/>
                </a:solidFill>
                <a:latin typeface="Arial"/>
              </a:rPr>
              <a:t>•  S3 Glacier</a:t>
            </a:r>
          </a:p>
          <a:p>
            <a:pPr>
              <a:spcAft>
                <a:spcPts val="1000"/>
              </a:spcAft>
            </a:pPr>
            <a:r>
              <a:rPr sz="1800" b="0">
                <a:solidFill>
                  <a:srgbClr val="161B26"/>
                </a:solidFill>
                <a:latin typeface="Arial"/>
              </a:rPr>
              <a:t>•  Storage Gateway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404</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47148" y="1801368"/>
            <a:ext cx="706722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6_0.png"/>
          <p:cNvPicPr>
            <a:picLocks noChangeAspect="1"/>
          </p:cNvPicPr>
          <p:nvPr/>
        </p:nvPicPr>
        <p:blipFill>
          <a:blip r:embed="rId2"/>
          <a:stretch>
            <a:fillRect/>
          </a:stretch>
        </p:blipFill>
        <p:spPr>
          <a:xfrm>
            <a:off x="2574580" y="1828800"/>
            <a:ext cx="701236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KMS =&gt; AWS manages the software for encryption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405</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CloudHSM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64180"/>
            <a:ext cx="10479024" cy="44097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7_0.png"/>
          <p:cNvPicPr>
            <a:picLocks noChangeAspect="1"/>
          </p:cNvPicPr>
          <p:nvPr/>
        </p:nvPicPr>
        <p:blipFill>
          <a:blip r:embed="rId2"/>
          <a:stretch>
            <a:fillRect/>
          </a:stretch>
        </p:blipFill>
        <p:spPr>
          <a:xfrm>
            <a:off x="868680" y="1891612"/>
            <a:ext cx="10424160" cy="43549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406</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Types of KMS Keys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Customer Managed Key:</a:t>
            </a:r>
          </a:p>
          <a:p>
            <a:pPr>
              <a:spcAft>
                <a:spcPts val="1000"/>
              </a:spcAft>
            </a:pPr>
            <a:r>
              <a:rPr sz="1800" b="0">
                <a:solidFill>
                  <a:srgbClr val="161B26"/>
                </a:solidFill>
                <a:latin typeface="Arial"/>
              </a:rPr>
              <a:t>•  Create, manage and used by the customer, can enable or disable</a:t>
            </a:r>
          </a:p>
          <a:p>
            <a:pPr>
              <a:spcAft>
                <a:spcPts val="1000"/>
              </a:spcAft>
            </a:pPr>
            <a:r>
              <a:rPr sz="1800" b="0">
                <a:solidFill>
                  <a:srgbClr val="161B26"/>
                </a:solidFill>
                <a:latin typeface="Arial"/>
              </a:rPr>
              <a:t>•  Possibility of rotation policy (new key generated every year, old key preserved)</a:t>
            </a:r>
          </a:p>
          <a:p>
            <a:pPr>
              <a:spcAft>
                <a:spcPts val="1000"/>
              </a:spcAft>
            </a:pPr>
            <a:r>
              <a:rPr sz="1800" b="0">
                <a:solidFill>
                  <a:srgbClr val="161B26"/>
                </a:solidFill>
                <a:latin typeface="Arial"/>
              </a:rPr>
              <a:t>•  Possibility to bring-your-own-key</a:t>
            </a:r>
          </a:p>
          <a:p>
            <a:pPr>
              <a:spcAft>
                <a:spcPts val="1000"/>
              </a:spcAft>
            </a:pPr>
            <a:r>
              <a:rPr sz="1800" b="0">
                <a:solidFill>
                  <a:srgbClr val="161B26"/>
                </a:solidFill>
                <a:latin typeface="Arial"/>
              </a:rPr>
              <a:t>•  AWS Managed Key:</a:t>
            </a:r>
          </a:p>
          <a:p>
            <a:pPr>
              <a:spcAft>
                <a:spcPts val="1000"/>
              </a:spcAft>
            </a:pPr>
            <a:r>
              <a:rPr sz="1800" b="0">
                <a:solidFill>
                  <a:srgbClr val="161B26"/>
                </a:solidFill>
                <a:latin typeface="Arial"/>
              </a:rPr>
              <a:t>•  Created, managed and used on the customer’s behalf by AWS</a:t>
            </a:r>
          </a:p>
          <a:p>
            <a:pPr>
              <a:spcAft>
                <a:spcPts val="1000"/>
              </a:spcAft>
            </a:pPr>
            <a:r>
              <a:rPr sz="1800" b="0">
                <a:solidFill>
                  <a:srgbClr val="161B26"/>
                </a:solidFill>
                <a:latin typeface="Arial"/>
              </a:rPr>
              <a:t>•  Used by AWS services (aws/s3, aws/ebs, aws/redshift)</a:t>
            </a:r>
          </a:p>
          <a:p>
            <a:pPr>
              <a:spcAft>
                <a:spcPts val="1000"/>
              </a:spcAft>
            </a:pPr>
            <a:r>
              <a:rPr sz="1800" b="0">
                <a:solidFill>
                  <a:srgbClr val="161B26"/>
                </a:solidFill>
                <a:latin typeface="Arial"/>
              </a:rPr>
              <a:t>•  AWS Owned Key:</a:t>
            </a:r>
          </a:p>
          <a:p>
            <a:pPr>
              <a:spcAft>
                <a:spcPts val="1000"/>
              </a:spcAft>
            </a:pPr>
            <a:r>
              <a:rPr sz="1800" b="0">
                <a:solidFill>
                  <a:srgbClr val="161B26"/>
                </a:solidFill>
                <a:latin typeface="Arial"/>
              </a:rPr>
              <a:t>•  Collection of CMKs that an AWS service owns and manages to use in multiple accounts</a:t>
            </a:r>
          </a:p>
          <a:p>
            <a:pPr>
              <a:spcAft>
                <a:spcPts val="1000"/>
              </a:spcAft>
            </a:pPr>
            <a:r>
              <a:rPr sz="1800" b="0">
                <a:solidFill>
                  <a:srgbClr val="161B26"/>
                </a:solidFill>
                <a:latin typeface="Arial"/>
              </a:rPr>
              <a:t>•  AWS can use those to protect resources in your account (but you can’t view the keys)</a:t>
            </a:r>
          </a:p>
          <a:p>
            <a:pPr>
              <a:spcAft>
                <a:spcPts val="1000"/>
              </a:spcAft>
            </a:pPr>
            <a:r>
              <a:rPr sz="1800" b="0">
                <a:solidFill>
                  <a:srgbClr val="161B26"/>
                </a:solidFill>
                <a:latin typeface="Arial"/>
              </a:rPr>
              <a:t>•  CloudHSM Keys (custom keystore):</a:t>
            </a:r>
          </a:p>
          <a:p>
            <a:pPr>
              <a:spcAft>
                <a:spcPts val="1000"/>
              </a:spcAft>
            </a:pPr>
            <a:r>
              <a:rPr sz="1800" b="0">
                <a:solidFill>
                  <a:srgbClr val="161B26"/>
                </a:solidFill>
                <a:latin typeface="Arial"/>
              </a:rPr>
              <a:t>•  Keys generated from your own CloudHSM hardware device</a:t>
            </a:r>
          </a:p>
          <a:p>
            <a:pPr>
              <a:spcAft>
                <a:spcPts val="1000"/>
              </a:spcAft>
            </a:pPr>
            <a:r>
              <a:rPr sz="1800" b="0">
                <a:solidFill>
                  <a:srgbClr val="161B26"/>
                </a:solidFill>
                <a:latin typeface="Arial"/>
              </a:rPr>
              <a:t>•  Cryptographic operations are performed within the CloudHSM cluster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407</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Certificate Manager (ACM)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11323" y="1801368"/>
            <a:ext cx="3538874"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09_0.png"/>
          <p:cNvPicPr>
            <a:picLocks noChangeAspect="1"/>
          </p:cNvPicPr>
          <p:nvPr/>
        </p:nvPicPr>
        <p:blipFill>
          <a:blip r:embed="rId2"/>
          <a:stretch>
            <a:fillRect/>
          </a:stretch>
        </p:blipFill>
        <p:spPr>
          <a:xfrm>
            <a:off x="4338755" y="1828800"/>
            <a:ext cx="3484010"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Let’s you easily provision, manage, and deploy SSL/TLS Certificates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408</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Secrets Manager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Newer service, meant for storing secrets</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Capability to force rotation of secrets every X days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Automate generation of secrets on rotation (uses Lambda)</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Integration with Amazon RDS (MySQL, PostgreSQL, Aurora)</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Secrets are encrypted using KMS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Mostly meant for RDS integration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409</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Portal that provides customers with on-demand access to AWS compliance documentation and AWS agreements</a:t>
            </a:r>
          </a:p>
          <a:p>
            <a:pPr>
              <a:spcAft>
                <a:spcPts val="1000"/>
              </a:spcAft>
            </a:pPr>
            <a:r>
              <a:rPr sz="2000" b="0">
                <a:solidFill>
                  <a:srgbClr val="161B26"/>
                </a:solidFill>
                <a:latin typeface="Arial"/>
              </a:rPr>
              <a:t>•  Artifact Reports - Allows you to download AWS security and compliance documents from third-party auditors, like AWS ISO certifications, Payment</a:t>
            </a:r>
          </a:p>
          <a:p>
            <a:pPr>
              <a:spcAft>
                <a:spcPts val="1000"/>
              </a:spcAft>
            </a:pPr>
            <a:r>
              <a:rPr sz="2000" b="0">
                <a:solidFill>
                  <a:srgbClr val="161B26"/>
                </a:solidFill>
                <a:latin typeface="Arial"/>
              </a:rPr>
              <a:t>•  Card Industry (PCI), and System and Organization Control (SOC) reports</a:t>
            </a:r>
          </a:p>
          <a:p>
            <a:pPr>
              <a:spcAft>
                <a:spcPts val="1000"/>
              </a:spcAft>
            </a:pPr>
            <a:r>
              <a:rPr sz="2000" b="0">
                <a:solidFill>
                  <a:srgbClr val="161B26"/>
                </a:solidFill>
                <a:latin typeface="Arial"/>
              </a:rPr>
              <a:t>•  Artifact Agreements - Allows you to review, accept, and track the status of AWS agreements such as the Business Associate Addendum (BAA) or the</a:t>
            </a:r>
          </a:p>
          <a:p>
            <a:pPr>
              <a:spcAft>
                <a:spcPts val="1000"/>
              </a:spcAft>
            </a:pPr>
            <a:r>
              <a:rPr sz="2000" b="0">
                <a:solidFill>
                  <a:srgbClr val="161B26"/>
                </a:solidFill>
                <a:latin typeface="Arial"/>
              </a:rPr>
              <a:t>•  Health Insurance Portability and Accountability Act (HIPAA) for an individual account or in your organization</a:t>
            </a:r>
          </a:p>
          <a:p>
            <a:pPr>
              <a:spcAft>
                <a:spcPts val="1000"/>
              </a:spcAft>
            </a:pPr>
            <a:r>
              <a:rPr sz="2000" b="0">
                <a:solidFill>
                  <a:srgbClr val="161B26"/>
                </a:solidFill>
                <a:latin typeface="Arial"/>
              </a:rPr>
              <a:t>•  Can be used to support internal audit or compliance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Artifact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54436"/>
            <a:ext cx="10479024" cy="4429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2_0.png"/>
          <p:cNvPicPr>
            <a:picLocks noChangeAspect="1"/>
          </p:cNvPicPr>
          <p:nvPr/>
        </p:nvPicPr>
        <p:blipFill>
          <a:blip r:embed="rId2"/>
          <a:stretch>
            <a:fillRect/>
          </a:stretch>
        </p:blipFill>
        <p:spPr>
          <a:xfrm>
            <a:off x="868680" y="1881868"/>
            <a:ext cx="10424160" cy="43744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411</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279469"/>
            <a:ext cx="10479024" cy="3579222"/>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3_0.png"/>
          <p:cNvPicPr>
            <a:picLocks noChangeAspect="1"/>
          </p:cNvPicPr>
          <p:nvPr/>
        </p:nvPicPr>
        <p:blipFill>
          <a:blip r:embed="rId2"/>
          <a:stretch>
            <a:fillRect/>
          </a:stretch>
        </p:blipFill>
        <p:spPr>
          <a:xfrm>
            <a:off x="868680" y="2306901"/>
            <a:ext cx="10424160" cy="3524358"/>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412</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Intelligent Threat discovery to protect your AWS Account</a:t>
            </a:r>
          </a:p>
          <a:p>
            <a:pPr>
              <a:spcAft>
                <a:spcPts val="1000"/>
              </a:spcAft>
            </a:pPr>
            <a:r>
              <a:rPr sz="1800" b="0">
                <a:solidFill>
                  <a:srgbClr val="161B26"/>
                </a:solidFill>
                <a:latin typeface="Arial"/>
              </a:rPr>
              <a:t>•  Uses Machine Learning algorithms, anomaly detection, 3rd party data</a:t>
            </a:r>
          </a:p>
          <a:p>
            <a:pPr>
              <a:spcAft>
                <a:spcPts val="1000"/>
              </a:spcAft>
            </a:pPr>
            <a:r>
              <a:rPr sz="1800" b="0">
                <a:solidFill>
                  <a:srgbClr val="161B26"/>
                </a:solidFill>
                <a:latin typeface="Arial"/>
              </a:rPr>
              <a:t>•  One click to enable (30 days trial), no need to install software</a:t>
            </a:r>
          </a:p>
          <a:p>
            <a:pPr>
              <a:spcAft>
                <a:spcPts val="1000"/>
              </a:spcAft>
            </a:pPr>
            <a:r>
              <a:rPr sz="1800" b="0">
                <a:solidFill>
                  <a:srgbClr val="161B26"/>
                </a:solidFill>
                <a:latin typeface="Arial"/>
              </a:rPr>
              <a:t>•  Input data includes:</a:t>
            </a:r>
          </a:p>
          <a:p>
            <a:pPr>
              <a:spcAft>
                <a:spcPts val="1000"/>
              </a:spcAft>
            </a:pPr>
            <a:r>
              <a:rPr sz="1800" b="0">
                <a:solidFill>
                  <a:srgbClr val="161B26"/>
                </a:solidFill>
                <a:latin typeface="Arial"/>
              </a:rPr>
              <a:t>•  CloudTrail Events Logs – unusual API calls, unauthorized deployments</a:t>
            </a:r>
          </a:p>
          <a:p>
            <a:pPr>
              <a:spcAft>
                <a:spcPts val="1000"/>
              </a:spcAft>
            </a:pPr>
            <a:r>
              <a:rPr sz="1800" b="0">
                <a:solidFill>
                  <a:srgbClr val="161B26"/>
                </a:solidFill>
                <a:latin typeface="Arial"/>
              </a:rPr>
              <a:t>•  CloudTrail Management Events – create VPC subnet, create trail, …</a:t>
            </a:r>
          </a:p>
          <a:p>
            <a:pPr>
              <a:spcAft>
                <a:spcPts val="1000"/>
              </a:spcAft>
            </a:pPr>
            <a:r>
              <a:rPr sz="1800" b="0">
                <a:solidFill>
                  <a:srgbClr val="161B26"/>
                </a:solidFill>
                <a:latin typeface="Arial"/>
              </a:rPr>
              <a:t>•  CloudTrail S3 Data Events – get object, list objects, delete object, …</a:t>
            </a:r>
          </a:p>
          <a:p>
            <a:pPr>
              <a:spcAft>
                <a:spcPts val="1000"/>
              </a:spcAft>
            </a:pPr>
            <a:r>
              <a:rPr sz="1800" b="0">
                <a:solidFill>
                  <a:srgbClr val="161B26"/>
                </a:solidFill>
                <a:latin typeface="Arial"/>
              </a:rPr>
              <a:t>•  VPC Flow Logs – unusual internal traffic, unusual IP address</a:t>
            </a:r>
          </a:p>
          <a:p>
            <a:pPr>
              <a:spcAft>
                <a:spcPts val="1000"/>
              </a:spcAft>
            </a:pPr>
            <a:r>
              <a:rPr sz="1800" b="0">
                <a:solidFill>
                  <a:srgbClr val="161B26"/>
                </a:solidFill>
                <a:latin typeface="Arial"/>
              </a:rPr>
              <a:t>•  DNS Logs – compromised EC2 instances sending encoded data within DNS queries</a:t>
            </a:r>
          </a:p>
          <a:p>
            <a:pPr>
              <a:spcAft>
                <a:spcPts val="1000"/>
              </a:spcAft>
            </a:pPr>
            <a:r>
              <a:rPr sz="1800" b="0">
                <a:solidFill>
                  <a:srgbClr val="161B26"/>
                </a:solidFill>
                <a:latin typeface="Arial"/>
              </a:rPr>
              <a:t>•  Optional Features – EKS Audit Logs, RDS &amp; Aurora, EBS, Lambda, S3 Data Events…</a:t>
            </a:r>
          </a:p>
          <a:p>
            <a:pPr>
              <a:spcAft>
                <a:spcPts val="1000"/>
              </a:spcAft>
            </a:pPr>
            <a:r>
              <a:rPr sz="1800" b="0">
                <a:solidFill>
                  <a:srgbClr val="161B26"/>
                </a:solidFill>
                <a:latin typeface="Arial"/>
              </a:rPr>
              <a:t>•  Can setup EventBridge rules to be notified in case of findings</a:t>
            </a:r>
          </a:p>
          <a:p>
            <a:pPr>
              <a:spcAft>
                <a:spcPts val="1000"/>
              </a:spcAft>
            </a:pPr>
            <a:r>
              <a:rPr sz="1800" b="0">
                <a:solidFill>
                  <a:srgbClr val="161B26"/>
                </a:solidFill>
                <a:latin typeface="Arial"/>
              </a:rPr>
              <a:t>•  EventBridge rules can target AWS Lambda or SNS</a:t>
            </a:r>
          </a:p>
          <a:p>
            <a:pPr>
              <a:spcAft>
                <a:spcPts val="1000"/>
              </a:spcAft>
            </a:pPr>
            <a:r>
              <a:rPr sz="1800" b="0">
                <a:solidFill>
                  <a:srgbClr val="161B26"/>
                </a:solidFill>
                <a:latin typeface="Arial"/>
              </a:rPr>
              <a:t>•  Can protect against CryptoCurrency attacks (has a dedicated “finding” for 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413</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GuardDuty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4064" y="1801368"/>
            <a:ext cx="961339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5_0.png"/>
          <p:cNvPicPr>
            <a:picLocks noChangeAspect="1"/>
          </p:cNvPicPr>
          <p:nvPr/>
        </p:nvPicPr>
        <p:blipFill>
          <a:blip r:embed="rId2"/>
          <a:stretch>
            <a:fillRect/>
          </a:stretch>
        </p:blipFill>
        <p:spPr>
          <a:xfrm>
            <a:off x="1301496" y="1828800"/>
            <a:ext cx="955852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414</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Inspector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34613" y="1801368"/>
            <a:ext cx="369229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6_0.png"/>
          <p:cNvPicPr>
            <a:picLocks noChangeAspect="1"/>
          </p:cNvPicPr>
          <p:nvPr/>
        </p:nvPicPr>
        <p:blipFill>
          <a:blip r:embed="rId2"/>
          <a:stretch>
            <a:fillRect/>
          </a:stretch>
        </p:blipFill>
        <p:spPr>
          <a:xfrm>
            <a:off x="4262045" y="1828800"/>
            <a:ext cx="363742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Automated Security Assessments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415</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What does Amazon Inspector evaluate?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Remember: only for EC2 instances, Container Images &amp; Lambda functions</a:t>
            </a:r>
          </a:p>
          <a:p>
            <a:pPr>
              <a:spcAft>
                <a:spcPts val="1000"/>
              </a:spcAft>
            </a:pPr>
            <a:r>
              <a:rPr sz="2000" b="0">
                <a:solidFill>
                  <a:srgbClr val="161B26"/>
                </a:solidFill>
                <a:latin typeface="Arial"/>
              </a:rPr>
              <a:t>•  Continuous scanning of the infrastructure, only when needed</a:t>
            </a:r>
          </a:p>
          <a:p>
            <a:pPr>
              <a:spcAft>
                <a:spcPts val="1000"/>
              </a:spcAft>
            </a:pPr>
            <a:r>
              <a:rPr sz="2000" b="0">
                <a:solidFill>
                  <a:srgbClr val="161B26"/>
                </a:solidFill>
                <a:latin typeface="Arial"/>
              </a:rPr>
              <a:t>•  Package vulnerabilities (EC2, ECR &amp; Lambda) – database of CVE</a:t>
            </a:r>
          </a:p>
          <a:p>
            <a:pPr>
              <a:spcAft>
                <a:spcPts val="1000"/>
              </a:spcAft>
            </a:pPr>
            <a:r>
              <a:rPr sz="2000" b="0">
                <a:solidFill>
                  <a:srgbClr val="161B26"/>
                </a:solidFill>
                <a:latin typeface="Arial"/>
              </a:rPr>
              <a:t>•  Network reachability (EC2)</a:t>
            </a:r>
          </a:p>
          <a:p>
            <a:pPr>
              <a:spcAft>
                <a:spcPts val="1000"/>
              </a:spcAft>
            </a:pPr>
            <a:r>
              <a:rPr sz="2000" b="0">
                <a:solidFill>
                  <a:srgbClr val="161B26"/>
                </a:solidFill>
                <a:latin typeface="Arial"/>
              </a:rPr>
              <a:t>•  A risk score is associated with all  vulnerabilities for prioritization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416</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Helps with auditing and recording compliance of your AWS resources</a:t>
            </a:r>
          </a:p>
          <a:p>
            <a:pPr>
              <a:spcAft>
                <a:spcPts val="1000"/>
              </a:spcAft>
            </a:pPr>
            <a:r>
              <a:rPr sz="1800" b="0">
                <a:solidFill>
                  <a:srgbClr val="161B26"/>
                </a:solidFill>
                <a:latin typeface="Arial"/>
              </a:rPr>
              <a:t>•  Helps record configurations and changes over time</a:t>
            </a:r>
          </a:p>
          <a:p>
            <a:pPr>
              <a:spcAft>
                <a:spcPts val="1000"/>
              </a:spcAft>
            </a:pPr>
            <a:r>
              <a:rPr sz="1800" b="0">
                <a:solidFill>
                  <a:srgbClr val="161B26"/>
                </a:solidFill>
                <a:latin typeface="Arial"/>
              </a:rPr>
              <a:t>•  Possibility of storing the configuration data into S3 (analyzed by Athena)</a:t>
            </a:r>
          </a:p>
          <a:p>
            <a:pPr>
              <a:spcAft>
                <a:spcPts val="1000"/>
              </a:spcAft>
            </a:pPr>
            <a:r>
              <a:rPr sz="1800" b="0">
                <a:solidFill>
                  <a:srgbClr val="161B26"/>
                </a:solidFill>
                <a:latin typeface="Arial"/>
              </a:rPr>
              <a:t>•  Questions that can be solved by AWS Config:</a:t>
            </a:r>
          </a:p>
          <a:p>
            <a:pPr>
              <a:spcAft>
                <a:spcPts val="1000"/>
              </a:spcAft>
            </a:pPr>
            <a:r>
              <a:rPr sz="1800" b="0">
                <a:solidFill>
                  <a:srgbClr val="161B26"/>
                </a:solidFill>
                <a:latin typeface="Arial"/>
              </a:rPr>
              <a:t>•  Is there unrestricted SSH access to my security groups?</a:t>
            </a:r>
          </a:p>
          <a:p>
            <a:pPr>
              <a:spcAft>
                <a:spcPts val="1000"/>
              </a:spcAft>
            </a:pPr>
            <a:r>
              <a:rPr sz="1800" b="0">
                <a:solidFill>
                  <a:srgbClr val="161B26"/>
                </a:solidFill>
                <a:latin typeface="Arial"/>
              </a:rPr>
              <a:t>•  Do my buckets have any public access?</a:t>
            </a:r>
          </a:p>
          <a:p>
            <a:pPr>
              <a:spcAft>
                <a:spcPts val="1000"/>
              </a:spcAft>
            </a:pPr>
            <a:r>
              <a:rPr sz="1800" b="0">
                <a:solidFill>
                  <a:srgbClr val="161B26"/>
                </a:solidFill>
                <a:latin typeface="Arial"/>
              </a:rPr>
              <a:t>•  How has my ALB configuration changed over time?</a:t>
            </a:r>
          </a:p>
          <a:p>
            <a:pPr>
              <a:spcAft>
                <a:spcPts val="1000"/>
              </a:spcAft>
            </a:pPr>
            <a:r>
              <a:rPr sz="1800" b="0">
                <a:solidFill>
                  <a:srgbClr val="161B26"/>
                </a:solidFill>
                <a:latin typeface="Arial"/>
              </a:rPr>
              <a:t>•  You can receive alerts (SNS notifications) for any changes</a:t>
            </a:r>
          </a:p>
          <a:p>
            <a:pPr>
              <a:spcAft>
                <a:spcPts val="1000"/>
              </a:spcAft>
            </a:pPr>
            <a:r>
              <a:rPr sz="1800" b="0">
                <a:solidFill>
                  <a:srgbClr val="161B26"/>
                </a:solidFill>
                <a:latin typeface="Arial"/>
              </a:rPr>
              <a:t>•  AWS Config is a per-region service</a:t>
            </a:r>
          </a:p>
          <a:p>
            <a:pPr>
              <a:spcAft>
                <a:spcPts val="1000"/>
              </a:spcAft>
            </a:pPr>
            <a:r>
              <a:rPr sz="1800" b="0">
                <a:solidFill>
                  <a:srgbClr val="161B26"/>
                </a:solidFill>
                <a:latin typeface="Arial"/>
              </a:rPr>
              <a:t>•  Can be aggregated across regions and accounts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417</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Config Resource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97622" y="1801368"/>
            <a:ext cx="916627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19_0.png"/>
          <p:cNvPicPr>
            <a:picLocks noChangeAspect="1"/>
          </p:cNvPicPr>
          <p:nvPr/>
        </p:nvPicPr>
        <p:blipFill>
          <a:blip r:embed="rId2"/>
          <a:stretch>
            <a:fillRect/>
          </a:stretch>
        </p:blipFill>
        <p:spPr>
          <a:xfrm>
            <a:off x="1525054" y="1828800"/>
            <a:ext cx="911141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418</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Macie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51529"/>
            <a:ext cx="10479024" cy="263510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0_0.png"/>
          <p:cNvPicPr>
            <a:picLocks noChangeAspect="1"/>
          </p:cNvPicPr>
          <p:nvPr/>
        </p:nvPicPr>
        <p:blipFill>
          <a:blip r:embed="rId2"/>
          <a:stretch>
            <a:fillRect/>
          </a:stretch>
        </p:blipFill>
        <p:spPr>
          <a:xfrm>
            <a:off x="868680" y="2778961"/>
            <a:ext cx="10424160" cy="258023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419</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Central security tool to manage security across several AWS accounts and automate security checks</a:t>
            </a:r>
          </a:p>
          <a:p>
            <a:pPr>
              <a:spcAft>
                <a:spcPts val="1000"/>
              </a:spcAft>
            </a:pPr>
            <a:r>
              <a:rPr sz="1800" b="0">
                <a:solidFill>
                  <a:srgbClr val="161B26"/>
                </a:solidFill>
                <a:latin typeface="Arial"/>
              </a:rPr>
              <a:t>•  Integrated dashboards showing current security and compliance status to quickly take actions</a:t>
            </a:r>
          </a:p>
          <a:p>
            <a:pPr>
              <a:spcAft>
                <a:spcPts val="1000"/>
              </a:spcAft>
            </a:pPr>
            <a:r>
              <a:rPr sz="1800" b="0">
                <a:solidFill>
                  <a:srgbClr val="161B26"/>
                </a:solidFill>
                <a:latin typeface="Arial"/>
              </a:rPr>
              <a:t>•  Automatically aggregates alerts in predefined or personal findings formats from various AWS services &amp; AWS partner tools:</a:t>
            </a:r>
          </a:p>
          <a:p>
            <a:pPr>
              <a:spcAft>
                <a:spcPts val="1000"/>
              </a:spcAft>
            </a:pPr>
            <a:r>
              <a:rPr sz="1800" b="0">
                <a:solidFill>
                  <a:srgbClr val="161B26"/>
                </a:solidFill>
                <a:latin typeface="Arial"/>
              </a:rPr>
              <a:t>•  Config</a:t>
            </a:r>
          </a:p>
          <a:p>
            <a:pPr>
              <a:spcAft>
                <a:spcPts val="1000"/>
              </a:spcAft>
            </a:pPr>
            <a:r>
              <a:rPr sz="1800" b="0">
                <a:solidFill>
                  <a:srgbClr val="161B26"/>
                </a:solidFill>
                <a:latin typeface="Arial"/>
              </a:rPr>
              <a:t>•  GuardDuty</a:t>
            </a:r>
          </a:p>
          <a:p>
            <a:pPr>
              <a:spcAft>
                <a:spcPts val="1000"/>
              </a:spcAft>
            </a:pPr>
            <a:r>
              <a:rPr sz="1800" b="0">
                <a:solidFill>
                  <a:srgbClr val="161B26"/>
                </a:solidFill>
                <a:latin typeface="Arial"/>
              </a:rPr>
              <a:t>•  Inspector</a:t>
            </a:r>
          </a:p>
          <a:p>
            <a:pPr>
              <a:spcAft>
                <a:spcPts val="1000"/>
              </a:spcAft>
            </a:pPr>
            <a:r>
              <a:rPr sz="1800" b="0">
                <a:solidFill>
                  <a:srgbClr val="161B26"/>
                </a:solidFill>
                <a:latin typeface="Arial"/>
              </a:rPr>
              <a:t>•  Macie</a:t>
            </a:r>
          </a:p>
          <a:p>
            <a:pPr>
              <a:spcAft>
                <a:spcPts val="1000"/>
              </a:spcAft>
            </a:pPr>
            <a:r>
              <a:rPr sz="1800" b="0">
                <a:solidFill>
                  <a:srgbClr val="161B26"/>
                </a:solidFill>
                <a:latin typeface="Arial"/>
              </a:rPr>
              <a:t>•  IAM Access Analyzer</a:t>
            </a:r>
          </a:p>
          <a:p>
            <a:pPr>
              <a:spcAft>
                <a:spcPts val="1000"/>
              </a:spcAft>
            </a:pPr>
            <a:r>
              <a:rPr sz="1800" b="0">
                <a:solidFill>
                  <a:srgbClr val="161B26"/>
                </a:solidFill>
                <a:latin typeface="Arial"/>
              </a:rPr>
              <a:t>•  AWS Systems Manager</a:t>
            </a:r>
          </a:p>
          <a:p>
            <a:pPr>
              <a:spcAft>
                <a:spcPts val="1000"/>
              </a:spcAft>
            </a:pPr>
            <a:r>
              <a:rPr sz="1800" b="0">
                <a:solidFill>
                  <a:srgbClr val="161B26"/>
                </a:solidFill>
                <a:latin typeface="Arial"/>
              </a:rPr>
              <a:t>•  AWS Firewall Manager</a:t>
            </a:r>
          </a:p>
          <a:p>
            <a:pPr>
              <a:spcAft>
                <a:spcPts val="1000"/>
              </a:spcAft>
            </a:pPr>
            <a:r>
              <a:rPr sz="1800" b="0">
                <a:solidFill>
                  <a:srgbClr val="161B26"/>
                </a:solidFill>
                <a:latin typeface="Arial"/>
              </a:rPr>
              <a:t>•  AWS Health</a:t>
            </a:r>
          </a:p>
          <a:p>
            <a:pPr>
              <a:spcAft>
                <a:spcPts val="1000"/>
              </a:spcAft>
            </a:pPr>
            <a:r>
              <a:rPr sz="1800" b="0">
                <a:solidFill>
                  <a:srgbClr val="161B26"/>
                </a:solidFill>
                <a:latin typeface="Arial"/>
              </a:rPr>
              <a:t>•  AWS Partner Network Solutions</a:t>
            </a:r>
          </a:p>
          <a:p>
            <a:pPr>
              <a:spcAft>
                <a:spcPts val="1000"/>
              </a:spcAft>
            </a:pPr>
            <a:r>
              <a:rPr sz="1800" b="0">
                <a:solidFill>
                  <a:srgbClr val="161B26"/>
                </a:solidFill>
                <a:latin typeface="Arial"/>
              </a:rPr>
              <a:t>•  Must first enable the AWS Config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Security Hub</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98203" y="1801368"/>
            <a:ext cx="976511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2_0.png"/>
          <p:cNvPicPr>
            <a:picLocks noChangeAspect="1"/>
          </p:cNvPicPr>
          <p:nvPr/>
        </p:nvPicPr>
        <p:blipFill>
          <a:blip r:embed="rId2"/>
          <a:stretch>
            <a:fillRect/>
          </a:stretch>
        </p:blipFill>
        <p:spPr>
          <a:xfrm>
            <a:off x="1225635" y="1828800"/>
            <a:ext cx="971025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421</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Detective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GuardDuty, Macie, and Security Hub are used to identify potential security issues, or findings</a:t>
            </a:r>
          </a:p>
          <a:p>
            <a:pPr>
              <a:spcAft>
                <a:spcPts val="1000"/>
              </a:spcAft>
            </a:pPr>
            <a:r>
              <a:rPr sz="2000" b="0">
                <a:solidFill>
                  <a:srgbClr val="161B26"/>
                </a:solidFill>
                <a:latin typeface="Arial"/>
              </a:rPr>
              <a:t>•  Sometimes security findings require deeper analysis to isolate the root cause and take action – it’s a complex process</a:t>
            </a:r>
          </a:p>
          <a:p>
            <a:pPr>
              <a:spcAft>
                <a:spcPts val="1000"/>
              </a:spcAft>
            </a:pPr>
            <a:r>
              <a:rPr sz="2000" b="0">
                <a:solidFill>
                  <a:srgbClr val="161B26"/>
                </a:solidFill>
                <a:latin typeface="Arial"/>
              </a:rPr>
              <a:t>•  Amazon Detective analyzes, investigates, and quickly identifies the root cause of security issues or suspicious activities (using ML and graphs)</a:t>
            </a:r>
          </a:p>
          <a:p>
            <a:pPr>
              <a:spcAft>
                <a:spcPts val="1000"/>
              </a:spcAft>
            </a:pPr>
            <a:r>
              <a:rPr sz="2000" b="0">
                <a:solidFill>
                  <a:srgbClr val="161B26"/>
                </a:solidFill>
                <a:latin typeface="Arial"/>
              </a:rPr>
              <a:t>•  Automatically collects and processes events from VPC Flow Logs, CloudTrail, GuardDuty and create a unified view</a:t>
            </a:r>
          </a:p>
          <a:p>
            <a:pPr>
              <a:spcAft>
                <a:spcPts val="1000"/>
              </a:spcAft>
            </a:pPr>
            <a:r>
              <a:rPr sz="2000" b="0">
                <a:solidFill>
                  <a:srgbClr val="161B26"/>
                </a:solidFill>
                <a:latin typeface="Arial"/>
              </a:rPr>
              <a:t>•  Produces visualizations with details and context to get to the root cause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422</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Abuse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Report suspected AWS resources used for abusive or illegal purposes</a:t>
            </a:r>
          </a:p>
          <a:p>
            <a:pPr>
              <a:spcAft>
                <a:spcPts val="1000"/>
              </a:spcAft>
            </a:pPr>
            <a:r>
              <a:rPr sz="1800" b="0">
                <a:solidFill>
                  <a:srgbClr val="161B26"/>
                </a:solidFill>
                <a:latin typeface="Arial"/>
              </a:rPr>
              <a:t>•  Abusive &amp; prohibited behaviors are:</a:t>
            </a:r>
          </a:p>
          <a:p>
            <a:pPr>
              <a:spcAft>
                <a:spcPts val="1000"/>
              </a:spcAft>
            </a:pPr>
            <a:r>
              <a:rPr sz="1800" b="0">
                <a:solidFill>
                  <a:srgbClr val="161B26"/>
                </a:solidFill>
                <a:latin typeface="Arial"/>
              </a:rPr>
              <a:t>•  Spam – receiving undesired emails from AWS-owned IP address, websites &amp; forum spammed by AWS resources</a:t>
            </a:r>
          </a:p>
          <a:p>
            <a:pPr>
              <a:spcAft>
                <a:spcPts val="1000"/>
              </a:spcAft>
            </a:pPr>
            <a:r>
              <a:rPr sz="1800" b="0">
                <a:solidFill>
                  <a:srgbClr val="161B26"/>
                </a:solidFill>
                <a:latin typeface="Arial"/>
              </a:rPr>
              <a:t>•  Port scanning – sending packets to your ports to discover the unsecured ones</a:t>
            </a:r>
          </a:p>
          <a:p>
            <a:pPr>
              <a:spcAft>
                <a:spcPts val="1000"/>
              </a:spcAft>
            </a:pPr>
            <a:r>
              <a:rPr sz="1800" b="0">
                <a:solidFill>
                  <a:srgbClr val="161B26"/>
                </a:solidFill>
                <a:latin typeface="Arial"/>
              </a:rPr>
              <a:t>•  DoS or DDoS attacks – AWS-owned IP addresses attempting to overwhlem or crash your servers/softwares</a:t>
            </a:r>
          </a:p>
          <a:p>
            <a:pPr>
              <a:spcAft>
                <a:spcPts val="1000"/>
              </a:spcAft>
            </a:pPr>
            <a:r>
              <a:rPr sz="1800" b="0">
                <a:solidFill>
                  <a:srgbClr val="161B26"/>
                </a:solidFill>
                <a:latin typeface="Arial"/>
              </a:rPr>
              <a:t>•  Intrusion attempts – logging in on your resources</a:t>
            </a:r>
          </a:p>
          <a:p>
            <a:pPr>
              <a:spcAft>
                <a:spcPts val="1000"/>
              </a:spcAft>
            </a:pPr>
            <a:r>
              <a:rPr sz="1800" b="0">
                <a:solidFill>
                  <a:srgbClr val="161B26"/>
                </a:solidFill>
                <a:latin typeface="Arial"/>
              </a:rPr>
              <a:t>•  Hosting objectionable or copyrighted content – distributing illegal or copyrighted content without consent</a:t>
            </a:r>
          </a:p>
          <a:p>
            <a:pPr>
              <a:spcAft>
                <a:spcPts val="1000"/>
              </a:spcAft>
            </a:pPr>
            <a:r>
              <a:rPr sz="1800" b="0">
                <a:solidFill>
                  <a:srgbClr val="161B26"/>
                </a:solidFill>
                <a:latin typeface="Arial"/>
              </a:rPr>
              <a:t>•  Distributing malware – AWS resources distributing softwares to harm computers or Machines</a:t>
            </a:r>
          </a:p>
          <a:p>
            <a:pPr>
              <a:spcAft>
                <a:spcPts val="1000"/>
              </a:spcAft>
            </a:pPr>
            <a:r>
              <a:rPr sz="1800" b="0">
                <a:solidFill>
                  <a:srgbClr val="161B26"/>
                </a:solidFill>
                <a:latin typeface="Arial"/>
              </a:rPr>
              <a:t>•  Contact the AWS Abuse team: AWS abuse form, or abuse@amazonaws.com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423</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Root user privileges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Root user = Account Owner (created when the account is created)</a:t>
            </a:r>
          </a:p>
          <a:p>
            <a:pPr>
              <a:spcAft>
                <a:spcPts val="1000"/>
              </a:spcAft>
            </a:pPr>
            <a:r>
              <a:rPr sz="1800" b="0">
                <a:solidFill>
                  <a:srgbClr val="161B26"/>
                </a:solidFill>
                <a:latin typeface="Arial"/>
              </a:rPr>
              <a:t>•  Has complete access to all AWS services and resources</a:t>
            </a:r>
          </a:p>
          <a:p>
            <a:pPr>
              <a:spcAft>
                <a:spcPts val="1000"/>
              </a:spcAft>
            </a:pPr>
            <a:r>
              <a:rPr sz="1800" b="0">
                <a:solidFill>
                  <a:srgbClr val="161B26"/>
                </a:solidFill>
                <a:latin typeface="Arial"/>
              </a:rPr>
              <a:t>•  Lock away your AWS account root user access keys!</a:t>
            </a:r>
          </a:p>
          <a:p>
            <a:pPr>
              <a:spcAft>
                <a:spcPts val="1000"/>
              </a:spcAft>
            </a:pPr>
            <a:r>
              <a:rPr sz="1800" b="0">
                <a:solidFill>
                  <a:srgbClr val="161B26"/>
                </a:solidFill>
                <a:latin typeface="Arial"/>
              </a:rPr>
              <a:t>•  Do not use the root account for everyday tasks, even administrative tasks</a:t>
            </a:r>
          </a:p>
          <a:p>
            <a:pPr>
              <a:spcAft>
                <a:spcPts val="1000"/>
              </a:spcAft>
            </a:pPr>
            <a:r>
              <a:rPr sz="1800" b="0">
                <a:solidFill>
                  <a:srgbClr val="161B26"/>
                </a:solidFill>
                <a:latin typeface="Arial"/>
              </a:rPr>
              <a:t>•  Actions that can be performed only by the root user:</a:t>
            </a:r>
          </a:p>
          <a:p>
            <a:pPr>
              <a:spcAft>
                <a:spcPts val="1000"/>
              </a:spcAft>
            </a:pPr>
            <a:r>
              <a:rPr sz="1800" b="0">
                <a:solidFill>
                  <a:srgbClr val="161B26"/>
                </a:solidFill>
                <a:latin typeface="Arial"/>
              </a:rPr>
              <a:t>•  Change account settings (account name, email address, root user password, root user access keys)</a:t>
            </a:r>
          </a:p>
          <a:p>
            <a:pPr>
              <a:spcAft>
                <a:spcPts val="1000"/>
              </a:spcAft>
            </a:pPr>
            <a:r>
              <a:rPr sz="1800" b="0">
                <a:solidFill>
                  <a:srgbClr val="161B26"/>
                </a:solidFill>
                <a:latin typeface="Arial"/>
              </a:rPr>
              <a:t>•  View certain tax invoices</a:t>
            </a:r>
          </a:p>
          <a:p>
            <a:pPr>
              <a:spcAft>
                <a:spcPts val="1000"/>
              </a:spcAft>
            </a:pPr>
            <a:r>
              <a:rPr sz="1800" b="0">
                <a:solidFill>
                  <a:srgbClr val="161B26"/>
                </a:solidFill>
                <a:latin typeface="Arial"/>
              </a:rPr>
              <a:t>•  Close your AWS account</a:t>
            </a:r>
          </a:p>
          <a:p>
            <a:pPr>
              <a:spcAft>
                <a:spcPts val="1000"/>
              </a:spcAft>
            </a:pPr>
            <a:r>
              <a:rPr sz="1800" b="0">
                <a:solidFill>
                  <a:srgbClr val="161B26"/>
                </a:solidFill>
                <a:latin typeface="Arial"/>
              </a:rPr>
              <a:t>•  Restore IAM user permissions</a:t>
            </a:r>
          </a:p>
          <a:p>
            <a:pPr>
              <a:spcAft>
                <a:spcPts val="1000"/>
              </a:spcAft>
            </a:pPr>
            <a:r>
              <a:rPr sz="1800" b="0">
                <a:solidFill>
                  <a:srgbClr val="161B26"/>
                </a:solidFill>
                <a:latin typeface="Arial"/>
              </a:rPr>
              <a:t>•  Change or cancel your AWS Support plan</a:t>
            </a:r>
          </a:p>
          <a:p>
            <a:pPr>
              <a:spcAft>
                <a:spcPts val="1000"/>
              </a:spcAft>
            </a:pPr>
            <a:r>
              <a:rPr sz="1800" b="0">
                <a:solidFill>
                  <a:srgbClr val="161B26"/>
                </a:solidFill>
                <a:latin typeface="Arial"/>
              </a:rPr>
              <a:t>•  Register as a seller in the Reserved Instance Marketplace</a:t>
            </a:r>
          </a:p>
          <a:p>
            <a:pPr>
              <a:spcAft>
                <a:spcPts val="1000"/>
              </a:spcAft>
            </a:pPr>
            <a:r>
              <a:rPr sz="1800" b="0">
                <a:solidFill>
                  <a:srgbClr val="161B26"/>
                </a:solidFill>
                <a:latin typeface="Arial"/>
              </a:rPr>
              <a:t>•  Configure an Amazon S3 bucket to enable MFA</a:t>
            </a:r>
          </a:p>
          <a:p>
            <a:pPr>
              <a:spcAft>
                <a:spcPts val="1000"/>
              </a:spcAft>
            </a:pPr>
            <a:r>
              <a:rPr sz="1800" b="0">
                <a:solidFill>
                  <a:srgbClr val="161B26"/>
                </a:solidFill>
                <a:latin typeface="Arial"/>
              </a:rPr>
              <a:t>•  Edit or delete an Amazon S3 bucket policy that includes an invalid VPC ID or VPC endpoint ID</a:t>
            </a:r>
          </a:p>
          <a:p>
            <a:pPr>
              <a:spcAft>
                <a:spcPts val="1000"/>
              </a:spcAft>
            </a:pPr>
            <a:r>
              <a:rPr sz="1800" b="0">
                <a:solidFill>
                  <a:srgbClr val="161B26"/>
                </a:solidFill>
                <a:latin typeface="Arial"/>
              </a:rPr>
              <a:t>•  Sign up for GovCloud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424</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IAM Access Analyzer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66122" y="1801368"/>
            <a:ext cx="302927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26_0.png"/>
          <p:cNvPicPr>
            <a:picLocks noChangeAspect="1"/>
          </p:cNvPicPr>
          <p:nvPr/>
        </p:nvPicPr>
        <p:blipFill>
          <a:blip r:embed="rId2"/>
          <a:stretch>
            <a:fillRect/>
          </a:stretch>
        </p:blipFill>
        <p:spPr>
          <a:xfrm>
            <a:off x="4593554" y="1828800"/>
            <a:ext cx="297441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Find out which resources are shared externally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425</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Shared Responsibility on AWS</a:t>
            </a:r>
          </a:p>
          <a:p>
            <a:pPr>
              <a:spcAft>
                <a:spcPts val="1000"/>
              </a:spcAft>
            </a:pPr>
            <a:r>
              <a:rPr sz="1800" b="0">
                <a:solidFill>
                  <a:srgbClr val="161B26"/>
                </a:solidFill>
                <a:latin typeface="Arial"/>
              </a:rPr>
              <a:t>•  Shield: Automatic DDoS Protection + 24/7 support for advanced</a:t>
            </a:r>
          </a:p>
          <a:p>
            <a:pPr>
              <a:spcAft>
                <a:spcPts val="1000"/>
              </a:spcAft>
            </a:pPr>
            <a:r>
              <a:rPr sz="1800" b="0">
                <a:solidFill>
                  <a:srgbClr val="161B26"/>
                </a:solidFill>
                <a:latin typeface="Arial"/>
              </a:rPr>
              <a:t>•  WAF: Firewall to filter incoming requests based on rules</a:t>
            </a:r>
          </a:p>
          <a:p>
            <a:pPr>
              <a:spcAft>
                <a:spcPts val="1000"/>
              </a:spcAft>
            </a:pPr>
            <a:r>
              <a:rPr sz="1800" b="0">
                <a:solidFill>
                  <a:srgbClr val="161B26"/>
                </a:solidFill>
                <a:latin typeface="Arial"/>
              </a:rPr>
              <a:t>•  KMS: Encryption keys managed by AWS</a:t>
            </a:r>
          </a:p>
          <a:p>
            <a:pPr>
              <a:spcAft>
                <a:spcPts val="1000"/>
              </a:spcAft>
            </a:pPr>
            <a:r>
              <a:rPr sz="1800" b="0">
                <a:solidFill>
                  <a:srgbClr val="161B26"/>
                </a:solidFill>
                <a:latin typeface="Arial"/>
              </a:rPr>
              <a:t>•  CloudHSM: Hardware encryption, we manage encryption keys</a:t>
            </a:r>
          </a:p>
          <a:p>
            <a:pPr>
              <a:spcAft>
                <a:spcPts val="1000"/>
              </a:spcAft>
            </a:pPr>
            <a:r>
              <a:rPr sz="1800" b="0">
                <a:solidFill>
                  <a:srgbClr val="161B26"/>
                </a:solidFill>
                <a:latin typeface="Arial"/>
              </a:rPr>
              <a:t>•  AWS Certificate Manager: provision, manage, and deploy SSL/TLS Certificates</a:t>
            </a:r>
          </a:p>
          <a:p>
            <a:pPr>
              <a:spcAft>
                <a:spcPts val="1000"/>
              </a:spcAft>
            </a:pPr>
            <a:r>
              <a:rPr sz="1800" b="0">
                <a:solidFill>
                  <a:srgbClr val="161B26"/>
                </a:solidFill>
                <a:latin typeface="Arial"/>
              </a:rPr>
              <a:t>•  Artifact: Get access to compliance reports such as PCI, ISO, etc…</a:t>
            </a:r>
          </a:p>
          <a:p>
            <a:pPr>
              <a:spcAft>
                <a:spcPts val="1000"/>
              </a:spcAft>
            </a:pPr>
            <a:r>
              <a:rPr sz="1800" b="0">
                <a:solidFill>
                  <a:srgbClr val="161B26"/>
                </a:solidFill>
                <a:latin typeface="Arial"/>
              </a:rPr>
              <a:t>•  GuardDuty: Find malicious behavior with VPC, DNS &amp; CloudTrail Logs</a:t>
            </a:r>
          </a:p>
          <a:p>
            <a:pPr>
              <a:spcAft>
                <a:spcPts val="1000"/>
              </a:spcAft>
            </a:pPr>
            <a:r>
              <a:rPr sz="1800" b="0">
                <a:solidFill>
                  <a:srgbClr val="161B26"/>
                </a:solidFill>
                <a:latin typeface="Arial"/>
              </a:rPr>
              <a:t>•  Inspector: find software vulnerabilities in EC2, ECR Images, and Lambda functions</a:t>
            </a:r>
          </a:p>
          <a:p>
            <a:pPr>
              <a:spcAft>
                <a:spcPts val="1000"/>
              </a:spcAft>
            </a:pPr>
            <a:r>
              <a:rPr sz="1800" b="0">
                <a:solidFill>
                  <a:srgbClr val="161B26"/>
                </a:solidFill>
                <a:latin typeface="Arial"/>
              </a:rPr>
              <a:t>•  Network Firewall: Protect VPC against network attacks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426</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&amp; Compliance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Config: Track config changes and compliance against rules</a:t>
            </a:r>
          </a:p>
          <a:p>
            <a:pPr>
              <a:spcAft>
                <a:spcPts val="1000"/>
              </a:spcAft>
            </a:pPr>
            <a:r>
              <a:rPr sz="1800" b="0">
                <a:solidFill>
                  <a:srgbClr val="161B26"/>
                </a:solidFill>
                <a:latin typeface="Arial"/>
              </a:rPr>
              <a:t>•  Macie: Find sensitive data (ex: PII data) in Amazon S3 buckets</a:t>
            </a:r>
          </a:p>
          <a:p>
            <a:pPr>
              <a:spcAft>
                <a:spcPts val="1000"/>
              </a:spcAft>
            </a:pPr>
            <a:r>
              <a:rPr sz="1800" b="0">
                <a:solidFill>
                  <a:srgbClr val="161B26"/>
                </a:solidFill>
                <a:latin typeface="Arial"/>
              </a:rPr>
              <a:t>•  CloudTrail: Track API calls made by users within account</a:t>
            </a:r>
          </a:p>
          <a:p>
            <a:pPr>
              <a:spcAft>
                <a:spcPts val="1000"/>
              </a:spcAft>
            </a:pPr>
            <a:r>
              <a:rPr sz="1800" b="0">
                <a:solidFill>
                  <a:srgbClr val="161B26"/>
                </a:solidFill>
                <a:latin typeface="Arial"/>
              </a:rPr>
              <a:t>•  AWS Security Hub: gather security findings from multiple AWS accounts</a:t>
            </a:r>
          </a:p>
          <a:p>
            <a:pPr>
              <a:spcAft>
                <a:spcPts val="1000"/>
              </a:spcAft>
            </a:pPr>
            <a:r>
              <a:rPr sz="1800" b="0">
                <a:solidFill>
                  <a:srgbClr val="161B26"/>
                </a:solidFill>
                <a:latin typeface="Arial"/>
              </a:rPr>
              <a:t>•  Amazon Detective: find the root cause of security issues or suspicious activities</a:t>
            </a:r>
          </a:p>
          <a:p>
            <a:pPr>
              <a:spcAft>
                <a:spcPts val="1000"/>
              </a:spcAft>
            </a:pPr>
            <a:r>
              <a:rPr sz="1800" b="0">
                <a:solidFill>
                  <a:srgbClr val="161B26"/>
                </a:solidFill>
                <a:latin typeface="Arial"/>
              </a:rPr>
              <a:t>•  AWS Abuse: Report AWS resources used for abusive or illegal purposes</a:t>
            </a:r>
          </a:p>
          <a:p>
            <a:pPr>
              <a:spcAft>
                <a:spcPts val="1000"/>
              </a:spcAft>
            </a:pPr>
            <a:r>
              <a:rPr sz="1800" b="0">
                <a:solidFill>
                  <a:srgbClr val="161B26"/>
                </a:solidFill>
                <a:latin typeface="Arial"/>
              </a:rPr>
              <a:t>•  Root user privileges:</a:t>
            </a:r>
          </a:p>
          <a:p>
            <a:pPr>
              <a:spcAft>
                <a:spcPts val="1000"/>
              </a:spcAft>
            </a:pPr>
            <a:r>
              <a:rPr sz="1800" b="0">
                <a:solidFill>
                  <a:srgbClr val="161B26"/>
                </a:solidFill>
                <a:latin typeface="Arial"/>
              </a:rPr>
              <a:t>•  Change account settings</a:t>
            </a:r>
          </a:p>
          <a:p>
            <a:pPr>
              <a:spcAft>
                <a:spcPts val="1000"/>
              </a:spcAft>
            </a:pPr>
            <a:r>
              <a:rPr sz="1800" b="0">
                <a:solidFill>
                  <a:srgbClr val="161B26"/>
                </a:solidFill>
                <a:latin typeface="Arial"/>
              </a:rPr>
              <a:t>•  Close your AWS account</a:t>
            </a:r>
          </a:p>
          <a:p>
            <a:pPr>
              <a:spcAft>
                <a:spcPts val="1000"/>
              </a:spcAft>
            </a:pPr>
            <a:r>
              <a:rPr sz="1800" b="0">
                <a:solidFill>
                  <a:srgbClr val="161B26"/>
                </a:solidFill>
                <a:latin typeface="Arial"/>
              </a:rPr>
              <a:t>•  Change or cancel your AWS Support plan</a:t>
            </a:r>
          </a:p>
          <a:p>
            <a:pPr>
              <a:spcAft>
                <a:spcPts val="1000"/>
              </a:spcAft>
            </a:pPr>
            <a:r>
              <a:rPr sz="1800" b="0">
                <a:solidFill>
                  <a:srgbClr val="161B26"/>
                </a:solidFill>
                <a:latin typeface="Arial"/>
              </a:rPr>
              <a:t>•  Register as a seller in the Reserved Instance Marketplace</a:t>
            </a:r>
          </a:p>
          <a:p>
            <a:pPr>
              <a:spcAft>
                <a:spcPts val="1000"/>
              </a:spcAft>
            </a:pPr>
            <a:r>
              <a:rPr sz="1800" b="0">
                <a:solidFill>
                  <a:srgbClr val="161B26"/>
                </a:solidFill>
                <a:latin typeface="Arial"/>
              </a:rPr>
              <a:t>•  IAM Access Analyzer: identify which resources are shared externally</a:t>
            </a:r>
          </a:p>
          <a:p>
            <a:pPr>
              <a:spcAft>
                <a:spcPts val="1000"/>
              </a:spcAft>
            </a:pPr>
            <a:r>
              <a:rPr sz="1800" b="0">
                <a:solidFill>
                  <a:srgbClr val="161B26"/>
                </a:solidFill>
                <a:latin typeface="Arial"/>
              </a:rPr>
              <a:t>•  Firewall Manager: manage security rules across an Organization (WAF, Shield…)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427</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Trusted Advisor is a web service that inspects your AWS environment and provides real-time recommendations in accordance with AWS best practices.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428</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Trusted Advisor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5164"/>
            <a:ext cx="10479024" cy="256783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0_0.png"/>
          <p:cNvPicPr>
            <a:picLocks noChangeAspect="1"/>
          </p:cNvPicPr>
          <p:nvPr/>
        </p:nvPicPr>
        <p:blipFill>
          <a:blip r:embed="rId2"/>
          <a:stretch>
            <a:fillRect/>
          </a:stretch>
        </p:blipFill>
        <p:spPr>
          <a:xfrm>
            <a:off x="868680" y="2812596"/>
            <a:ext cx="10424160" cy="251296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429</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Fault Injection Simulator (FIS)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98266"/>
            <a:ext cx="10479024" cy="237586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1_0.png"/>
          <p:cNvPicPr>
            <a:picLocks noChangeAspect="1"/>
          </p:cNvPicPr>
          <p:nvPr/>
        </p:nvPicPr>
        <p:blipFill>
          <a:blip r:embed="rId2"/>
          <a:stretch>
            <a:fillRect/>
          </a:stretch>
        </p:blipFill>
        <p:spPr>
          <a:xfrm>
            <a:off x="868680" y="2725698"/>
            <a:ext cx="10424160" cy="2321004"/>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 fully managed service for running fault injection experiments on AWS workloads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Account Management, Billing &amp;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Support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431</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Global service</a:t>
            </a:r>
          </a:p>
          <a:p>
            <a:pPr>
              <a:spcAft>
                <a:spcPts val="1000"/>
              </a:spcAft>
            </a:pPr>
            <a:r>
              <a:rPr sz="1800" b="0">
                <a:solidFill>
                  <a:srgbClr val="161B26"/>
                </a:solidFill>
                <a:latin typeface="Arial"/>
              </a:rPr>
              <a:t>•  Allows to manage multiple AWS accounts</a:t>
            </a:r>
          </a:p>
          <a:p>
            <a:pPr>
              <a:spcAft>
                <a:spcPts val="1000"/>
              </a:spcAft>
            </a:pPr>
            <a:r>
              <a:rPr sz="1800" b="0">
                <a:solidFill>
                  <a:srgbClr val="161B26"/>
                </a:solidFill>
                <a:latin typeface="Arial"/>
              </a:rPr>
              <a:t>•  The main account is the master account</a:t>
            </a:r>
          </a:p>
          <a:p>
            <a:pPr>
              <a:spcAft>
                <a:spcPts val="1000"/>
              </a:spcAft>
            </a:pPr>
            <a:r>
              <a:rPr sz="1800" b="0">
                <a:solidFill>
                  <a:srgbClr val="161B26"/>
                </a:solidFill>
                <a:latin typeface="Arial"/>
              </a:rPr>
              <a:t>•  Cost Benefits:</a:t>
            </a:r>
          </a:p>
          <a:p>
            <a:pPr>
              <a:spcAft>
                <a:spcPts val="1000"/>
              </a:spcAft>
            </a:pPr>
            <a:r>
              <a:rPr sz="1800" b="0">
                <a:solidFill>
                  <a:srgbClr val="161B26"/>
                </a:solidFill>
                <a:latin typeface="Arial"/>
              </a:rPr>
              <a:t>•  Consolidated Billing across all accounts - single payment method</a:t>
            </a:r>
          </a:p>
          <a:p>
            <a:pPr>
              <a:spcAft>
                <a:spcPts val="1000"/>
              </a:spcAft>
            </a:pPr>
            <a:r>
              <a:rPr sz="1800" b="0">
                <a:solidFill>
                  <a:srgbClr val="161B26"/>
                </a:solidFill>
                <a:latin typeface="Arial"/>
              </a:rPr>
              <a:t>•  Pricing benefits from aggregated usage (volume discount for EC2, S3…)</a:t>
            </a:r>
          </a:p>
          <a:p>
            <a:pPr>
              <a:spcAft>
                <a:spcPts val="1000"/>
              </a:spcAft>
            </a:pPr>
            <a:r>
              <a:rPr sz="1800" b="0">
                <a:solidFill>
                  <a:srgbClr val="161B26"/>
                </a:solidFill>
                <a:latin typeface="Arial"/>
              </a:rPr>
              <a:t>•  Pooling of Reserved EC2 instances for optimal savings</a:t>
            </a:r>
          </a:p>
          <a:p>
            <a:pPr>
              <a:spcAft>
                <a:spcPts val="1000"/>
              </a:spcAft>
            </a:pPr>
            <a:r>
              <a:rPr sz="1800" b="0">
                <a:solidFill>
                  <a:srgbClr val="161B26"/>
                </a:solidFill>
                <a:latin typeface="Arial"/>
              </a:rPr>
              <a:t>•  API is available to automate AWS account creation</a:t>
            </a:r>
          </a:p>
          <a:p>
            <a:pPr>
              <a:spcAft>
                <a:spcPts val="1000"/>
              </a:spcAft>
            </a:pPr>
            <a:r>
              <a:rPr sz="1800" b="0">
                <a:solidFill>
                  <a:srgbClr val="161B26"/>
                </a:solidFill>
                <a:latin typeface="Arial"/>
              </a:rPr>
              <a:t>•  Restrict account privileges using Service Control Policies (SCP)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432</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Multi Account Strategies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Create accounts per department, per cost center, per dev / test / prod, based on regulatory restrictions (using SCP), for better resource isolation (ex: VPC), to have separate per-account service limits, isolated account for logging</a:t>
            </a:r>
          </a:p>
          <a:p>
            <a:pPr>
              <a:spcAft>
                <a:spcPts val="1000"/>
              </a:spcAft>
            </a:pPr>
            <a:r>
              <a:rPr sz="2000" b="0">
                <a:solidFill>
                  <a:srgbClr val="161B26"/>
                </a:solidFill>
                <a:latin typeface="Arial"/>
              </a:rPr>
              <a:t>•  Multi Account vs One Account Multi VPC</a:t>
            </a:r>
          </a:p>
          <a:p>
            <a:pPr>
              <a:spcAft>
                <a:spcPts val="1000"/>
              </a:spcAft>
            </a:pPr>
            <a:r>
              <a:rPr sz="2000" b="0">
                <a:solidFill>
                  <a:srgbClr val="161B26"/>
                </a:solidFill>
                <a:latin typeface="Arial"/>
              </a:rPr>
              <a:t>•  Use tagging standards for billing purposes</a:t>
            </a:r>
          </a:p>
          <a:p>
            <a:pPr>
              <a:spcAft>
                <a:spcPts val="1000"/>
              </a:spcAft>
            </a:pPr>
            <a:r>
              <a:rPr sz="2000" b="0">
                <a:solidFill>
                  <a:srgbClr val="161B26"/>
                </a:solidFill>
                <a:latin typeface="Arial"/>
              </a:rPr>
              <a:t>•  Enable CloudTrail on all accounts, send logs to central S3 account</a:t>
            </a:r>
          </a:p>
          <a:p>
            <a:pPr>
              <a:spcAft>
                <a:spcPts val="1000"/>
              </a:spcAft>
            </a:pPr>
            <a:r>
              <a:rPr sz="2000" b="0">
                <a:solidFill>
                  <a:srgbClr val="161B26"/>
                </a:solidFill>
                <a:latin typeface="Arial"/>
              </a:rPr>
              <a:t>•  Send CloudWatch Logs to central logging account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433</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 (OU) -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91767"/>
            <a:ext cx="10479024" cy="315462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5_0.png"/>
          <p:cNvPicPr>
            <a:picLocks noChangeAspect="1"/>
          </p:cNvPicPr>
          <p:nvPr/>
        </p:nvPicPr>
        <p:blipFill>
          <a:blip r:embed="rId2"/>
          <a:stretch>
            <a:fillRect/>
          </a:stretch>
        </p:blipFill>
        <p:spPr>
          <a:xfrm>
            <a:off x="868680" y="2519199"/>
            <a:ext cx="10424160" cy="309976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434</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In AWS Organizations, you can centrally control permissions for the accounts in your organization by using service control policies.</a:t>
            </a:r>
          </a:p>
          <a:p>
            <a:pPr>
              <a:spcAft>
                <a:spcPts val="1000"/>
              </a:spcAft>
            </a:pPr>
            <a:r>
              <a:rPr sz="2000" b="0">
                <a:solidFill>
                  <a:srgbClr val="161B26"/>
                </a:solidFill>
                <a:latin typeface="Arial"/>
              </a:rPr>
              <a:t>•  In AWS Organizations, you can group accounts into organizational units (OUs) to make it easier to manage accounts with similar business or security requirements.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435</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1983" y="1801368"/>
            <a:ext cx="7037554"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7_0.png"/>
          <p:cNvPicPr>
            <a:picLocks noChangeAspect="1"/>
          </p:cNvPicPr>
          <p:nvPr/>
        </p:nvPicPr>
        <p:blipFill>
          <a:blip r:embed="rId2"/>
          <a:stretch>
            <a:fillRect/>
          </a:stretch>
        </p:blipFill>
        <p:spPr>
          <a:xfrm>
            <a:off x="2589415" y="1828800"/>
            <a:ext cx="6982690"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436</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5705" y="1801368"/>
            <a:ext cx="973010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8_0.png"/>
          <p:cNvPicPr>
            <a:picLocks noChangeAspect="1"/>
          </p:cNvPicPr>
          <p:nvPr/>
        </p:nvPicPr>
        <p:blipFill>
          <a:blip r:embed="rId2"/>
          <a:stretch>
            <a:fillRect/>
          </a:stretch>
        </p:blipFill>
        <p:spPr>
          <a:xfrm>
            <a:off x="1243137" y="1828800"/>
            <a:ext cx="967524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437</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78107" y="1801368"/>
            <a:ext cx="98053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39_0.png"/>
          <p:cNvPicPr>
            <a:picLocks noChangeAspect="1"/>
          </p:cNvPicPr>
          <p:nvPr/>
        </p:nvPicPr>
        <p:blipFill>
          <a:blip r:embed="rId2"/>
          <a:stretch>
            <a:fillRect/>
          </a:stretch>
        </p:blipFill>
        <p:spPr>
          <a:xfrm>
            <a:off x="1205539" y="1828800"/>
            <a:ext cx="97504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438</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Organizational units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52715" y="1801368"/>
            <a:ext cx="985608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0_0.png"/>
          <p:cNvPicPr>
            <a:picLocks noChangeAspect="1"/>
          </p:cNvPicPr>
          <p:nvPr/>
        </p:nvPicPr>
        <p:blipFill>
          <a:blip r:embed="rId2"/>
          <a:stretch>
            <a:fillRect/>
          </a:stretch>
        </p:blipFill>
        <p:spPr>
          <a:xfrm>
            <a:off x="1180147" y="1828800"/>
            <a:ext cx="980122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439</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Control Policies (SCP)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Whitelist or blacklist IAM actions</a:t>
            </a:r>
          </a:p>
          <a:p>
            <a:pPr>
              <a:spcAft>
                <a:spcPts val="1000"/>
              </a:spcAft>
            </a:pPr>
            <a:r>
              <a:rPr sz="1800" b="0">
                <a:solidFill>
                  <a:srgbClr val="161B26"/>
                </a:solidFill>
                <a:latin typeface="Arial"/>
              </a:rPr>
              <a:t>•  Applied at the OU or Account level</a:t>
            </a:r>
          </a:p>
          <a:p>
            <a:pPr>
              <a:spcAft>
                <a:spcPts val="1000"/>
              </a:spcAft>
            </a:pPr>
            <a:r>
              <a:rPr sz="1800" b="0">
                <a:solidFill>
                  <a:srgbClr val="161B26"/>
                </a:solidFill>
                <a:latin typeface="Arial"/>
              </a:rPr>
              <a:t>•  Does not apply to the Master Account</a:t>
            </a:r>
          </a:p>
          <a:p>
            <a:pPr>
              <a:spcAft>
                <a:spcPts val="1000"/>
              </a:spcAft>
            </a:pPr>
            <a:r>
              <a:rPr sz="1800" b="0">
                <a:solidFill>
                  <a:srgbClr val="161B26"/>
                </a:solidFill>
                <a:latin typeface="Arial"/>
              </a:rPr>
              <a:t>•  SCP is applied to all the Users and Roles of the Account, including Root user</a:t>
            </a:r>
          </a:p>
          <a:p>
            <a:pPr>
              <a:spcAft>
                <a:spcPts val="1000"/>
              </a:spcAft>
            </a:pPr>
            <a:r>
              <a:rPr sz="1800" b="0">
                <a:solidFill>
                  <a:srgbClr val="161B26"/>
                </a:solidFill>
                <a:latin typeface="Arial"/>
              </a:rPr>
              <a:t>•  The SCP does not affect service-linked roles</a:t>
            </a:r>
          </a:p>
          <a:p>
            <a:pPr>
              <a:spcAft>
                <a:spcPts val="1000"/>
              </a:spcAft>
            </a:pPr>
            <a:r>
              <a:rPr sz="1800" b="0">
                <a:solidFill>
                  <a:srgbClr val="161B26"/>
                </a:solidFill>
                <a:latin typeface="Arial"/>
              </a:rPr>
              <a:t>•  Service-linked roles enable other AWS services to integrate with AWS Organizations and can't be restricted by SCPs.</a:t>
            </a:r>
          </a:p>
          <a:p>
            <a:pPr>
              <a:spcAft>
                <a:spcPts val="1000"/>
              </a:spcAft>
            </a:pPr>
            <a:r>
              <a:rPr sz="1800" b="0">
                <a:solidFill>
                  <a:srgbClr val="161B26"/>
                </a:solidFill>
                <a:latin typeface="Arial"/>
              </a:rPr>
              <a:t>•  SCP must have an explicit Allow (does not allow anything by default)</a:t>
            </a:r>
          </a:p>
          <a:p>
            <a:pPr>
              <a:spcAft>
                <a:spcPts val="1000"/>
              </a:spcAft>
            </a:pPr>
            <a:r>
              <a:rPr sz="1800" b="0">
                <a:solidFill>
                  <a:srgbClr val="161B26"/>
                </a:solidFill>
                <a:latin typeface="Arial"/>
              </a:rPr>
              <a:t>•  Use cases:</a:t>
            </a:r>
          </a:p>
          <a:p>
            <a:pPr>
              <a:spcAft>
                <a:spcPts val="1000"/>
              </a:spcAft>
            </a:pPr>
            <a:r>
              <a:rPr sz="1800" b="0">
                <a:solidFill>
                  <a:srgbClr val="161B26"/>
                </a:solidFill>
                <a:latin typeface="Arial"/>
              </a:rPr>
              <a:t>•  Restrict access to certain services (for example: can’t use EMR)</a:t>
            </a:r>
          </a:p>
          <a:p>
            <a:pPr>
              <a:spcAft>
                <a:spcPts val="1000"/>
              </a:spcAft>
            </a:pPr>
            <a:r>
              <a:rPr sz="1800" b="0">
                <a:solidFill>
                  <a:srgbClr val="161B26"/>
                </a:solidFill>
                <a:latin typeface="Arial"/>
              </a:rPr>
              <a:t>•  Enforce PCI compliance by explicitly disabling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Hierarchy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01336"/>
            <a:ext cx="10479024" cy="43354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2_0.png"/>
          <p:cNvPicPr>
            <a:picLocks noChangeAspect="1"/>
          </p:cNvPicPr>
          <p:nvPr/>
        </p:nvPicPr>
        <p:blipFill>
          <a:blip r:embed="rId2"/>
          <a:stretch>
            <a:fillRect/>
          </a:stretch>
        </p:blipFill>
        <p:spPr>
          <a:xfrm>
            <a:off x="868680" y="1928768"/>
            <a:ext cx="10424160" cy="428062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441</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SCP Examples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98583" y="1801368"/>
            <a:ext cx="996435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3_0.png"/>
          <p:cNvPicPr>
            <a:picLocks noChangeAspect="1"/>
          </p:cNvPicPr>
          <p:nvPr/>
        </p:nvPicPr>
        <p:blipFill>
          <a:blip r:embed="rId2"/>
          <a:stretch>
            <a:fillRect/>
          </a:stretch>
        </p:blipFill>
        <p:spPr>
          <a:xfrm>
            <a:off x="1126015" y="1828800"/>
            <a:ext cx="990948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442</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Organization – Consolidated Billing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346704"/>
            <a:ext cx="10479024" cy="3444751"/>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4_0.png"/>
          <p:cNvPicPr>
            <a:picLocks noChangeAspect="1"/>
          </p:cNvPicPr>
          <p:nvPr/>
        </p:nvPicPr>
        <p:blipFill>
          <a:blip r:embed="rId2"/>
          <a:stretch>
            <a:fillRect/>
          </a:stretch>
        </p:blipFill>
        <p:spPr>
          <a:xfrm>
            <a:off x="868680" y="2374136"/>
            <a:ext cx="10424160" cy="3389887"/>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443</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Control Tower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Easy way to set up and govern a secure and compliant multi-account AWS environment based on best practices</a:t>
            </a:r>
          </a:p>
          <a:p>
            <a:pPr>
              <a:spcAft>
                <a:spcPts val="1000"/>
              </a:spcAft>
            </a:pPr>
            <a:r>
              <a:rPr sz="1800" b="0">
                <a:solidFill>
                  <a:srgbClr val="161B26"/>
                </a:solidFill>
                <a:latin typeface="Arial"/>
              </a:rPr>
              <a:t>•  Benefits:</a:t>
            </a:r>
          </a:p>
          <a:p>
            <a:pPr>
              <a:spcAft>
                <a:spcPts val="1000"/>
              </a:spcAft>
            </a:pPr>
            <a:r>
              <a:rPr sz="1800" b="0">
                <a:solidFill>
                  <a:srgbClr val="161B26"/>
                </a:solidFill>
                <a:latin typeface="Arial"/>
              </a:rPr>
              <a:t>•  Automate the set up of your environment in a few clicks</a:t>
            </a:r>
          </a:p>
          <a:p>
            <a:pPr>
              <a:spcAft>
                <a:spcPts val="1000"/>
              </a:spcAft>
            </a:pPr>
            <a:r>
              <a:rPr sz="1800" b="0">
                <a:solidFill>
                  <a:srgbClr val="161B26"/>
                </a:solidFill>
                <a:latin typeface="Arial"/>
              </a:rPr>
              <a:t>•  Automate ongoing policy management using guardrails</a:t>
            </a:r>
          </a:p>
          <a:p>
            <a:pPr>
              <a:spcAft>
                <a:spcPts val="1000"/>
              </a:spcAft>
            </a:pPr>
            <a:r>
              <a:rPr sz="1800" b="0">
                <a:solidFill>
                  <a:srgbClr val="161B26"/>
                </a:solidFill>
                <a:latin typeface="Arial"/>
              </a:rPr>
              <a:t>•  Detect policy violations and remediate them</a:t>
            </a:r>
          </a:p>
          <a:p>
            <a:pPr>
              <a:spcAft>
                <a:spcPts val="1000"/>
              </a:spcAft>
            </a:pPr>
            <a:r>
              <a:rPr sz="1800" b="0">
                <a:solidFill>
                  <a:srgbClr val="161B26"/>
                </a:solidFill>
                <a:latin typeface="Arial"/>
              </a:rPr>
              <a:t>•  Monitor compliance through an interactive dashboard</a:t>
            </a:r>
          </a:p>
          <a:p>
            <a:pPr>
              <a:spcAft>
                <a:spcPts val="1000"/>
              </a:spcAft>
            </a:pPr>
            <a:r>
              <a:rPr sz="1800" b="0">
                <a:solidFill>
                  <a:srgbClr val="161B26"/>
                </a:solidFill>
                <a:latin typeface="Arial"/>
              </a:rPr>
              <a:t>•  AWS Control Tower runs on top of AWS Organizations:</a:t>
            </a:r>
          </a:p>
          <a:p>
            <a:pPr>
              <a:spcAft>
                <a:spcPts val="1000"/>
              </a:spcAft>
            </a:pPr>
            <a:r>
              <a:rPr sz="1800" b="0">
                <a:solidFill>
                  <a:srgbClr val="161B26"/>
                </a:solidFill>
                <a:latin typeface="Arial"/>
              </a:rPr>
              <a:t>•  It automatically sets up AWS Organizations to organize accounts and implement SCPs (Service Control Policies)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444</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Resource Access Manager (AWS 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39131" y="1801368"/>
            <a:ext cx="568325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6_0.png"/>
          <p:cNvPicPr>
            <a:picLocks noChangeAspect="1"/>
          </p:cNvPicPr>
          <p:nvPr/>
        </p:nvPicPr>
        <p:blipFill>
          <a:blip r:embed="rId2"/>
          <a:stretch>
            <a:fillRect/>
          </a:stretch>
        </p:blipFill>
        <p:spPr>
          <a:xfrm>
            <a:off x="3266563" y="1828800"/>
            <a:ext cx="562839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Share AWS resources that you own with other AWS accounts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445</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Catalog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Users that are new to AWS have too many options, and may create stacks that are not compliant / in line with the rest of the organization</a:t>
            </a:r>
          </a:p>
          <a:p>
            <a:pPr>
              <a:spcAft>
                <a:spcPts val="1000"/>
              </a:spcAft>
            </a:pPr>
            <a:r>
              <a:rPr sz="2000" b="0">
                <a:solidFill>
                  <a:srgbClr val="161B26"/>
                </a:solidFill>
                <a:latin typeface="Arial"/>
              </a:rPr>
              <a:t>•  Some users just want a quick self-service portal to launch a set of authorized products pre-defined by admins</a:t>
            </a:r>
          </a:p>
          <a:p>
            <a:pPr>
              <a:spcAft>
                <a:spcPts val="1000"/>
              </a:spcAft>
            </a:pPr>
            <a:r>
              <a:rPr sz="2000" b="0">
                <a:solidFill>
                  <a:srgbClr val="161B26"/>
                </a:solidFill>
                <a:latin typeface="Arial"/>
              </a:rPr>
              <a:t>•  Includes: virtual machines, databases, storage options, etc…</a:t>
            </a:r>
          </a:p>
          <a:p>
            <a:pPr>
              <a:spcAft>
                <a:spcPts val="1000"/>
              </a:spcAft>
            </a:pPr>
            <a:r>
              <a:rPr sz="2000" b="0">
                <a:solidFill>
                  <a:srgbClr val="161B26"/>
                </a:solidFill>
                <a:latin typeface="Arial"/>
              </a:rPr>
              <a:t>•  Enter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446</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Service Catalog diagram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78645" y="1801368"/>
            <a:ext cx="820423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8_0.png"/>
          <p:cNvPicPr>
            <a:picLocks noChangeAspect="1"/>
          </p:cNvPicPr>
          <p:nvPr/>
        </p:nvPicPr>
        <p:blipFill>
          <a:blip r:embed="rId2"/>
          <a:stretch>
            <a:fillRect/>
          </a:stretch>
        </p:blipFill>
        <p:spPr>
          <a:xfrm>
            <a:off x="2006077" y="1828800"/>
            <a:ext cx="814936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447</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Pricing Calculator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139920" y="1801368"/>
            <a:ext cx="988167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49_0.png"/>
          <p:cNvPicPr>
            <a:picLocks noChangeAspect="1"/>
          </p:cNvPicPr>
          <p:nvPr/>
        </p:nvPicPr>
        <p:blipFill>
          <a:blip r:embed="rId2"/>
          <a:stretch>
            <a:fillRect/>
          </a:stretch>
        </p:blipFill>
        <p:spPr>
          <a:xfrm>
            <a:off x="1167352" y="1828800"/>
            <a:ext cx="982681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448</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447163"/>
            <a:ext cx="10479024" cy="287807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50_0.png"/>
          <p:cNvPicPr>
            <a:picLocks noChangeAspect="1"/>
          </p:cNvPicPr>
          <p:nvPr/>
        </p:nvPicPr>
        <p:blipFill>
          <a:blip r:embed="rId2"/>
          <a:stretch>
            <a:fillRect/>
          </a:stretch>
        </p:blipFill>
        <p:spPr>
          <a:xfrm>
            <a:off x="868680" y="2474595"/>
            <a:ext cx="10424160" cy="282321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If you have used AWS Lambda in multiple AWS Regions, you can view the itemized charges by Region on your bill.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449</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50052"/>
            <a:ext cx="10479024" cy="367229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51_0.png"/>
          <p:cNvPicPr>
            <a:picLocks noChangeAspect="1"/>
          </p:cNvPicPr>
          <p:nvPr/>
        </p:nvPicPr>
        <p:blipFill>
          <a:blip r:embed="rId2"/>
          <a:stretch>
            <a:fillRect/>
          </a:stretch>
        </p:blipFill>
        <p:spPr>
          <a:xfrm>
            <a:off x="868680" y="2077484"/>
            <a:ext cx="10424160" cy="3617431"/>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Take an Amazon EC2 instance that has been deployed in the Northern Virginia Region for example.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Amazon EC3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Storage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Requests and data retrievals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Data transfer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Management and replication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451</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Example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66766" y="1801368"/>
            <a:ext cx="8827988"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53_0.png"/>
          <p:cNvPicPr>
            <a:picLocks noChangeAspect="1"/>
          </p:cNvPicPr>
          <p:nvPr/>
        </p:nvPicPr>
        <p:blipFill>
          <a:blip r:embed="rId2"/>
          <a:stretch>
            <a:fillRect/>
          </a:stretch>
        </p:blipFill>
        <p:spPr>
          <a:xfrm>
            <a:off x="1694198" y="1828800"/>
            <a:ext cx="8773124"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452</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Pricing Models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has 4 pricing models:</a:t>
            </a:r>
          </a:p>
          <a:p>
            <a:pPr>
              <a:spcAft>
                <a:spcPts val="1000"/>
              </a:spcAft>
            </a:pPr>
            <a:r>
              <a:rPr sz="2000" b="0">
                <a:solidFill>
                  <a:srgbClr val="161B26"/>
                </a:solidFill>
                <a:latin typeface="Arial"/>
              </a:rPr>
              <a:t>•  Pay as you go: pay for what you use, remain agile, responsive, meet scale demands</a:t>
            </a:r>
          </a:p>
          <a:p>
            <a:pPr>
              <a:spcAft>
                <a:spcPts val="1000"/>
              </a:spcAft>
            </a:pPr>
            <a:r>
              <a:rPr sz="2000" b="0">
                <a:solidFill>
                  <a:srgbClr val="161B26"/>
                </a:solidFill>
                <a:latin typeface="Arial"/>
              </a:rPr>
              <a:t>•  Save when you reserve: minimize risks, predictably manage budgets, comply with long-terms requirements</a:t>
            </a:r>
          </a:p>
          <a:p>
            <a:pPr>
              <a:spcAft>
                <a:spcPts val="1000"/>
              </a:spcAft>
            </a:pPr>
            <a:r>
              <a:rPr sz="2000" b="0">
                <a:solidFill>
                  <a:srgbClr val="161B26"/>
                </a:solidFill>
                <a:latin typeface="Arial"/>
              </a:rPr>
              <a:t>•  Reservations are available for EC2 Reserved Instances, DynamoDB Reserved Capacity, ElastiCache Reserved Nodes, RDS Reserved Instance, Redshift Reserved Nodes</a:t>
            </a:r>
          </a:p>
          <a:p>
            <a:pPr>
              <a:spcAft>
                <a:spcPts val="1000"/>
              </a:spcAft>
            </a:pPr>
            <a:r>
              <a:rPr sz="2000" b="0">
                <a:solidFill>
                  <a:srgbClr val="161B26"/>
                </a:solidFill>
                <a:latin typeface="Arial"/>
              </a:rPr>
              <a:t>•  Pay less by using more: volume-based discounts</a:t>
            </a:r>
          </a:p>
          <a:p>
            <a:pPr>
              <a:spcAft>
                <a:spcPts val="1000"/>
              </a:spcAft>
            </a:pPr>
            <a:r>
              <a:rPr sz="2000" b="0">
                <a:solidFill>
                  <a:srgbClr val="161B26"/>
                </a:solidFill>
                <a:latin typeface="Arial"/>
              </a:rPr>
              <a:t>•  Pay less as AWS grows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453</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Free services &amp; free tier in AWS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780135"/>
            <a:ext cx="10479024" cy="221212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55_0.png"/>
          <p:cNvPicPr>
            <a:picLocks noChangeAspect="1"/>
          </p:cNvPicPr>
          <p:nvPr/>
        </p:nvPicPr>
        <p:blipFill>
          <a:blip r:embed="rId2"/>
          <a:stretch>
            <a:fillRect/>
          </a:stretch>
        </p:blipFill>
        <p:spPr>
          <a:xfrm>
            <a:off x="868680" y="2807567"/>
            <a:ext cx="10424160" cy="215726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IAM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454</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EC2s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Only charged for what you use</a:t>
            </a:r>
          </a:p>
          <a:p>
            <a:pPr>
              <a:spcAft>
                <a:spcPts val="1000"/>
              </a:spcAft>
            </a:pPr>
            <a:r>
              <a:rPr sz="1800" b="0">
                <a:solidFill>
                  <a:srgbClr val="161B26"/>
                </a:solidFill>
                <a:latin typeface="Arial"/>
              </a:rPr>
              <a:t>•  Number of instances</a:t>
            </a:r>
          </a:p>
          <a:p>
            <a:pPr>
              <a:spcAft>
                <a:spcPts val="1000"/>
              </a:spcAft>
            </a:pPr>
            <a:r>
              <a:rPr sz="1800" b="0">
                <a:solidFill>
                  <a:srgbClr val="161B26"/>
                </a:solidFill>
                <a:latin typeface="Arial"/>
              </a:rPr>
              <a:t>•  Instance configuration:</a:t>
            </a:r>
          </a:p>
          <a:p>
            <a:pPr>
              <a:spcAft>
                <a:spcPts val="1000"/>
              </a:spcAft>
            </a:pPr>
            <a:r>
              <a:rPr sz="1800" b="0">
                <a:solidFill>
                  <a:srgbClr val="161B26"/>
                </a:solidFill>
                <a:latin typeface="Arial"/>
              </a:rPr>
              <a:t>•  Physical capacity</a:t>
            </a:r>
          </a:p>
          <a:p>
            <a:pPr>
              <a:spcAft>
                <a:spcPts val="1000"/>
              </a:spcAft>
            </a:pPr>
            <a:r>
              <a:rPr sz="1800" b="0">
                <a:solidFill>
                  <a:srgbClr val="161B26"/>
                </a:solidFill>
                <a:latin typeface="Arial"/>
              </a:rPr>
              <a:t>•  Region</a:t>
            </a:r>
          </a:p>
          <a:p>
            <a:pPr>
              <a:spcAft>
                <a:spcPts val="1000"/>
              </a:spcAft>
            </a:pPr>
            <a:r>
              <a:rPr sz="1800" b="0">
                <a:solidFill>
                  <a:srgbClr val="161B26"/>
                </a:solidFill>
                <a:latin typeface="Arial"/>
              </a:rPr>
              <a:t>•  OS and software</a:t>
            </a:r>
          </a:p>
          <a:p>
            <a:pPr>
              <a:spcAft>
                <a:spcPts val="1000"/>
              </a:spcAft>
            </a:pPr>
            <a:r>
              <a:rPr sz="1800" b="0">
                <a:solidFill>
                  <a:srgbClr val="161B26"/>
                </a:solidFill>
                <a:latin typeface="Arial"/>
              </a:rPr>
              <a:t>•  Instance type</a:t>
            </a:r>
          </a:p>
          <a:p>
            <a:pPr>
              <a:spcAft>
                <a:spcPts val="1000"/>
              </a:spcAft>
            </a:pPr>
            <a:r>
              <a:rPr sz="1800" b="0">
                <a:solidFill>
                  <a:srgbClr val="161B26"/>
                </a:solidFill>
                <a:latin typeface="Arial"/>
              </a:rPr>
              <a:t>•  Instance size</a:t>
            </a:r>
          </a:p>
          <a:p>
            <a:pPr>
              <a:spcAft>
                <a:spcPts val="1000"/>
              </a:spcAft>
            </a:pPr>
            <a:r>
              <a:rPr sz="1800" b="0">
                <a:solidFill>
                  <a:srgbClr val="161B26"/>
                </a:solidFill>
                <a:latin typeface="Arial"/>
              </a:rPr>
              <a:t>•  ELB running time and amount of data processed</a:t>
            </a:r>
          </a:p>
          <a:p>
            <a:pPr>
              <a:spcAft>
                <a:spcPts val="1000"/>
              </a:spcAft>
            </a:pPr>
            <a:r>
              <a:rPr sz="1800" b="0">
                <a:solidFill>
                  <a:srgbClr val="161B26"/>
                </a:solidFill>
                <a:latin typeface="Arial"/>
              </a:rPr>
              <a:t>•  Detailed monitoring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455</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EC2</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On-demand instances:</a:t>
            </a:r>
          </a:p>
          <a:p>
            <a:pPr>
              <a:spcAft>
                <a:spcPts val="1000"/>
              </a:spcAft>
            </a:pPr>
            <a:r>
              <a:rPr sz="1800" b="0">
                <a:solidFill>
                  <a:srgbClr val="161B26"/>
                </a:solidFill>
                <a:latin typeface="Arial"/>
              </a:rPr>
              <a:t>•  Minimum of 60s</a:t>
            </a:r>
          </a:p>
          <a:p>
            <a:pPr>
              <a:spcAft>
                <a:spcPts val="1000"/>
              </a:spcAft>
            </a:pPr>
            <a:r>
              <a:rPr sz="1800" b="0">
                <a:solidFill>
                  <a:srgbClr val="161B26"/>
                </a:solidFill>
                <a:latin typeface="Arial"/>
              </a:rPr>
              <a:t>•  Pay per second (Linux/Windows) or per hour (other)</a:t>
            </a:r>
          </a:p>
          <a:p>
            <a:pPr>
              <a:spcAft>
                <a:spcPts val="1000"/>
              </a:spcAft>
            </a:pPr>
            <a:r>
              <a:rPr sz="1800" b="0">
                <a:solidFill>
                  <a:srgbClr val="161B26"/>
                </a:solidFill>
                <a:latin typeface="Arial"/>
              </a:rPr>
              <a:t>•  Reserved instances:</a:t>
            </a:r>
          </a:p>
          <a:p>
            <a:pPr>
              <a:spcAft>
                <a:spcPts val="1000"/>
              </a:spcAft>
            </a:pPr>
            <a:r>
              <a:rPr sz="1800" b="0">
                <a:solidFill>
                  <a:srgbClr val="161B26"/>
                </a:solidFill>
                <a:latin typeface="Arial"/>
              </a:rPr>
              <a:t>•  Up to 75% discount compared to On-demand on hourly rate</a:t>
            </a:r>
          </a:p>
          <a:p>
            <a:pPr>
              <a:spcAft>
                <a:spcPts val="1000"/>
              </a:spcAft>
            </a:pPr>
            <a:r>
              <a:rPr sz="1800" b="0">
                <a:solidFill>
                  <a:srgbClr val="161B26"/>
                </a:solidFill>
                <a:latin typeface="Arial"/>
              </a:rPr>
              <a:t>•  1- or 3-years commitment</a:t>
            </a:r>
          </a:p>
          <a:p>
            <a:pPr>
              <a:spcAft>
                <a:spcPts val="1000"/>
              </a:spcAft>
            </a:pPr>
            <a:r>
              <a:rPr sz="1800" b="0">
                <a:solidFill>
                  <a:srgbClr val="161B26"/>
                </a:solidFill>
                <a:latin typeface="Arial"/>
              </a:rPr>
              <a:t>•  All upfront, partial upfront, no upfront</a:t>
            </a:r>
          </a:p>
          <a:p>
            <a:pPr>
              <a:spcAft>
                <a:spcPts val="1000"/>
              </a:spcAft>
            </a:pPr>
            <a:r>
              <a:rPr sz="1800" b="0">
                <a:solidFill>
                  <a:srgbClr val="161B26"/>
                </a:solidFill>
                <a:latin typeface="Arial"/>
              </a:rPr>
              <a:t>•  Spot instances:</a:t>
            </a:r>
          </a:p>
          <a:p>
            <a:pPr>
              <a:spcAft>
                <a:spcPts val="1000"/>
              </a:spcAft>
            </a:pPr>
            <a:r>
              <a:rPr sz="1800" b="0">
                <a:solidFill>
                  <a:srgbClr val="161B26"/>
                </a:solidFill>
                <a:latin typeface="Arial"/>
              </a:rPr>
              <a:t>•  Up to 90% discount compared to On-demand on hourly rate</a:t>
            </a:r>
          </a:p>
          <a:p>
            <a:pPr>
              <a:spcAft>
                <a:spcPts val="1000"/>
              </a:spcAft>
            </a:pPr>
            <a:r>
              <a:rPr sz="1800" b="0">
                <a:solidFill>
                  <a:srgbClr val="161B26"/>
                </a:solidFill>
                <a:latin typeface="Arial"/>
              </a:rPr>
              <a:t>•  Bid for unused capacity</a:t>
            </a:r>
          </a:p>
          <a:p>
            <a:pPr>
              <a:spcAft>
                <a:spcPts val="1000"/>
              </a:spcAft>
            </a:pPr>
            <a:r>
              <a:rPr sz="1800" b="0">
                <a:solidFill>
                  <a:srgbClr val="161B26"/>
                </a:solidFill>
                <a:latin typeface="Arial"/>
              </a:rPr>
              <a:t>•  Dedicated Host:</a:t>
            </a:r>
          </a:p>
          <a:p>
            <a:pPr>
              <a:spcAft>
                <a:spcPts val="1000"/>
              </a:spcAft>
            </a:pPr>
            <a:r>
              <a:rPr sz="1800" b="0">
                <a:solidFill>
                  <a:srgbClr val="161B26"/>
                </a:solidFill>
                <a:latin typeface="Arial"/>
              </a:rPr>
              <a:t>•  On-demand</a:t>
            </a:r>
          </a:p>
          <a:p>
            <a:pPr>
              <a:spcAft>
                <a:spcPts val="1000"/>
              </a:spcAft>
            </a:pPr>
            <a:r>
              <a:rPr sz="1800" b="0">
                <a:solidFill>
                  <a:srgbClr val="161B26"/>
                </a:solidFill>
                <a:latin typeface="Arial"/>
              </a:rPr>
              <a:t>•  Reservation for 1 year or 3 years commitment</a:t>
            </a:r>
          </a:p>
          <a:p>
            <a:pPr>
              <a:spcAft>
                <a:spcPts val="1000"/>
              </a:spcAft>
            </a:pPr>
            <a:r>
              <a:rPr sz="1800" b="0">
                <a:solidFill>
                  <a:srgbClr val="161B26"/>
                </a:solidFill>
                <a:latin typeface="Arial"/>
              </a:rPr>
              <a:t>•  Savings plans as an alternative to save on sustained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456</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Compute Pricing – Lambda &amp; ECS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Lambda:</a:t>
            </a:r>
          </a:p>
          <a:p>
            <a:pPr>
              <a:spcAft>
                <a:spcPts val="1000"/>
              </a:spcAft>
            </a:pPr>
            <a:r>
              <a:rPr sz="1800" b="0">
                <a:solidFill>
                  <a:srgbClr val="161B26"/>
                </a:solidFill>
                <a:latin typeface="Arial"/>
              </a:rPr>
              <a:t>•  Pay per call</a:t>
            </a:r>
          </a:p>
          <a:p>
            <a:pPr>
              <a:spcAft>
                <a:spcPts val="1000"/>
              </a:spcAft>
            </a:pPr>
            <a:r>
              <a:rPr sz="1800" b="0">
                <a:solidFill>
                  <a:srgbClr val="161B26"/>
                </a:solidFill>
                <a:latin typeface="Arial"/>
              </a:rPr>
              <a:t>•  Pay per duration</a:t>
            </a:r>
          </a:p>
          <a:p>
            <a:pPr>
              <a:spcAft>
                <a:spcPts val="1000"/>
              </a:spcAft>
            </a:pPr>
            <a:r>
              <a:rPr sz="1800" b="0">
                <a:solidFill>
                  <a:srgbClr val="161B26"/>
                </a:solidFill>
                <a:latin typeface="Arial"/>
              </a:rPr>
              <a:t>•  ECS:</a:t>
            </a:r>
          </a:p>
          <a:p>
            <a:pPr>
              <a:spcAft>
                <a:spcPts val="1000"/>
              </a:spcAft>
            </a:pPr>
            <a:r>
              <a:rPr sz="1800" b="0">
                <a:solidFill>
                  <a:srgbClr val="161B26"/>
                </a:solidFill>
                <a:latin typeface="Arial"/>
              </a:rPr>
              <a:t>•  EC2 Launch Type Model: No additional fees, you pay for</a:t>
            </a:r>
          </a:p>
          <a:p>
            <a:pPr>
              <a:spcAft>
                <a:spcPts val="1000"/>
              </a:spcAft>
            </a:pPr>
            <a:r>
              <a:rPr sz="1800" b="0">
                <a:solidFill>
                  <a:srgbClr val="161B26"/>
                </a:solidFill>
                <a:latin typeface="Arial"/>
              </a:rPr>
              <a:t>•  AWS resources stored and created in your application</a:t>
            </a:r>
          </a:p>
          <a:p>
            <a:pPr>
              <a:spcAft>
                <a:spcPts val="1000"/>
              </a:spcAft>
            </a:pPr>
            <a:r>
              <a:rPr sz="1800" b="0">
                <a:solidFill>
                  <a:srgbClr val="161B26"/>
                </a:solidFill>
                <a:latin typeface="Arial"/>
              </a:rPr>
              <a:t>•  Fargate:</a:t>
            </a:r>
          </a:p>
          <a:p>
            <a:pPr>
              <a:spcAft>
                <a:spcPts val="1000"/>
              </a:spcAft>
            </a:pPr>
            <a:r>
              <a:rPr sz="1800" b="0">
                <a:solidFill>
                  <a:srgbClr val="161B26"/>
                </a:solidFill>
                <a:latin typeface="Arial"/>
              </a:rPr>
              <a:t>•  Fargate Launch Type Model: Pay for vCPU and memory</a:t>
            </a:r>
          </a:p>
          <a:p>
            <a:pPr>
              <a:spcAft>
                <a:spcPts val="1000"/>
              </a:spcAft>
            </a:pPr>
            <a:r>
              <a:rPr sz="1800" b="0">
                <a:solidFill>
                  <a:srgbClr val="161B26"/>
                </a:solidFill>
                <a:latin typeface="Arial"/>
              </a:rPr>
              <a:t>•  Rresources allocated to your applications in your containers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457</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Storage Pricing – S3</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Storage class: S3 Standard, S3 Infrequent Access, S3 One-Zone IA, S3 Intelligent Tiering, S3 Glacier and S3 Glacier Deep Archive</a:t>
            </a:r>
          </a:p>
          <a:p>
            <a:pPr>
              <a:spcAft>
                <a:spcPts val="1000"/>
              </a:spcAft>
            </a:pPr>
            <a:r>
              <a:rPr sz="1800" b="0">
                <a:solidFill>
                  <a:srgbClr val="161B26"/>
                </a:solidFill>
                <a:latin typeface="Arial"/>
              </a:rPr>
              <a:t>•  Number and size of objects: Price can be tiered (based on volume)</a:t>
            </a:r>
          </a:p>
          <a:p>
            <a:pPr>
              <a:spcAft>
                <a:spcPts val="1000"/>
              </a:spcAft>
            </a:pPr>
            <a:r>
              <a:rPr sz="1800" b="0">
                <a:solidFill>
                  <a:srgbClr val="161B26"/>
                </a:solidFill>
                <a:latin typeface="Arial"/>
              </a:rPr>
              <a:t>•  Number and type of requests</a:t>
            </a:r>
          </a:p>
          <a:p>
            <a:pPr>
              <a:spcAft>
                <a:spcPts val="1000"/>
              </a:spcAft>
            </a:pPr>
            <a:r>
              <a:rPr sz="1800" b="0">
                <a:solidFill>
                  <a:srgbClr val="161B26"/>
                </a:solidFill>
                <a:latin typeface="Arial"/>
              </a:rPr>
              <a:t>•  Data transfer OUT of the S3 region</a:t>
            </a:r>
          </a:p>
          <a:p>
            <a:pPr>
              <a:spcAft>
                <a:spcPts val="1000"/>
              </a:spcAft>
            </a:pPr>
            <a:r>
              <a:rPr sz="1800" b="0">
                <a:solidFill>
                  <a:srgbClr val="161B26"/>
                </a:solidFill>
                <a:latin typeface="Arial"/>
              </a:rPr>
              <a:t>•  S3 Transfer Acceleration</a:t>
            </a:r>
          </a:p>
          <a:p>
            <a:pPr>
              <a:spcAft>
                <a:spcPts val="1000"/>
              </a:spcAft>
            </a:pPr>
            <a:r>
              <a:rPr sz="1800" b="0">
                <a:solidFill>
                  <a:srgbClr val="161B26"/>
                </a:solidFill>
                <a:latin typeface="Arial"/>
              </a:rPr>
              <a:t>•  Lifecycle transitions</a:t>
            </a:r>
          </a:p>
          <a:p>
            <a:pPr>
              <a:spcAft>
                <a:spcPts val="1000"/>
              </a:spcAft>
            </a:pPr>
            <a:r>
              <a:rPr sz="1800" b="0">
                <a:solidFill>
                  <a:srgbClr val="161B26"/>
                </a:solidFill>
                <a:latin typeface="Arial"/>
              </a:rPr>
              <a:t>•  Similar service: EFS (pay per use, has infrequent access &amp; lifecycle rules)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458</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Content Delivery – CloudFront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629552"/>
            <a:ext cx="10479024" cy="251329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0_0.png"/>
          <p:cNvPicPr>
            <a:picLocks noChangeAspect="1"/>
          </p:cNvPicPr>
          <p:nvPr/>
        </p:nvPicPr>
        <p:blipFill>
          <a:blip r:embed="rId2"/>
          <a:stretch>
            <a:fillRect/>
          </a:stretch>
        </p:blipFill>
        <p:spPr>
          <a:xfrm>
            <a:off x="868680" y="2656984"/>
            <a:ext cx="10424160" cy="2458432"/>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Pricing is different across different geographic regions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459</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Networking Costs in AWS per GB - Simplified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04493" y="1801368"/>
            <a:ext cx="8352533"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1_0.png"/>
          <p:cNvPicPr>
            <a:picLocks noChangeAspect="1"/>
          </p:cNvPicPr>
          <p:nvPr/>
        </p:nvPicPr>
        <p:blipFill>
          <a:blip r:embed="rId2"/>
          <a:stretch>
            <a:fillRect/>
          </a:stretch>
        </p:blipFill>
        <p:spPr>
          <a:xfrm>
            <a:off x="1931925" y="1828800"/>
            <a:ext cx="8297669"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Savings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Commit a certain $ amount per hour for 1 or 3 years</a:t>
            </a:r>
          </a:p>
          <a:p>
            <a:pPr>
              <a:spcAft>
                <a:spcPts val="1000"/>
              </a:spcAft>
            </a:pPr>
            <a:r>
              <a:rPr sz="1800" b="0">
                <a:solidFill>
                  <a:srgbClr val="161B26"/>
                </a:solidFill>
                <a:latin typeface="Arial"/>
              </a:rPr>
              <a:t>•  Easiest way to setup long-term commitments on AWS</a:t>
            </a:r>
          </a:p>
          <a:p>
            <a:pPr>
              <a:spcAft>
                <a:spcPts val="1000"/>
              </a:spcAft>
            </a:pPr>
            <a:r>
              <a:rPr sz="1800" b="0">
                <a:solidFill>
                  <a:srgbClr val="161B26"/>
                </a:solidFill>
                <a:latin typeface="Arial"/>
              </a:rPr>
              <a:t>•  EC2 Savings Plan</a:t>
            </a:r>
          </a:p>
          <a:p>
            <a:pPr>
              <a:spcAft>
                <a:spcPts val="1000"/>
              </a:spcAft>
            </a:pPr>
            <a:r>
              <a:rPr sz="1800" b="0">
                <a:solidFill>
                  <a:srgbClr val="161B26"/>
                </a:solidFill>
                <a:latin typeface="Arial"/>
              </a:rPr>
              <a:t>•  Up to 72% discount compared to On-Demand</a:t>
            </a:r>
          </a:p>
          <a:p>
            <a:pPr>
              <a:spcAft>
                <a:spcPts val="1000"/>
              </a:spcAft>
            </a:pPr>
            <a:r>
              <a:rPr sz="1800" b="0">
                <a:solidFill>
                  <a:srgbClr val="161B26"/>
                </a:solidFill>
                <a:latin typeface="Arial"/>
              </a:rPr>
              <a:t>•  Commit to usage of individual instance families in a region (e.g. C5 or M5)</a:t>
            </a:r>
          </a:p>
          <a:p>
            <a:pPr>
              <a:spcAft>
                <a:spcPts val="1000"/>
              </a:spcAft>
            </a:pPr>
            <a:r>
              <a:rPr sz="1800" b="0">
                <a:solidFill>
                  <a:srgbClr val="161B26"/>
                </a:solidFill>
                <a:latin typeface="Arial"/>
              </a:rPr>
              <a:t>•  Regardless of AZ, size (m5.xl to m5.4xl), OS (Linux/Windows) or tenancy</a:t>
            </a:r>
          </a:p>
          <a:p>
            <a:pPr>
              <a:spcAft>
                <a:spcPts val="1000"/>
              </a:spcAft>
            </a:pPr>
            <a:r>
              <a:rPr sz="1800" b="0">
                <a:solidFill>
                  <a:srgbClr val="161B26"/>
                </a:solidFill>
                <a:latin typeface="Arial"/>
              </a:rPr>
              <a:t>•  All upfront, partial upfront, no upfront</a:t>
            </a:r>
          </a:p>
          <a:p>
            <a:pPr>
              <a:spcAft>
                <a:spcPts val="1000"/>
              </a:spcAft>
            </a:pPr>
            <a:r>
              <a:rPr sz="1800" b="0">
                <a:solidFill>
                  <a:srgbClr val="161B26"/>
                </a:solidFill>
                <a:latin typeface="Arial"/>
              </a:rPr>
              <a:t>•  Compute Savings Plan</a:t>
            </a:r>
          </a:p>
          <a:p>
            <a:pPr>
              <a:spcAft>
                <a:spcPts val="1000"/>
              </a:spcAft>
            </a:pPr>
            <a:r>
              <a:rPr sz="1800" b="0">
                <a:solidFill>
                  <a:srgbClr val="161B26"/>
                </a:solidFill>
                <a:latin typeface="Arial"/>
              </a:rPr>
              <a:t>•  Up to 66% discount compared to On-Demand</a:t>
            </a:r>
          </a:p>
          <a:p>
            <a:pPr>
              <a:spcAft>
                <a:spcPts val="1000"/>
              </a:spcAft>
            </a:pPr>
            <a:r>
              <a:rPr sz="1800" b="0">
                <a:solidFill>
                  <a:srgbClr val="161B26"/>
                </a:solidFill>
                <a:latin typeface="Arial"/>
              </a:rPr>
              <a:t>•  Regardless of Family, Region, size, OS, tenancy, compute options</a:t>
            </a:r>
          </a:p>
          <a:p>
            <a:pPr>
              <a:spcAft>
                <a:spcPts val="1000"/>
              </a:spcAft>
            </a:pPr>
            <a:r>
              <a:rPr sz="1800" b="0">
                <a:solidFill>
                  <a:srgbClr val="161B26"/>
                </a:solidFill>
                <a:latin typeface="Arial"/>
              </a:rPr>
              <a:t>•  Compute Options: EC2, Fargate, Lambda</a:t>
            </a:r>
          </a:p>
          <a:p>
            <a:pPr>
              <a:spcAft>
                <a:spcPts val="1000"/>
              </a:spcAft>
            </a:pPr>
            <a:r>
              <a:rPr sz="1800" b="0">
                <a:solidFill>
                  <a:srgbClr val="161B26"/>
                </a:solidFill>
                <a:latin typeface="Arial"/>
              </a:rPr>
              <a:t>•  Machine Learning Savings Plan: SageMaker…</a:t>
            </a:r>
          </a:p>
          <a:p>
            <a:pPr>
              <a:spcAft>
                <a:spcPts val="1000"/>
              </a:spcAft>
            </a:pPr>
            <a:r>
              <a:rPr sz="1800" b="0">
                <a:solidFill>
                  <a:srgbClr val="161B26"/>
                </a:solidFill>
                <a:latin typeface="Arial"/>
              </a:rPr>
              <a:t>•  Setup from the AWS Cost Explorer console</a:t>
            </a:r>
          </a:p>
          <a:p>
            <a:pPr>
              <a:spcAft>
                <a:spcPts val="1000"/>
              </a:spcAft>
            </a:pPr>
            <a:r>
              <a:rPr sz="1800" b="0">
                <a:solidFill>
                  <a:srgbClr val="161B26"/>
                </a:solidFill>
                <a:latin typeface="Arial"/>
              </a:rPr>
              <a:t>•  Estimate pricing at https://aws.amazon.com/savingsplans/pricing/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461</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Compute Optimizer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26079" y="1801368"/>
            <a:ext cx="670936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3_0.png"/>
          <p:cNvPicPr>
            <a:picLocks noChangeAspect="1"/>
          </p:cNvPicPr>
          <p:nvPr/>
        </p:nvPicPr>
        <p:blipFill>
          <a:blip r:embed="rId2"/>
          <a:stretch>
            <a:fillRect/>
          </a:stretch>
        </p:blipFill>
        <p:spPr>
          <a:xfrm>
            <a:off x="2753511" y="1828800"/>
            <a:ext cx="665449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Reduce costs and improve performance by recommending optimal AWS resources for your workloads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462</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and Costing Tools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Estimating costs in the cloud:</a:t>
            </a:r>
          </a:p>
          <a:p>
            <a:pPr>
              <a:spcAft>
                <a:spcPts val="1000"/>
              </a:spcAft>
            </a:pPr>
            <a:r>
              <a:rPr sz="1800" b="0">
                <a:solidFill>
                  <a:srgbClr val="161B26"/>
                </a:solidFill>
                <a:latin typeface="Arial"/>
              </a:rPr>
              <a:t>•  Pricing Calculator</a:t>
            </a:r>
          </a:p>
          <a:p>
            <a:pPr>
              <a:spcAft>
                <a:spcPts val="1000"/>
              </a:spcAft>
            </a:pPr>
            <a:r>
              <a:rPr sz="1800" b="0">
                <a:solidFill>
                  <a:srgbClr val="161B26"/>
                </a:solidFill>
                <a:latin typeface="Arial"/>
              </a:rPr>
              <a:t>•  Tracking costs in the cloud:</a:t>
            </a:r>
          </a:p>
          <a:p>
            <a:pPr>
              <a:spcAft>
                <a:spcPts val="1000"/>
              </a:spcAft>
            </a:pPr>
            <a:r>
              <a:rPr sz="1800" b="0">
                <a:solidFill>
                  <a:srgbClr val="161B26"/>
                </a:solidFill>
                <a:latin typeface="Arial"/>
              </a:rPr>
              <a:t>•  Billing Dashboard</a:t>
            </a:r>
          </a:p>
          <a:p>
            <a:pPr>
              <a:spcAft>
                <a:spcPts val="1000"/>
              </a:spcAft>
            </a:pPr>
            <a:r>
              <a:rPr sz="1800" b="0">
                <a:solidFill>
                  <a:srgbClr val="161B26"/>
                </a:solidFill>
                <a:latin typeface="Arial"/>
              </a:rPr>
              <a:t>•  Cost Allocation Tags</a:t>
            </a:r>
          </a:p>
          <a:p>
            <a:pPr>
              <a:spcAft>
                <a:spcPts val="1000"/>
              </a:spcAft>
            </a:pPr>
            <a:r>
              <a:rPr sz="1800" b="0">
                <a:solidFill>
                  <a:srgbClr val="161B26"/>
                </a:solidFill>
                <a:latin typeface="Arial"/>
              </a:rPr>
              <a:t>•  Cost and Usage Reports</a:t>
            </a:r>
          </a:p>
          <a:p>
            <a:pPr>
              <a:spcAft>
                <a:spcPts val="1000"/>
              </a:spcAft>
            </a:pPr>
            <a:r>
              <a:rPr sz="1800" b="0">
                <a:solidFill>
                  <a:srgbClr val="161B26"/>
                </a:solidFill>
                <a:latin typeface="Arial"/>
              </a:rPr>
              <a:t>•  Cost Explorer</a:t>
            </a:r>
          </a:p>
          <a:p>
            <a:pPr>
              <a:spcAft>
                <a:spcPts val="1000"/>
              </a:spcAft>
            </a:pPr>
            <a:r>
              <a:rPr sz="1800" b="0">
                <a:solidFill>
                  <a:srgbClr val="161B26"/>
                </a:solidFill>
                <a:latin typeface="Arial"/>
              </a:rPr>
              <a:t>•  Monitoring against costs plans:</a:t>
            </a:r>
          </a:p>
          <a:p>
            <a:pPr>
              <a:spcAft>
                <a:spcPts val="1000"/>
              </a:spcAft>
            </a:pPr>
            <a:r>
              <a:rPr sz="1800" b="0">
                <a:solidFill>
                  <a:srgbClr val="161B26"/>
                </a:solidFill>
                <a:latin typeface="Arial"/>
              </a:rPr>
              <a:t>•  Billing Alarms</a:t>
            </a:r>
          </a:p>
          <a:p>
            <a:pPr>
              <a:spcAft>
                <a:spcPts val="1000"/>
              </a:spcAft>
            </a:pPr>
            <a:r>
              <a:rPr sz="1800" b="0">
                <a:solidFill>
                  <a:srgbClr val="161B26"/>
                </a:solidFill>
                <a:latin typeface="Arial"/>
              </a:rPr>
              <a:t>•  Budgets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463</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Pricing Calculator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9045" y="1801368"/>
            <a:ext cx="10263429"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5_0.png"/>
          <p:cNvPicPr>
            <a:picLocks noChangeAspect="1"/>
          </p:cNvPicPr>
          <p:nvPr/>
        </p:nvPicPr>
        <p:blipFill>
          <a:blip r:embed="rId2"/>
          <a:stretch>
            <a:fillRect/>
          </a:stretch>
        </p:blipFill>
        <p:spPr>
          <a:xfrm>
            <a:off x="976477" y="1828800"/>
            <a:ext cx="10208565"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Available at https://calculator.aws/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464</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Billing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37967" y="1801368"/>
            <a:ext cx="74855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6_0.png"/>
          <p:cNvPicPr>
            <a:picLocks noChangeAspect="1"/>
          </p:cNvPicPr>
          <p:nvPr/>
        </p:nvPicPr>
        <p:blipFill>
          <a:blip r:embed="rId2"/>
          <a:stretch>
            <a:fillRect/>
          </a:stretch>
        </p:blipFill>
        <p:spPr>
          <a:xfrm>
            <a:off x="2365399" y="1828800"/>
            <a:ext cx="74307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465</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Free Tier Dashboard</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46097" y="1801368"/>
            <a:ext cx="866932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7_0.png"/>
          <p:cNvPicPr>
            <a:picLocks noChangeAspect="1"/>
          </p:cNvPicPr>
          <p:nvPr/>
        </p:nvPicPr>
        <p:blipFill>
          <a:blip r:embed="rId2"/>
          <a:stretch>
            <a:fillRect/>
          </a:stretch>
        </p:blipFill>
        <p:spPr>
          <a:xfrm>
            <a:off x="1773529" y="1828800"/>
            <a:ext cx="861446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466</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Allocation Tags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16840"/>
            <a:ext cx="10479024" cy="41387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68_0.png"/>
          <p:cNvPicPr>
            <a:picLocks noChangeAspect="1"/>
          </p:cNvPicPr>
          <p:nvPr/>
        </p:nvPicPr>
        <p:blipFill>
          <a:blip r:embed="rId2"/>
          <a:stretch>
            <a:fillRect/>
          </a:stretch>
        </p:blipFill>
        <p:spPr>
          <a:xfrm>
            <a:off x="868680" y="1844272"/>
            <a:ext cx="10424160" cy="408385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Use cost allocation tags to track your AWS costs on a detailed level</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467</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Tagging and Resource Groups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Tags are used for organizing resources:</a:t>
            </a:r>
          </a:p>
          <a:p>
            <a:pPr>
              <a:spcAft>
                <a:spcPts val="1000"/>
              </a:spcAft>
            </a:pPr>
            <a:r>
              <a:rPr sz="1800" b="0">
                <a:solidFill>
                  <a:srgbClr val="161B26"/>
                </a:solidFill>
                <a:latin typeface="Arial"/>
              </a:rPr>
              <a:t>•  EC2: instances, images, load balancers, security groups…</a:t>
            </a:r>
          </a:p>
          <a:p>
            <a:pPr>
              <a:spcAft>
                <a:spcPts val="1000"/>
              </a:spcAft>
            </a:pPr>
            <a:r>
              <a:rPr sz="1800" b="0">
                <a:solidFill>
                  <a:srgbClr val="161B26"/>
                </a:solidFill>
                <a:latin typeface="Arial"/>
              </a:rPr>
              <a:t>•  RDS, VPC resources, Route 53, IAM users, etc…</a:t>
            </a:r>
          </a:p>
          <a:p>
            <a:pPr>
              <a:spcAft>
                <a:spcPts val="1000"/>
              </a:spcAft>
            </a:pPr>
            <a:r>
              <a:rPr sz="1800" b="0">
                <a:solidFill>
                  <a:srgbClr val="161B26"/>
                </a:solidFill>
                <a:latin typeface="Arial"/>
              </a:rPr>
              <a:t>•  Resources created by CloudFormation are all tagged the same way</a:t>
            </a:r>
          </a:p>
          <a:p>
            <a:pPr>
              <a:spcAft>
                <a:spcPts val="1000"/>
              </a:spcAft>
            </a:pPr>
            <a:r>
              <a:rPr sz="1800" b="0">
                <a:solidFill>
                  <a:srgbClr val="161B26"/>
                </a:solidFill>
                <a:latin typeface="Arial"/>
              </a:rPr>
              <a:t>•  Free naming, common tags are: Name, Environment, Team …</a:t>
            </a:r>
          </a:p>
          <a:p>
            <a:pPr>
              <a:spcAft>
                <a:spcPts val="1000"/>
              </a:spcAft>
            </a:pPr>
            <a:r>
              <a:rPr sz="1800" b="0">
                <a:solidFill>
                  <a:srgbClr val="161B26"/>
                </a:solidFill>
                <a:latin typeface="Arial"/>
              </a:rPr>
              <a:t>•  Tags can be used to create Resource Groups</a:t>
            </a:r>
          </a:p>
          <a:p>
            <a:pPr>
              <a:spcAft>
                <a:spcPts val="1000"/>
              </a:spcAft>
            </a:pPr>
            <a:r>
              <a:rPr sz="1800" b="0">
                <a:solidFill>
                  <a:srgbClr val="161B26"/>
                </a:solidFill>
                <a:latin typeface="Arial"/>
              </a:rPr>
              <a:t>•  Create, maintain, and view a collection of resources that share common tags</a:t>
            </a:r>
          </a:p>
          <a:p>
            <a:pPr>
              <a:spcAft>
                <a:spcPts val="1000"/>
              </a:spcAft>
            </a:pPr>
            <a:r>
              <a:rPr sz="1800" b="0">
                <a:solidFill>
                  <a:srgbClr val="161B26"/>
                </a:solidFill>
                <a:latin typeface="Arial"/>
              </a:rPr>
              <a:t>•  Manage these tags using the Tag Edit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468</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Dive deeper into your AWS costs and usage</a:t>
            </a:r>
          </a:p>
          <a:p>
            <a:pPr>
              <a:spcAft>
                <a:spcPts val="1000"/>
              </a:spcAft>
            </a:pPr>
            <a:r>
              <a:rPr sz="2000" b="0">
                <a:solidFill>
                  <a:srgbClr val="161B26"/>
                </a:solidFill>
                <a:latin typeface="Arial"/>
              </a:rPr>
              <a:t>•  The AWS Cost &amp; Usage Report contains the most comprehensive se of AWS cost and usage data available, including additional metadata about AWS services, pricing, and reservations (e.g., Amazon EC2 Reserved Instances (RIs)).</a:t>
            </a:r>
          </a:p>
          <a:p>
            <a:pPr>
              <a:spcAft>
                <a:spcPts val="1000"/>
              </a:spcAft>
            </a:pPr>
            <a:r>
              <a:rPr sz="2000" b="0">
                <a:solidFill>
                  <a:srgbClr val="161B26"/>
                </a:solidFill>
                <a:latin typeface="Arial"/>
              </a:rPr>
              <a:t>•  The AWS Cost &amp; Usage Report lists AWS usage for each service category used by an account and its IAM users in hourly or daily line items, as well as any tags that you have activated for cost allocation purposes.</a:t>
            </a:r>
          </a:p>
          <a:p>
            <a:pPr>
              <a:spcAft>
                <a:spcPts val="1000"/>
              </a:spcAft>
            </a:pPr>
            <a:r>
              <a:rPr sz="2000" b="0">
                <a:solidFill>
                  <a:srgbClr val="161B26"/>
                </a:solidFill>
                <a:latin typeface="Arial"/>
              </a:rPr>
              <a:t>•  Can be integrated with Athena, Redshift or QuickSight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469</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and Usage Reports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36341"/>
            <a:ext cx="10479024" cy="446547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1_0.png"/>
          <p:cNvPicPr>
            <a:picLocks noChangeAspect="1"/>
          </p:cNvPicPr>
          <p:nvPr/>
        </p:nvPicPr>
        <p:blipFill>
          <a:blip r:embed="rId2"/>
          <a:stretch>
            <a:fillRect/>
          </a:stretch>
        </p:blipFill>
        <p:spPr>
          <a:xfrm>
            <a:off x="868680" y="1863773"/>
            <a:ext cx="10424160" cy="4410614"/>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Visualize, understand, and manage your AWS costs and usage over time</a:t>
            </a:r>
          </a:p>
          <a:p>
            <a:pPr>
              <a:spcAft>
                <a:spcPts val="1000"/>
              </a:spcAft>
            </a:pPr>
            <a:r>
              <a:rPr sz="2000" b="0">
                <a:solidFill>
                  <a:srgbClr val="161B26"/>
                </a:solidFill>
                <a:latin typeface="Arial"/>
              </a:rPr>
              <a:t>•  Create custom reports that analyze cost and usage data.</a:t>
            </a:r>
          </a:p>
          <a:p>
            <a:pPr>
              <a:spcAft>
                <a:spcPts val="1000"/>
              </a:spcAft>
            </a:pPr>
            <a:r>
              <a:rPr sz="2000" b="0">
                <a:solidFill>
                  <a:srgbClr val="161B26"/>
                </a:solidFill>
                <a:latin typeface="Arial"/>
              </a:rPr>
              <a:t>•  Analyze your data at a high level: total costs and usage across all accounts</a:t>
            </a:r>
          </a:p>
          <a:p>
            <a:pPr>
              <a:spcAft>
                <a:spcPts val="1000"/>
              </a:spcAft>
            </a:pPr>
            <a:r>
              <a:rPr sz="2000" b="0">
                <a:solidFill>
                  <a:srgbClr val="161B26"/>
                </a:solidFill>
                <a:latin typeface="Arial"/>
              </a:rPr>
              <a:t>•  Or Monthly, hourly, resource level granularity</a:t>
            </a:r>
          </a:p>
          <a:p>
            <a:pPr>
              <a:spcAft>
                <a:spcPts val="1000"/>
              </a:spcAft>
            </a:pPr>
            <a:r>
              <a:rPr sz="2000" b="0">
                <a:solidFill>
                  <a:srgbClr val="161B26"/>
                </a:solidFill>
                <a:latin typeface="Arial"/>
              </a:rPr>
              <a:t>•  Choose an optimal Savings Plan (to lower prices on your bill)</a:t>
            </a:r>
          </a:p>
          <a:p>
            <a:pPr>
              <a:spcAft>
                <a:spcPts val="1000"/>
              </a:spcAft>
            </a:pPr>
            <a:r>
              <a:rPr sz="2000" b="0">
                <a:solidFill>
                  <a:srgbClr val="161B26"/>
                </a:solidFill>
                <a:latin typeface="Arial"/>
              </a:rPr>
              <a:t>•  Forecast usage up to 12 months based on previous usage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471</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Cost Explorer – Monthly Cost by AWS Service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60157" y="1801368"/>
            <a:ext cx="804120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3_0.png"/>
          <p:cNvPicPr>
            <a:picLocks noChangeAspect="1"/>
          </p:cNvPicPr>
          <p:nvPr/>
        </p:nvPicPr>
        <p:blipFill>
          <a:blip r:embed="rId2"/>
          <a:stretch>
            <a:fillRect/>
          </a:stretch>
        </p:blipFill>
        <p:spPr>
          <a:xfrm>
            <a:off x="2087589" y="1828800"/>
            <a:ext cx="798634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472</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Hourly &amp; Resource Level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967590" y="1801368"/>
            <a:ext cx="822634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4_0.png"/>
          <p:cNvPicPr>
            <a:picLocks noChangeAspect="1"/>
          </p:cNvPicPr>
          <p:nvPr/>
        </p:nvPicPr>
        <p:blipFill>
          <a:blip r:embed="rId2"/>
          <a:stretch>
            <a:fillRect/>
          </a:stretch>
        </p:blipFill>
        <p:spPr>
          <a:xfrm>
            <a:off x="1995022" y="1828800"/>
            <a:ext cx="817147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473</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Savings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22474" y="1801368"/>
            <a:ext cx="3916571"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5_0.png"/>
          <p:cNvPicPr>
            <a:picLocks noChangeAspect="1"/>
          </p:cNvPicPr>
          <p:nvPr/>
        </p:nvPicPr>
        <p:blipFill>
          <a:blip r:embed="rId2"/>
          <a:stretch>
            <a:fillRect/>
          </a:stretch>
        </p:blipFill>
        <p:spPr>
          <a:xfrm>
            <a:off x="4149906" y="1828800"/>
            <a:ext cx="3861707"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Alternative to Reserved Instances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474</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Explorer – Forecast Usage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45737" y="1801368"/>
            <a:ext cx="767004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6_0.png"/>
          <p:cNvPicPr>
            <a:picLocks noChangeAspect="1"/>
          </p:cNvPicPr>
          <p:nvPr/>
        </p:nvPicPr>
        <p:blipFill>
          <a:blip r:embed="rId2"/>
          <a:stretch>
            <a:fillRect/>
          </a:stretch>
        </p:blipFill>
        <p:spPr>
          <a:xfrm>
            <a:off x="2273169" y="1828800"/>
            <a:ext cx="761518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475</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Alarms in CloudWatch</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75642" y="1801368"/>
            <a:ext cx="5010235"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7_0.png"/>
          <p:cNvPicPr>
            <a:picLocks noChangeAspect="1"/>
          </p:cNvPicPr>
          <p:nvPr/>
        </p:nvPicPr>
        <p:blipFill>
          <a:blip r:embed="rId2"/>
          <a:stretch>
            <a:fillRect/>
          </a:stretch>
        </p:blipFill>
        <p:spPr>
          <a:xfrm>
            <a:off x="3603074" y="1828800"/>
            <a:ext cx="4955371"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Billing data metric is stored in CloudWatch us-east-1</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476</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Budgets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Create budget and send alarms when costs exceeds the budget</a:t>
            </a:r>
          </a:p>
          <a:p>
            <a:pPr>
              <a:spcAft>
                <a:spcPts val="1000"/>
              </a:spcAft>
            </a:pPr>
            <a:r>
              <a:rPr sz="1800" b="0">
                <a:solidFill>
                  <a:srgbClr val="161B26"/>
                </a:solidFill>
                <a:latin typeface="Arial"/>
              </a:rPr>
              <a:t>•  4 types of budgets: Usage, Cost, Reservation, Savings Plans</a:t>
            </a:r>
          </a:p>
          <a:p>
            <a:pPr>
              <a:spcAft>
                <a:spcPts val="1000"/>
              </a:spcAft>
            </a:pPr>
            <a:r>
              <a:rPr sz="1800" b="0">
                <a:solidFill>
                  <a:srgbClr val="161B26"/>
                </a:solidFill>
                <a:latin typeface="Arial"/>
              </a:rPr>
              <a:t>•  For Reserved Instances (RI)</a:t>
            </a:r>
          </a:p>
          <a:p>
            <a:pPr>
              <a:spcAft>
                <a:spcPts val="1000"/>
              </a:spcAft>
            </a:pPr>
            <a:r>
              <a:rPr sz="1800" b="0">
                <a:solidFill>
                  <a:srgbClr val="161B26"/>
                </a:solidFill>
                <a:latin typeface="Arial"/>
              </a:rPr>
              <a:t>•  Track utilization</a:t>
            </a:r>
          </a:p>
          <a:p>
            <a:pPr>
              <a:spcAft>
                <a:spcPts val="1000"/>
              </a:spcAft>
            </a:pPr>
            <a:r>
              <a:rPr sz="1800" b="0">
                <a:solidFill>
                  <a:srgbClr val="161B26"/>
                </a:solidFill>
                <a:latin typeface="Arial"/>
              </a:rPr>
              <a:t>•  Supports EC2, ElastiCache, RDS, Redshift</a:t>
            </a:r>
          </a:p>
          <a:p>
            <a:pPr>
              <a:spcAft>
                <a:spcPts val="1000"/>
              </a:spcAft>
            </a:pPr>
            <a:r>
              <a:rPr sz="1800" b="0">
                <a:solidFill>
                  <a:srgbClr val="161B26"/>
                </a:solidFill>
                <a:latin typeface="Arial"/>
              </a:rPr>
              <a:t>•  Up to 5 SNS notifications per budget</a:t>
            </a:r>
          </a:p>
          <a:p>
            <a:pPr>
              <a:spcAft>
                <a:spcPts val="1000"/>
              </a:spcAft>
            </a:pPr>
            <a:r>
              <a:rPr sz="1800" b="0">
                <a:solidFill>
                  <a:srgbClr val="161B26"/>
                </a:solidFill>
                <a:latin typeface="Arial"/>
              </a:rPr>
              <a:t>•  Can filter by: Service, Linked Account, Tag, Purchase Option, Instance Type, Region, Availability Zone, API Operation, etc…</a:t>
            </a:r>
          </a:p>
          <a:p>
            <a:pPr>
              <a:spcAft>
                <a:spcPts val="1000"/>
              </a:spcAft>
            </a:pPr>
            <a:r>
              <a:rPr sz="1800" b="0">
                <a:solidFill>
                  <a:srgbClr val="161B26"/>
                </a:solidFill>
                <a:latin typeface="Arial"/>
              </a:rPr>
              <a:t>•  Same options as AWS Cost Explorer!</a:t>
            </a:r>
          </a:p>
          <a:p>
            <a:pPr>
              <a:spcAft>
                <a:spcPts val="1000"/>
              </a:spcAft>
            </a:pPr>
            <a:r>
              <a:rPr sz="1800" b="0">
                <a:solidFill>
                  <a:srgbClr val="161B26"/>
                </a:solidFill>
                <a:latin typeface="Arial"/>
              </a:rPr>
              <a:t>•  •2 budgets are free, then $0.02/day/budget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477</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Cost Anomaly Detection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552846"/>
            <a:ext cx="10479024" cy="266670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79_0.png"/>
          <p:cNvPicPr>
            <a:picLocks noChangeAspect="1"/>
          </p:cNvPicPr>
          <p:nvPr/>
        </p:nvPicPr>
        <p:blipFill>
          <a:blip r:embed="rId2"/>
          <a:stretch>
            <a:fillRect/>
          </a:stretch>
        </p:blipFill>
        <p:spPr>
          <a:xfrm>
            <a:off x="868680" y="2580278"/>
            <a:ext cx="10424160" cy="2611844"/>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Continuously monitor your cost and usage using ML to detect unusual spends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478</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Service Quotas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087475"/>
            <a:ext cx="10479024" cy="359744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80_0.png"/>
          <p:cNvPicPr>
            <a:picLocks noChangeAspect="1"/>
          </p:cNvPicPr>
          <p:nvPr/>
        </p:nvPicPr>
        <p:blipFill>
          <a:blip r:embed="rId2"/>
          <a:stretch>
            <a:fillRect/>
          </a:stretch>
        </p:blipFill>
        <p:spPr>
          <a:xfrm>
            <a:off x="868680" y="2114907"/>
            <a:ext cx="10424160" cy="3542585"/>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Notify you when you’re close to a service quota value threshold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479</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Trusted Advisor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47872" y="1801368"/>
            <a:ext cx="386577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81_0.png"/>
          <p:cNvPicPr>
            <a:picLocks noChangeAspect="1"/>
          </p:cNvPicPr>
          <p:nvPr/>
        </p:nvPicPr>
        <p:blipFill>
          <a:blip r:embed="rId2"/>
          <a:stretch>
            <a:fillRect/>
          </a:stretch>
        </p:blipFill>
        <p:spPr>
          <a:xfrm>
            <a:off x="4175304" y="1828800"/>
            <a:ext cx="381091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No need to install anything – high level AWS account assessment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Support Plans Pricing</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10243" y="1801368"/>
            <a:ext cx="754103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82_0.png"/>
          <p:cNvPicPr>
            <a:picLocks noChangeAspect="1"/>
          </p:cNvPicPr>
          <p:nvPr/>
        </p:nvPicPr>
        <p:blipFill>
          <a:blip r:embed="rId2"/>
          <a:stretch>
            <a:fillRect/>
          </a:stretch>
        </p:blipFill>
        <p:spPr>
          <a:xfrm>
            <a:off x="2337675" y="1828800"/>
            <a:ext cx="748616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Basic Support: 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481</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Basic Support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Customer Service &amp; Communities - 24x7 access to customer service, documentation, whitepapers, and support forums.</a:t>
            </a:r>
          </a:p>
          <a:p>
            <a:pPr>
              <a:spcAft>
                <a:spcPts val="1000"/>
              </a:spcAft>
            </a:pPr>
            <a:r>
              <a:rPr sz="2000" b="0">
                <a:solidFill>
                  <a:srgbClr val="161B26"/>
                </a:solidFill>
                <a:latin typeface="Arial"/>
              </a:rPr>
              <a:t>•  AWS Trusted Advisor - Access to the 7 core Trusted Advisor checks and guidance to provision your resources following best practices to increase performance and improve security.</a:t>
            </a:r>
          </a:p>
          <a:p>
            <a:pPr>
              <a:spcAft>
                <a:spcPts val="1000"/>
              </a:spcAft>
            </a:pPr>
            <a:r>
              <a:rPr sz="2000" b="0">
                <a:solidFill>
                  <a:srgbClr val="161B26"/>
                </a:solidFill>
                <a:latin typeface="Arial"/>
              </a:rPr>
              <a:t>•  AWS Personal Health Dashboard - A personalized view of the health of AWS services, and alerts when your resources are impacted.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482</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Developer Support Plan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All Basic Support Plan +</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5401056"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Business hours email access to Cloud Support Associates</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9037320" y="1874520"/>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Unlimited cases / 1 primary contact</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Case severity / response times: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5401056"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General guidance: &lt; 24 business hours</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9037320" y="4178808"/>
            <a:ext cx="2154936" cy="1920240"/>
          </a:xfrm>
          <a:prstGeom prst="rect">
            <a:avLst/>
          </a:prstGeom>
          <a:noFill/>
        </p:spPr>
        <p:txBody>
          <a:bodyPr wrap="square" anchor="ctr">
            <a:spAutoFit/>
          </a:bodyPr>
          <a:lstStyle/>
          <a:p>
            <a:pPr algn="l">
              <a:spcAft>
                <a:spcPts val="400"/>
              </a:spcAft>
            </a:pPr>
            <a:r>
              <a:rPr sz="1500" b="0">
                <a:solidFill>
                  <a:srgbClr val="161B26"/>
                </a:solidFill>
                <a:latin typeface="Arial"/>
              </a:rPr>
              <a:t>System impaired: &lt; 12 business hours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483</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Business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production workloads</a:t>
            </a:r>
          </a:p>
          <a:p>
            <a:pPr>
              <a:spcAft>
                <a:spcPts val="1000"/>
              </a:spcAft>
            </a:pPr>
            <a:r>
              <a:rPr sz="1800" b="0">
                <a:solidFill>
                  <a:srgbClr val="161B26"/>
                </a:solidFill>
                <a:latin typeface="Arial"/>
              </a:rPr>
              <a:t>•  Trusted Advisor – Full set of checks + API access</a:t>
            </a:r>
          </a:p>
          <a:p>
            <a:pPr>
              <a:spcAft>
                <a:spcPts val="1000"/>
              </a:spcAft>
            </a:pPr>
            <a:r>
              <a:rPr sz="1800" b="0">
                <a:solidFill>
                  <a:srgbClr val="161B26"/>
                </a:solidFill>
                <a:latin typeface="Arial"/>
              </a:rPr>
              <a:t>•  24x7 phone, email, and chat access to Cloud Support Engineers</a:t>
            </a:r>
          </a:p>
          <a:p>
            <a:pPr>
              <a:spcAft>
                <a:spcPts val="1000"/>
              </a:spcAft>
            </a:pPr>
            <a:r>
              <a:rPr sz="1800" b="0">
                <a:solidFill>
                  <a:srgbClr val="161B26"/>
                </a:solidFill>
                <a:latin typeface="Arial"/>
              </a:rPr>
              <a:t>•  Unlimited cases / unlimited contacts</a:t>
            </a:r>
          </a:p>
          <a:p>
            <a:pPr>
              <a:spcAft>
                <a:spcPts val="1000"/>
              </a:spcAft>
            </a:pPr>
            <a:r>
              <a:rPr sz="1800" b="0">
                <a:solidFill>
                  <a:srgbClr val="161B26"/>
                </a:solidFill>
                <a:latin typeface="Arial"/>
              </a:rPr>
              <a:t>•  Access to Infrastructure Event Management for additional fee.</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General guidance: &lt; 24 business hours</a:t>
            </a:r>
          </a:p>
          <a:p>
            <a:pPr>
              <a:spcAft>
                <a:spcPts val="1000"/>
              </a:spcAft>
            </a:pPr>
            <a:r>
              <a:rPr sz="1800" b="0">
                <a:solidFill>
                  <a:srgbClr val="161B26"/>
                </a:solidFill>
                <a:latin typeface="Arial"/>
              </a:rPr>
              <a:t>•  System impaired: &lt; 12 business hours</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484</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Enterprise On-Ramp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production or business critical workloads</a:t>
            </a:r>
          </a:p>
          <a:p>
            <a:pPr>
              <a:spcAft>
                <a:spcPts val="1000"/>
              </a:spcAft>
            </a:pPr>
            <a:r>
              <a:rPr sz="1800" b="0">
                <a:solidFill>
                  <a:srgbClr val="161B26"/>
                </a:solidFill>
                <a:latin typeface="Arial"/>
              </a:rPr>
              <a:t>•  All of Business Support Plan +</a:t>
            </a:r>
          </a:p>
          <a:p>
            <a:pPr>
              <a:spcAft>
                <a:spcPts val="1000"/>
              </a:spcAft>
            </a:pPr>
            <a:r>
              <a:rPr sz="1800" b="0">
                <a:solidFill>
                  <a:srgbClr val="161B26"/>
                </a:solidFill>
                <a:latin typeface="Arial"/>
              </a:rPr>
              <a:t>•  Access to a pool of Technical Account Managers (TAM)</a:t>
            </a:r>
          </a:p>
          <a:p>
            <a:pPr>
              <a:spcAft>
                <a:spcPts val="1000"/>
              </a:spcAft>
            </a:pPr>
            <a:r>
              <a:rPr sz="1800" b="0">
                <a:solidFill>
                  <a:srgbClr val="161B26"/>
                </a:solidFill>
                <a:latin typeface="Arial"/>
              </a:rPr>
              <a:t>•  Concierge Support Team (for billing and account best practices)</a:t>
            </a:r>
          </a:p>
          <a:p>
            <a:pPr>
              <a:spcAft>
                <a:spcPts val="1000"/>
              </a:spcAft>
            </a:pPr>
            <a:r>
              <a:rPr sz="1800" b="0">
                <a:solidFill>
                  <a:srgbClr val="161B26"/>
                </a:solidFill>
                <a:latin typeface="Arial"/>
              </a:rPr>
              <a:t>•  Infrastructure Event Management, Well-Architected &amp; Operations Reviews</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a:p>
            <a:pPr>
              <a:spcAft>
                <a:spcPts val="1000"/>
              </a:spcAft>
            </a:pPr>
            <a:r>
              <a:rPr sz="1800" b="0">
                <a:solidFill>
                  <a:srgbClr val="161B26"/>
                </a:solidFill>
                <a:latin typeface="Arial"/>
              </a:rPr>
              <a:t>•  Business-critical system down: &lt; 30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485</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Enterprise Support Plan (24/7)</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Intended to be used if you have mission critical workloads</a:t>
            </a:r>
          </a:p>
          <a:p>
            <a:pPr>
              <a:spcAft>
                <a:spcPts val="1000"/>
              </a:spcAft>
            </a:pPr>
            <a:r>
              <a:rPr sz="1800" b="0">
                <a:solidFill>
                  <a:srgbClr val="161B26"/>
                </a:solidFill>
                <a:latin typeface="Arial"/>
              </a:rPr>
              <a:t>•  All of Business Support Plan +</a:t>
            </a:r>
          </a:p>
          <a:p>
            <a:pPr>
              <a:spcAft>
                <a:spcPts val="1000"/>
              </a:spcAft>
            </a:pPr>
            <a:r>
              <a:rPr sz="1800" b="0">
                <a:solidFill>
                  <a:srgbClr val="161B26"/>
                </a:solidFill>
                <a:latin typeface="Arial"/>
              </a:rPr>
              <a:t>•  Access to a designated Technical Account Manager (TAM)</a:t>
            </a:r>
          </a:p>
          <a:p>
            <a:pPr>
              <a:spcAft>
                <a:spcPts val="1000"/>
              </a:spcAft>
            </a:pPr>
            <a:r>
              <a:rPr sz="1800" b="0">
                <a:solidFill>
                  <a:srgbClr val="161B26"/>
                </a:solidFill>
                <a:latin typeface="Arial"/>
              </a:rPr>
              <a:t>•  Concierge Support Team (for billing and account best practices)</a:t>
            </a:r>
          </a:p>
          <a:p>
            <a:pPr>
              <a:spcAft>
                <a:spcPts val="1000"/>
              </a:spcAft>
            </a:pPr>
            <a:r>
              <a:rPr sz="1800" b="0">
                <a:solidFill>
                  <a:srgbClr val="161B26"/>
                </a:solidFill>
                <a:latin typeface="Arial"/>
              </a:rPr>
              <a:t>•  Infrastructure Event Management, Well-Architected &amp; Operations Reviews</a:t>
            </a:r>
          </a:p>
          <a:p>
            <a:pPr>
              <a:spcAft>
                <a:spcPts val="1000"/>
              </a:spcAft>
            </a:pPr>
            <a:r>
              <a:rPr sz="1800" b="0">
                <a:solidFill>
                  <a:srgbClr val="161B26"/>
                </a:solidFill>
                <a:latin typeface="Arial"/>
              </a:rPr>
              <a:t>•  Case severity / response times:</a:t>
            </a:r>
          </a:p>
          <a:p>
            <a:pPr>
              <a:spcAft>
                <a:spcPts val="1000"/>
              </a:spcAft>
            </a:pPr>
            <a:r>
              <a:rPr sz="1800" b="0">
                <a:solidFill>
                  <a:srgbClr val="161B26"/>
                </a:solidFill>
                <a:latin typeface="Arial"/>
              </a:rPr>
              <a:t>•  …</a:t>
            </a:r>
          </a:p>
          <a:p>
            <a:pPr>
              <a:spcAft>
                <a:spcPts val="1000"/>
              </a:spcAft>
            </a:pPr>
            <a:r>
              <a:rPr sz="1800" b="0">
                <a:solidFill>
                  <a:srgbClr val="161B26"/>
                </a:solidFill>
                <a:latin typeface="Arial"/>
              </a:rPr>
              <a:t>•  Production system impaired: &lt; 4 hours</a:t>
            </a:r>
          </a:p>
          <a:p>
            <a:pPr>
              <a:spcAft>
                <a:spcPts val="1000"/>
              </a:spcAft>
            </a:pPr>
            <a:r>
              <a:rPr sz="1800" b="0">
                <a:solidFill>
                  <a:srgbClr val="161B26"/>
                </a:solidFill>
                <a:latin typeface="Arial"/>
              </a:rPr>
              <a:t>•  Production system down: &lt; 1 hour</a:t>
            </a:r>
          </a:p>
          <a:p>
            <a:pPr>
              <a:spcAft>
                <a:spcPts val="1000"/>
              </a:spcAft>
            </a:pPr>
            <a:r>
              <a:rPr sz="1800" b="0">
                <a:solidFill>
                  <a:srgbClr val="161B26"/>
                </a:solidFill>
                <a:latin typeface="Arial"/>
              </a:rPr>
              <a:t>•  Business-critical system down: &lt; 15 minutes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486</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Account Best Practices –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Operate multiple accounts using Organizations</a:t>
            </a:r>
          </a:p>
          <a:p>
            <a:pPr>
              <a:spcAft>
                <a:spcPts val="1000"/>
              </a:spcAft>
            </a:pPr>
            <a:r>
              <a:rPr sz="1800" b="0">
                <a:solidFill>
                  <a:srgbClr val="161B26"/>
                </a:solidFill>
                <a:latin typeface="Arial"/>
              </a:rPr>
              <a:t>•  Use SCP (service control policies) to restrict account power</a:t>
            </a:r>
          </a:p>
          <a:p>
            <a:pPr>
              <a:spcAft>
                <a:spcPts val="1000"/>
              </a:spcAft>
            </a:pPr>
            <a:r>
              <a:rPr sz="1800" b="0">
                <a:solidFill>
                  <a:srgbClr val="161B26"/>
                </a:solidFill>
                <a:latin typeface="Arial"/>
              </a:rPr>
              <a:t>•  Easily setup multiple accounts with best-practices with AWS Control Tower</a:t>
            </a:r>
          </a:p>
          <a:p>
            <a:pPr>
              <a:spcAft>
                <a:spcPts val="1000"/>
              </a:spcAft>
            </a:pPr>
            <a:r>
              <a:rPr sz="1800" b="0">
                <a:solidFill>
                  <a:srgbClr val="161B26"/>
                </a:solidFill>
                <a:latin typeface="Arial"/>
              </a:rPr>
              <a:t>•  Use Tags &amp; Cost Allocation Tags for easy management &amp; billing</a:t>
            </a:r>
          </a:p>
          <a:p>
            <a:pPr>
              <a:spcAft>
                <a:spcPts val="1000"/>
              </a:spcAft>
            </a:pPr>
            <a:r>
              <a:rPr sz="1800" b="0">
                <a:solidFill>
                  <a:srgbClr val="161B26"/>
                </a:solidFill>
                <a:latin typeface="Arial"/>
              </a:rPr>
              <a:t>•  IAM guidelines: MFA, least-privilege, password policy, password rotation</a:t>
            </a:r>
          </a:p>
          <a:p>
            <a:pPr>
              <a:spcAft>
                <a:spcPts val="1000"/>
              </a:spcAft>
            </a:pPr>
            <a:r>
              <a:rPr sz="1800" b="0">
                <a:solidFill>
                  <a:srgbClr val="161B26"/>
                </a:solidFill>
                <a:latin typeface="Arial"/>
              </a:rPr>
              <a:t>•  Config to record all resources configurations &amp; compliance over time</a:t>
            </a:r>
          </a:p>
          <a:p>
            <a:pPr>
              <a:spcAft>
                <a:spcPts val="1000"/>
              </a:spcAft>
            </a:pPr>
            <a:r>
              <a:rPr sz="1800" b="0">
                <a:solidFill>
                  <a:srgbClr val="161B26"/>
                </a:solidFill>
                <a:latin typeface="Arial"/>
              </a:rPr>
              <a:t>•  CloudFormation to deploy stacks across accounts and regions</a:t>
            </a:r>
          </a:p>
          <a:p>
            <a:pPr>
              <a:spcAft>
                <a:spcPts val="1000"/>
              </a:spcAft>
            </a:pPr>
            <a:r>
              <a:rPr sz="1800" b="0">
                <a:solidFill>
                  <a:srgbClr val="161B26"/>
                </a:solidFill>
                <a:latin typeface="Arial"/>
              </a:rPr>
              <a:t>•  Trusted Advisor to get insights, Support Plan adapted to your needs</a:t>
            </a:r>
          </a:p>
          <a:p>
            <a:pPr>
              <a:spcAft>
                <a:spcPts val="1000"/>
              </a:spcAft>
            </a:pPr>
            <a:r>
              <a:rPr sz="1800" b="0">
                <a:solidFill>
                  <a:srgbClr val="161B26"/>
                </a:solidFill>
                <a:latin typeface="Arial"/>
              </a:rPr>
              <a:t>•  Send Service Logs and Access Logs to S3 or CloudWatch Logs</a:t>
            </a:r>
          </a:p>
          <a:p>
            <a:pPr>
              <a:spcAft>
                <a:spcPts val="1000"/>
              </a:spcAft>
            </a:pPr>
            <a:r>
              <a:rPr sz="1800" b="0">
                <a:solidFill>
                  <a:srgbClr val="161B26"/>
                </a:solidFill>
                <a:latin typeface="Arial"/>
              </a:rPr>
              <a:t>•  CloudTrail to record API calls made within your account</a:t>
            </a:r>
          </a:p>
          <a:p>
            <a:pPr>
              <a:spcAft>
                <a:spcPts val="1000"/>
              </a:spcAft>
            </a:pPr>
            <a:r>
              <a:rPr sz="1800" b="0">
                <a:solidFill>
                  <a:srgbClr val="161B26"/>
                </a:solidFill>
                <a:latin typeface="Arial"/>
              </a:rPr>
              <a:t>•  If your Account is compromised: change the root password, delete and rotate all passwords / keys, contact the AWS support</a:t>
            </a:r>
          </a:p>
          <a:p>
            <a:pPr>
              <a:spcAft>
                <a:spcPts val="1000"/>
              </a:spcAft>
            </a:pPr>
            <a:r>
              <a:rPr sz="1800" b="0">
                <a:solidFill>
                  <a:srgbClr val="161B26"/>
                </a:solidFill>
                <a:latin typeface="Arial"/>
              </a:rPr>
              <a:t>•  Allow users to create pre-defined stacks defined by admins using AWS Service Catalog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487</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Billing and Costing Summary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Compute Optimizer: recommends resources’ configurations to reduce cost</a:t>
            </a:r>
          </a:p>
          <a:p>
            <a:pPr>
              <a:spcAft>
                <a:spcPts val="1000"/>
              </a:spcAft>
            </a:pPr>
            <a:r>
              <a:rPr sz="1800" b="0">
                <a:solidFill>
                  <a:srgbClr val="161B26"/>
                </a:solidFill>
                <a:latin typeface="Arial"/>
              </a:rPr>
              <a:t>•  Pricing Calculator: cost of services on AWS</a:t>
            </a:r>
          </a:p>
          <a:p>
            <a:pPr>
              <a:spcAft>
                <a:spcPts val="1000"/>
              </a:spcAft>
            </a:pPr>
            <a:r>
              <a:rPr sz="1800" b="0">
                <a:solidFill>
                  <a:srgbClr val="161B26"/>
                </a:solidFill>
                <a:latin typeface="Arial"/>
              </a:rPr>
              <a:t>•  Billing Dashboard: high level overview + free tier dashboard</a:t>
            </a:r>
          </a:p>
          <a:p>
            <a:pPr>
              <a:spcAft>
                <a:spcPts val="1000"/>
              </a:spcAft>
            </a:pPr>
            <a:r>
              <a:rPr sz="1800" b="0">
                <a:solidFill>
                  <a:srgbClr val="161B26"/>
                </a:solidFill>
                <a:latin typeface="Arial"/>
              </a:rPr>
              <a:t>•  Cost Allocation Tags: tag resources to create detailed reports</a:t>
            </a:r>
          </a:p>
          <a:p>
            <a:pPr>
              <a:spcAft>
                <a:spcPts val="1000"/>
              </a:spcAft>
            </a:pPr>
            <a:r>
              <a:rPr sz="1800" b="0">
                <a:solidFill>
                  <a:srgbClr val="161B26"/>
                </a:solidFill>
                <a:latin typeface="Arial"/>
              </a:rPr>
              <a:t>•  Cost and Usage Reports: most comprehensive billing dataset</a:t>
            </a:r>
          </a:p>
          <a:p>
            <a:pPr>
              <a:spcAft>
                <a:spcPts val="1000"/>
              </a:spcAft>
            </a:pPr>
            <a:r>
              <a:rPr sz="1800" b="0">
                <a:solidFill>
                  <a:srgbClr val="161B26"/>
                </a:solidFill>
                <a:latin typeface="Arial"/>
              </a:rPr>
              <a:t>•  Cost Explorer: View current usage (detailed) and forecast usage</a:t>
            </a:r>
          </a:p>
          <a:p>
            <a:pPr>
              <a:spcAft>
                <a:spcPts val="1000"/>
              </a:spcAft>
            </a:pPr>
            <a:r>
              <a:rPr sz="1800" b="0">
                <a:solidFill>
                  <a:srgbClr val="161B26"/>
                </a:solidFill>
                <a:latin typeface="Arial"/>
              </a:rPr>
              <a:t>•  Billing Alarms: in us-east-1 – track overall and per-service billing</a:t>
            </a:r>
          </a:p>
          <a:p>
            <a:pPr>
              <a:spcAft>
                <a:spcPts val="1000"/>
              </a:spcAft>
            </a:pPr>
            <a:r>
              <a:rPr sz="1800" b="0">
                <a:solidFill>
                  <a:srgbClr val="161B26"/>
                </a:solidFill>
                <a:latin typeface="Arial"/>
              </a:rPr>
              <a:t>•  Budgets: more advanced – track usage, costs, RI, and get alerts</a:t>
            </a:r>
          </a:p>
          <a:p>
            <a:pPr>
              <a:spcAft>
                <a:spcPts val="1000"/>
              </a:spcAft>
            </a:pPr>
            <a:r>
              <a:rPr sz="1800" b="0">
                <a:solidFill>
                  <a:srgbClr val="161B26"/>
                </a:solidFill>
                <a:latin typeface="Arial"/>
              </a:rPr>
              <a:t>•  Savings Plans: easy way to save based on long-term usage of AWS</a:t>
            </a:r>
          </a:p>
          <a:p>
            <a:pPr>
              <a:spcAft>
                <a:spcPts val="1000"/>
              </a:spcAft>
            </a:pPr>
            <a:r>
              <a:rPr sz="1800" b="0">
                <a:solidFill>
                  <a:srgbClr val="161B26"/>
                </a:solidFill>
                <a:latin typeface="Arial"/>
              </a:rPr>
              <a:t>•  Cost Anomaly Detection: detect unusual spends using Machine Learning</a:t>
            </a:r>
          </a:p>
          <a:p>
            <a:pPr>
              <a:spcAft>
                <a:spcPts val="1000"/>
              </a:spcAft>
            </a:pPr>
            <a:r>
              <a:rPr sz="1800" b="0">
                <a:solidFill>
                  <a:srgbClr val="161B26"/>
                </a:solidFill>
                <a:latin typeface="Arial"/>
              </a:rPr>
              <a:t>•  Service Quotas: notify you when you’re close to service quota threshold</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488</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Architecting &amp; Ecosystem</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AWS Architecting &amp; Ecosystem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489</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Well 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General Guiding Principles</a:t>
            </a:r>
          </a:p>
          <a:p>
            <a:pPr>
              <a:spcAft>
                <a:spcPts val="1000"/>
              </a:spcAft>
            </a:pPr>
            <a:r>
              <a:rPr sz="1800" b="0">
                <a:solidFill>
                  <a:srgbClr val="161B26"/>
                </a:solidFill>
                <a:latin typeface="Arial"/>
              </a:rPr>
              <a:t>•  Stop guessing your capacity needs</a:t>
            </a:r>
          </a:p>
          <a:p>
            <a:pPr>
              <a:spcAft>
                <a:spcPts val="1000"/>
              </a:spcAft>
            </a:pPr>
            <a:r>
              <a:rPr sz="1800" b="0">
                <a:solidFill>
                  <a:srgbClr val="161B26"/>
                </a:solidFill>
                <a:latin typeface="Arial"/>
              </a:rPr>
              <a:t>•  Test systems at production scale</a:t>
            </a:r>
          </a:p>
          <a:p>
            <a:pPr>
              <a:spcAft>
                <a:spcPts val="1000"/>
              </a:spcAft>
            </a:pPr>
            <a:r>
              <a:rPr sz="1800" b="0">
                <a:solidFill>
                  <a:srgbClr val="161B26"/>
                </a:solidFill>
                <a:latin typeface="Arial"/>
              </a:rPr>
              <a:t>•  Automate to make architectural experimentation easier</a:t>
            </a:r>
          </a:p>
          <a:p>
            <a:pPr>
              <a:spcAft>
                <a:spcPts val="1000"/>
              </a:spcAft>
            </a:pPr>
            <a:r>
              <a:rPr sz="1800" b="0">
                <a:solidFill>
                  <a:srgbClr val="161B26"/>
                </a:solidFill>
                <a:latin typeface="Arial"/>
              </a:rPr>
              <a:t>•  Allow for evolutionary architectures</a:t>
            </a:r>
          </a:p>
          <a:p>
            <a:pPr>
              <a:spcAft>
                <a:spcPts val="1000"/>
              </a:spcAft>
            </a:pPr>
            <a:r>
              <a:rPr sz="1800" b="0">
                <a:solidFill>
                  <a:srgbClr val="161B26"/>
                </a:solidFill>
                <a:latin typeface="Arial"/>
              </a:rPr>
              <a:t>•  Design based on changing requirements</a:t>
            </a:r>
          </a:p>
          <a:p>
            <a:pPr>
              <a:spcAft>
                <a:spcPts val="1000"/>
              </a:spcAft>
            </a:pPr>
            <a:r>
              <a:rPr sz="1800" b="0">
                <a:solidFill>
                  <a:srgbClr val="161B26"/>
                </a:solidFill>
                <a:latin typeface="Arial"/>
              </a:rPr>
              <a:t>•  Drive architectures using data</a:t>
            </a:r>
          </a:p>
          <a:p>
            <a:pPr>
              <a:spcAft>
                <a:spcPts val="1000"/>
              </a:spcAft>
            </a:pPr>
            <a:r>
              <a:rPr sz="1800" b="0">
                <a:solidFill>
                  <a:srgbClr val="161B26"/>
                </a:solidFill>
                <a:latin typeface="Arial"/>
              </a:rPr>
              <a:t>•  Improve through game days</a:t>
            </a:r>
          </a:p>
          <a:p>
            <a:pPr>
              <a:spcAft>
                <a:spcPts val="1000"/>
              </a:spcAft>
            </a:pPr>
            <a:r>
              <a:rPr sz="1800" b="0">
                <a:solidFill>
                  <a:srgbClr val="161B26"/>
                </a:solidFill>
                <a:latin typeface="Arial"/>
              </a:rPr>
              <a:t>•  Simulate applications for flash sale days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The AWS Well-Architected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04994" y="1801368"/>
            <a:ext cx="775153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92_0.png"/>
          <p:cNvPicPr>
            <a:picLocks noChangeAspect="1"/>
          </p:cNvPicPr>
          <p:nvPr/>
        </p:nvPicPr>
        <p:blipFill>
          <a:blip r:embed="rId2"/>
          <a:stretch>
            <a:fillRect/>
          </a:stretch>
        </p:blipFill>
        <p:spPr>
          <a:xfrm>
            <a:off x="2232426" y="1828800"/>
            <a:ext cx="769666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491</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Cloud Best Practices – Design Principles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Scalability: vertical &amp; horizontal</a:t>
            </a:r>
          </a:p>
          <a:p>
            <a:pPr>
              <a:spcAft>
                <a:spcPts val="1000"/>
              </a:spcAft>
            </a:pPr>
            <a:r>
              <a:rPr sz="1800" b="0">
                <a:solidFill>
                  <a:srgbClr val="161B26"/>
                </a:solidFill>
                <a:latin typeface="Arial"/>
              </a:rPr>
              <a:t>•  Disposable Resources: servers should be disposable &amp; easily configured</a:t>
            </a:r>
          </a:p>
          <a:p>
            <a:pPr>
              <a:spcAft>
                <a:spcPts val="1000"/>
              </a:spcAft>
            </a:pPr>
            <a:r>
              <a:rPr sz="1800" b="0">
                <a:solidFill>
                  <a:srgbClr val="161B26"/>
                </a:solidFill>
                <a:latin typeface="Arial"/>
              </a:rPr>
              <a:t>•  Automation: Serverless, Infrastructure as a Service, Auto Scaling…</a:t>
            </a:r>
          </a:p>
          <a:p>
            <a:pPr>
              <a:spcAft>
                <a:spcPts val="1000"/>
              </a:spcAft>
            </a:pPr>
            <a:r>
              <a:rPr sz="1800" b="0">
                <a:solidFill>
                  <a:srgbClr val="161B26"/>
                </a:solidFill>
                <a:latin typeface="Arial"/>
              </a:rPr>
              <a:t>•  Loose Coupling:</a:t>
            </a:r>
          </a:p>
          <a:p>
            <a:pPr>
              <a:spcAft>
                <a:spcPts val="1000"/>
              </a:spcAft>
            </a:pPr>
            <a:r>
              <a:rPr sz="1800" b="0">
                <a:solidFill>
                  <a:srgbClr val="161B26"/>
                </a:solidFill>
                <a:latin typeface="Arial"/>
              </a:rPr>
              <a:t>•  Monolith are applications that do more and more over time, become bigger</a:t>
            </a:r>
          </a:p>
          <a:p>
            <a:pPr>
              <a:spcAft>
                <a:spcPts val="1000"/>
              </a:spcAft>
            </a:pPr>
            <a:r>
              <a:rPr sz="1800" b="0">
                <a:solidFill>
                  <a:srgbClr val="161B26"/>
                </a:solidFill>
                <a:latin typeface="Arial"/>
              </a:rPr>
              <a:t>•  Break it down into smaller, loosely coupled components</a:t>
            </a:r>
          </a:p>
          <a:p>
            <a:pPr>
              <a:spcAft>
                <a:spcPts val="1000"/>
              </a:spcAft>
            </a:pPr>
            <a:r>
              <a:rPr sz="1800" b="0">
                <a:solidFill>
                  <a:srgbClr val="161B26"/>
                </a:solidFill>
                <a:latin typeface="Arial"/>
              </a:rPr>
              <a:t>•  A change or a failure in one component should not cascade to other components</a:t>
            </a:r>
          </a:p>
          <a:p>
            <a:pPr>
              <a:spcAft>
                <a:spcPts val="1000"/>
              </a:spcAft>
            </a:pPr>
            <a:r>
              <a:rPr sz="1800" b="0">
                <a:solidFill>
                  <a:srgbClr val="161B26"/>
                </a:solidFill>
                <a:latin typeface="Arial"/>
              </a:rPr>
              <a:t>•  Services, not Servers:</a:t>
            </a:r>
          </a:p>
          <a:p>
            <a:pPr>
              <a:spcAft>
                <a:spcPts val="1000"/>
              </a:spcAft>
            </a:pPr>
            <a:r>
              <a:rPr sz="1800" b="0">
                <a:solidFill>
                  <a:srgbClr val="161B26"/>
                </a:solidFill>
                <a:latin typeface="Arial"/>
              </a:rPr>
              <a:t>•  Don’t use just EC2</a:t>
            </a:r>
          </a:p>
          <a:p>
            <a:pPr>
              <a:spcAft>
                <a:spcPts val="1000"/>
              </a:spcAft>
            </a:pPr>
            <a:r>
              <a:rPr sz="1800" b="0">
                <a:solidFill>
                  <a:srgbClr val="161B26"/>
                </a:solidFill>
                <a:latin typeface="Arial"/>
              </a:rPr>
              <a:t>•  Use managed services, databases, serverless, etc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492</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Well Architected Framework 6 Pillars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Operational Excellence</a:t>
            </a:r>
          </a:p>
          <a:p>
            <a:pPr>
              <a:spcAft>
                <a:spcPts val="1000"/>
              </a:spcAft>
            </a:pPr>
            <a:r>
              <a:rPr sz="1800" b="0">
                <a:solidFill>
                  <a:srgbClr val="161B26"/>
                </a:solidFill>
                <a:latin typeface="Arial"/>
              </a:rPr>
              <a:t>•  Security</a:t>
            </a:r>
          </a:p>
          <a:p>
            <a:pPr>
              <a:spcAft>
                <a:spcPts val="1000"/>
              </a:spcAft>
            </a:pPr>
            <a:r>
              <a:rPr sz="1800" b="0">
                <a:solidFill>
                  <a:srgbClr val="161B26"/>
                </a:solidFill>
                <a:latin typeface="Arial"/>
              </a:rPr>
              <a:t>•  Reliability</a:t>
            </a:r>
          </a:p>
          <a:p>
            <a:pPr>
              <a:spcAft>
                <a:spcPts val="1000"/>
              </a:spcAft>
            </a:pPr>
            <a:r>
              <a:rPr sz="1800" b="0">
                <a:solidFill>
                  <a:srgbClr val="161B26"/>
                </a:solidFill>
                <a:latin typeface="Arial"/>
              </a:rPr>
              <a:t>•  Performance Efficiency</a:t>
            </a:r>
          </a:p>
          <a:p>
            <a:pPr>
              <a:spcAft>
                <a:spcPts val="1000"/>
              </a:spcAft>
            </a:pPr>
            <a:r>
              <a:rPr sz="1800" b="0">
                <a:solidFill>
                  <a:srgbClr val="161B26"/>
                </a:solidFill>
                <a:latin typeface="Arial"/>
              </a:rPr>
              <a:t>•  Cost Optimization</a:t>
            </a:r>
          </a:p>
          <a:p>
            <a:pPr>
              <a:spcAft>
                <a:spcPts val="1000"/>
              </a:spcAft>
            </a:pPr>
            <a:r>
              <a:rPr sz="1800" b="0">
                <a:solidFill>
                  <a:srgbClr val="161B26"/>
                </a:solidFill>
                <a:latin typeface="Arial"/>
              </a:rPr>
              <a:t>•  Sustainability</a:t>
            </a:r>
          </a:p>
          <a:p>
            <a:pPr>
              <a:spcAft>
                <a:spcPts val="1000"/>
              </a:spcAft>
            </a:pPr>
            <a:r>
              <a:rPr sz="1800" b="0">
                <a:solidFill>
                  <a:srgbClr val="161B26"/>
                </a:solidFill>
                <a:latin typeface="Arial"/>
              </a:rPr>
              <a:t>•  They are not something to balance, or trade-offs, they’re a synergy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493</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Operational Excellence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run and monitor systems to deliver business value and to continually improve supporting processes and procedures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Perform operations as code - Infrastructure as code</a:t>
            </a:r>
          </a:p>
          <a:p>
            <a:pPr>
              <a:spcAft>
                <a:spcPts val="1000"/>
              </a:spcAft>
            </a:pPr>
            <a:r>
              <a:rPr sz="1800" b="0">
                <a:solidFill>
                  <a:srgbClr val="161B26"/>
                </a:solidFill>
                <a:latin typeface="Arial"/>
              </a:rPr>
              <a:t>•  Make frequent, small, reversible changes - So that in case of any failure, you can reverse it</a:t>
            </a:r>
          </a:p>
          <a:p>
            <a:pPr>
              <a:spcAft>
                <a:spcPts val="1000"/>
              </a:spcAft>
            </a:pPr>
            <a:r>
              <a:rPr sz="1800" b="0">
                <a:solidFill>
                  <a:srgbClr val="161B26"/>
                </a:solidFill>
                <a:latin typeface="Arial"/>
              </a:rPr>
              <a:t>•  Refine operations procedures frequently - And ensure that team members are familiar with it</a:t>
            </a:r>
          </a:p>
          <a:p>
            <a:pPr>
              <a:spcAft>
                <a:spcPts val="1000"/>
              </a:spcAft>
            </a:pPr>
            <a:r>
              <a:rPr sz="1800" b="0">
                <a:solidFill>
                  <a:srgbClr val="161B26"/>
                </a:solidFill>
                <a:latin typeface="Arial"/>
              </a:rPr>
              <a:t>•  Anticipate failure</a:t>
            </a:r>
          </a:p>
          <a:p>
            <a:pPr>
              <a:spcAft>
                <a:spcPts val="1000"/>
              </a:spcAft>
            </a:pPr>
            <a:r>
              <a:rPr sz="1800" b="0">
                <a:solidFill>
                  <a:srgbClr val="161B26"/>
                </a:solidFill>
                <a:latin typeface="Arial"/>
              </a:rPr>
              <a:t>•  Learn from all operational failures</a:t>
            </a:r>
          </a:p>
          <a:p>
            <a:pPr>
              <a:spcAft>
                <a:spcPts val="1000"/>
              </a:spcAft>
            </a:pPr>
            <a:r>
              <a:rPr sz="1800" b="0">
                <a:solidFill>
                  <a:srgbClr val="161B26"/>
                </a:solidFill>
                <a:latin typeface="Arial"/>
              </a:rPr>
              <a:t>•  Use managed services - to reduce operational burden</a:t>
            </a:r>
          </a:p>
          <a:p>
            <a:pPr>
              <a:spcAft>
                <a:spcPts val="1000"/>
              </a:spcAft>
            </a:pPr>
            <a:r>
              <a:rPr sz="1800" b="0">
                <a:solidFill>
                  <a:srgbClr val="161B26"/>
                </a:solidFill>
                <a:latin typeface="Arial"/>
              </a:rPr>
              <a:t>•  Implement observability for actionable insights - performance, reliability, cost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494</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Operational Excellence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13567" y="1801368"/>
            <a:ext cx="973438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96_0.png"/>
          <p:cNvPicPr>
            <a:picLocks noChangeAspect="1"/>
          </p:cNvPicPr>
          <p:nvPr/>
        </p:nvPicPr>
        <p:blipFill>
          <a:blip r:embed="rId2"/>
          <a:stretch>
            <a:fillRect/>
          </a:stretch>
        </p:blipFill>
        <p:spPr>
          <a:xfrm>
            <a:off x="1240999" y="1828800"/>
            <a:ext cx="967952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495</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protect information, systems, and assets while delivering business value through risk assessments and mitigation strategies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Implement a strong identity foundation - Centralize privilege management and reduce (or even</a:t>
            </a:r>
          </a:p>
          <a:p>
            <a:pPr>
              <a:spcAft>
                <a:spcPts val="1000"/>
              </a:spcAft>
            </a:pPr>
            <a:r>
              <a:rPr sz="1800" b="0">
                <a:solidFill>
                  <a:srgbClr val="161B26"/>
                </a:solidFill>
                <a:latin typeface="Arial"/>
              </a:rPr>
              <a:t>•  eliminate) reliance on long-term credentials - Principle of least privilege - IAM</a:t>
            </a:r>
          </a:p>
          <a:p>
            <a:pPr>
              <a:spcAft>
                <a:spcPts val="1000"/>
              </a:spcAft>
            </a:pPr>
            <a:r>
              <a:rPr sz="1800" b="0">
                <a:solidFill>
                  <a:srgbClr val="161B26"/>
                </a:solidFill>
                <a:latin typeface="Arial"/>
              </a:rPr>
              <a:t>•  Enable traceability - Integrate logs and metrics with systems to automatically respond and take</a:t>
            </a:r>
          </a:p>
          <a:p>
            <a:pPr>
              <a:spcAft>
                <a:spcPts val="1000"/>
              </a:spcAft>
            </a:pPr>
            <a:r>
              <a:rPr sz="1800" b="0">
                <a:solidFill>
                  <a:srgbClr val="161B26"/>
                </a:solidFill>
                <a:latin typeface="Arial"/>
              </a:rPr>
              <a:t>•  action</a:t>
            </a:r>
          </a:p>
          <a:p>
            <a:pPr>
              <a:spcAft>
                <a:spcPts val="1000"/>
              </a:spcAft>
            </a:pPr>
            <a:r>
              <a:rPr sz="1800" b="0">
                <a:solidFill>
                  <a:srgbClr val="161B26"/>
                </a:solidFill>
                <a:latin typeface="Arial"/>
              </a:rPr>
              <a:t>•  Apply security at all layers - Like edge network, VPC, subnet, load balancer, every instance,</a:t>
            </a:r>
          </a:p>
          <a:p>
            <a:pPr>
              <a:spcAft>
                <a:spcPts val="1000"/>
              </a:spcAft>
            </a:pPr>
            <a:r>
              <a:rPr sz="1800" b="0">
                <a:solidFill>
                  <a:srgbClr val="161B26"/>
                </a:solidFill>
                <a:latin typeface="Arial"/>
              </a:rPr>
              <a:t>•  operating system, and application</a:t>
            </a:r>
          </a:p>
          <a:p>
            <a:pPr>
              <a:spcAft>
                <a:spcPts val="1000"/>
              </a:spcAft>
            </a:pPr>
            <a:r>
              <a:rPr sz="1800" b="0">
                <a:solidFill>
                  <a:srgbClr val="161B26"/>
                </a:solidFill>
                <a:latin typeface="Arial"/>
              </a:rPr>
              <a:t>•  Automate security best practices</a:t>
            </a:r>
          </a:p>
          <a:p>
            <a:pPr>
              <a:spcAft>
                <a:spcPts val="1000"/>
              </a:spcAft>
            </a:pPr>
            <a:r>
              <a:rPr sz="1800" b="0">
                <a:solidFill>
                  <a:srgbClr val="161B26"/>
                </a:solidFill>
                <a:latin typeface="Arial"/>
              </a:rPr>
              <a:t>•  Protect data in transit and at rest - Encryption, tokenization, and access control</a:t>
            </a:r>
          </a:p>
          <a:p>
            <a:pPr>
              <a:spcAft>
                <a:spcPts val="1000"/>
              </a:spcAft>
            </a:pPr>
            <a:r>
              <a:rPr sz="1800" b="0">
                <a:solidFill>
                  <a:srgbClr val="161B26"/>
                </a:solidFill>
                <a:latin typeface="Arial"/>
              </a:rPr>
              <a:t>•  Keep people away from data - Reduce or eliminate the need for direct access or manual</a:t>
            </a:r>
          </a:p>
          <a:p>
            <a:pPr>
              <a:spcAft>
                <a:spcPts val="1000"/>
              </a:spcAft>
            </a:pPr>
            <a:r>
              <a:rPr sz="1800" b="0">
                <a:solidFill>
                  <a:srgbClr val="161B26"/>
                </a:solidFill>
                <a:latin typeface="Arial"/>
              </a:rPr>
              <a:t>•  processing of data</a:t>
            </a:r>
          </a:p>
          <a:p>
            <a:pPr>
              <a:spcAft>
                <a:spcPts val="1000"/>
              </a:spcAft>
            </a:pPr>
            <a:r>
              <a:rPr sz="1800" b="0">
                <a:solidFill>
                  <a:srgbClr val="161B26"/>
                </a:solidFill>
                <a:latin typeface="Arial"/>
              </a:rPr>
              <a:t>•  Prepare for security events - Run incident response simulations and use tools with automation</a:t>
            </a:r>
          </a:p>
          <a:p>
            <a:pPr>
              <a:spcAft>
                <a:spcPts val="1000"/>
              </a:spcAft>
            </a:pPr>
            <a:r>
              <a:rPr sz="1800" b="0">
                <a:solidFill>
                  <a:srgbClr val="161B26"/>
                </a:solidFill>
                <a:latin typeface="Arial"/>
              </a:rPr>
              <a:t>•  to increase your speed for detection, investigation, and recovery</a:t>
            </a:r>
          </a:p>
          <a:p>
            <a:pPr>
              <a:spcAft>
                <a:spcPts val="1000"/>
              </a:spcAft>
            </a:pPr>
            <a:r>
              <a:rPr sz="1800" b="0">
                <a:solidFill>
                  <a:srgbClr val="161B26"/>
                </a:solidFill>
                <a:latin typeface="Arial"/>
              </a:rPr>
              <a:t>•  Shared Responsibility Model</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496</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Security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4492" y="1801368"/>
            <a:ext cx="1007253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498_0.png"/>
          <p:cNvPicPr>
            <a:picLocks noChangeAspect="1"/>
          </p:cNvPicPr>
          <p:nvPr/>
        </p:nvPicPr>
        <p:blipFill>
          <a:blip r:embed="rId2"/>
          <a:stretch>
            <a:fillRect/>
          </a:stretch>
        </p:blipFill>
        <p:spPr>
          <a:xfrm>
            <a:off x="1071924" y="1828800"/>
            <a:ext cx="1001767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497</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Reliability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Ability of a system to recover from infrastructure or service disruptions, dynamically acquire computing resources to meet demand, and mitigate disruptions such as misconfigurations or transient network issues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Test recovery procedures - Use automation to simulate different failures or to recreate scenarios that led to failures before</a:t>
            </a:r>
          </a:p>
          <a:p>
            <a:pPr>
              <a:spcAft>
                <a:spcPts val="1000"/>
              </a:spcAft>
            </a:pPr>
            <a:r>
              <a:rPr sz="1800" b="0">
                <a:solidFill>
                  <a:srgbClr val="161B26"/>
                </a:solidFill>
                <a:latin typeface="Arial"/>
              </a:rPr>
              <a:t>•  Automatically recover from failure - Anticipate and remediate failures before the occur</a:t>
            </a:r>
          </a:p>
          <a:p>
            <a:pPr>
              <a:spcAft>
                <a:spcPts val="1000"/>
              </a:spcAft>
            </a:pPr>
            <a:r>
              <a:rPr sz="1800" b="0">
                <a:solidFill>
                  <a:srgbClr val="161B26"/>
                </a:solidFill>
                <a:latin typeface="Arial"/>
              </a:rPr>
              <a:t>•  Scale horizontally to increase aggregate system availability - Distribute requests across multiple, smaller resources to ensure that they don't share a common point of failure</a:t>
            </a:r>
          </a:p>
          <a:p>
            <a:pPr>
              <a:spcAft>
                <a:spcPts val="1000"/>
              </a:spcAft>
            </a:pPr>
            <a:r>
              <a:rPr sz="1800" b="0">
                <a:solidFill>
                  <a:srgbClr val="161B26"/>
                </a:solidFill>
                <a:latin typeface="Arial"/>
              </a:rPr>
              <a:t>•  Stop guessing capacity - Maintain the optimal level to satisfy demand without over or under provisioning - Use Auto Scaling</a:t>
            </a:r>
          </a:p>
          <a:p>
            <a:pPr>
              <a:spcAft>
                <a:spcPts val="1000"/>
              </a:spcAft>
            </a:pPr>
            <a:r>
              <a:rPr sz="1800" b="0">
                <a:solidFill>
                  <a:srgbClr val="161B26"/>
                </a:solidFill>
                <a:latin typeface="Arial"/>
              </a:rPr>
              <a:t>•  Manage change in automation - Use automation to make changes to infrastructure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498</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Reliability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47892"/>
            <a:ext cx="10479024" cy="444237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0_0.png"/>
          <p:cNvPicPr>
            <a:picLocks noChangeAspect="1"/>
          </p:cNvPicPr>
          <p:nvPr/>
        </p:nvPicPr>
        <p:blipFill>
          <a:blip r:embed="rId2"/>
          <a:stretch>
            <a:fillRect/>
          </a:stretch>
        </p:blipFill>
        <p:spPr>
          <a:xfrm>
            <a:off x="868680" y="1875324"/>
            <a:ext cx="10424160" cy="438751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499</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Efficiency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use computing resources efficiently to meet system requirements, and to maintain that efficiency as demand changes and technologies evolve</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Democratize advanced technologies - Advance technologies become services and hence you can focus more on product development</a:t>
            </a:r>
          </a:p>
          <a:p>
            <a:pPr>
              <a:spcAft>
                <a:spcPts val="1000"/>
              </a:spcAft>
            </a:pPr>
            <a:r>
              <a:rPr sz="1800" b="0">
                <a:solidFill>
                  <a:srgbClr val="161B26"/>
                </a:solidFill>
                <a:latin typeface="Arial"/>
              </a:rPr>
              <a:t>•  Go global in minutes - Easy deployment in multiple regions</a:t>
            </a:r>
          </a:p>
          <a:p>
            <a:pPr>
              <a:spcAft>
                <a:spcPts val="1000"/>
              </a:spcAft>
            </a:pPr>
            <a:r>
              <a:rPr sz="1800" b="0">
                <a:solidFill>
                  <a:srgbClr val="161B26"/>
                </a:solidFill>
                <a:latin typeface="Arial"/>
              </a:rPr>
              <a:t>•  Use serverless architectures - Avoid burden of managing servers</a:t>
            </a:r>
          </a:p>
          <a:p>
            <a:pPr>
              <a:spcAft>
                <a:spcPts val="1000"/>
              </a:spcAft>
            </a:pPr>
            <a:r>
              <a:rPr sz="1800" b="0">
                <a:solidFill>
                  <a:srgbClr val="161B26"/>
                </a:solidFill>
                <a:latin typeface="Arial"/>
              </a:rPr>
              <a:t>•  Experiment more often - Easy to carry out comparative testing</a:t>
            </a:r>
          </a:p>
          <a:p>
            <a:pPr>
              <a:spcAft>
                <a:spcPts val="1000"/>
              </a:spcAft>
            </a:pPr>
            <a:r>
              <a:rPr sz="1800" b="0">
                <a:solidFill>
                  <a:srgbClr val="161B26"/>
                </a:solidFill>
                <a:latin typeface="Arial"/>
              </a:rPr>
              <a:t>•  Mechanical sympathy - Be aware of all AWS services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Performance Efficiency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8397" y="1801368"/>
            <a:ext cx="10284726"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2_0.png"/>
          <p:cNvPicPr>
            <a:picLocks noChangeAspect="1"/>
          </p:cNvPicPr>
          <p:nvPr/>
        </p:nvPicPr>
        <p:blipFill>
          <a:blip r:embed="rId2"/>
          <a:stretch>
            <a:fillRect/>
          </a:stretch>
        </p:blipFill>
        <p:spPr>
          <a:xfrm>
            <a:off x="965829" y="1828800"/>
            <a:ext cx="10229862"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501</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Optimization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Includes the ability to run systems to deliver business value at the lowest price point</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Adopt a consumption mode - Pay only for what you use</a:t>
            </a:r>
          </a:p>
          <a:p>
            <a:pPr>
              <a:spcAft>
                <a:spcPts val="1000"/>
              </a:spcAft>
            </a:pPr>
            <a:r>
              <a:rPr sz="1800" b="0">
                <a:solidFill>
                  <a:srgbClr val="161B26"/>
                </a:solidFill>
                <a:latin typeface="Arial"/>
              </a:rPr>
              <a:t>•  Measure overall efficiency - Use CloudWatch</a:t>
            </a:r>
          </a:p>
          <a:p>
            <a:pPr>
              <a:spcAft>
                <a:spcPts val="1000"/>
              </a:spcAft>
            </a:pPr>
            <a:r>
              <a:rPr sz="1800" b="0">
                <a:solidFill>
                  <a:srgbClr val="161B26"/>
                </a:solidFill>
                <a:latin typeface="Arial"/>
              </a:rPr>
              <a:t>•  Stop spending money on data center operations - AWS does the infrastructure part and enables customer to focus on organization projects</a:t>
            </a:r>
          </a:p>
          <a:p>
            <a:pPr>
              <a:spcAft>
                <a:spcPts val="1000"/>
              </a:spcAft>
            </a:pPr>
            <a:r>
              <a:rPr sz="1800" b="0">
                <a:solidFill>
                  <a:srgbClr val="161B26"/>
                </a:solidFill>
                <a:latin typeface="Arial"/>
              </a:rPr>
              <a:t>•  Analyze and attribute expenditure - Accurate identification of system usage and costs, helps measure return on investment (ROI) - Make sure to use tags</a:t>
            </a:r>
          </a:p>
          <a:p>
            <a:pPr>
              <a:spcAft>
                <a:spcPts val="1000"/>
              </a:spcAft>
            </a:pPr>
            <a:r>
              <a:rPr sz="1800" b="0">
                <a:solidFill>
                  <a:srgbClr val="161B26"/>
                </a:solidFill>
                <a:latin typeface="Arial"/>
              </a:rPr>
              <a:t>•  Use managed and application level services to reduce cost of ownership - As managed services operate at cloud scale, they can offer a lower cost per transaction or service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502</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Cost Optimization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37712"/>
            <a:ext cx="10479024" cy="4462736"/>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4_0.png"/>
          <p:cNvPicPr>
            <a:picLocks noChangeAspect="1"/>
          </p:cNvPicPr>
          <p:nvPr/>
        </p:nvPicPr>
        <p:blipFill>
          <a:blip r:embed="rId2"/>
          <a:stretch>
            <a:fillRect/>
          </a:stretch>
        </p:blipFill>
        <p:spPr>
          <a:xfrm>
            <a:off x="868680" y="1865144"/>
            <a:ext cx="10424160" cy="4407872"/>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503</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Sustainability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sustainability pillar focuses on minimizing the environmental impacts of running cloud workloads.</a:t>
            </a:r>
          </a:p>
          <a:p>
            <a:pPr>
              <a:spcAft>
                <a:spcPts val="1000"/>
              </a:spcAft>
            </a:pPr>
            <a:r>
              <a:rPr sz="1800" b="0">
                <a:solidFill>
                  <a:srgbClr val="161B26"/>
                </a:solidFill>
                <a:latin typeface="Arial"/>
              </a:rPr>
              <a:t>•  Design Principles</a:t>
            </a:r>
          </a:p>
          <a:p>
            <a:pPr>
              <a:spcAft>
                <a:spcPts val="1000"/>
              </a:spcAft>
            </a:pPr>
            <a:r>
              <a:rPr sz="1800" b="0">
                <a:solidFill>
                  <a:srgbClr val="161B26"/>
                </a:solidFill>
                <a:latin typeface="Arial"/>
              </a:rPr>
              <a:t>•  Understand your impact – establish performance indicators, evaluate improvements</a:t>
            </a:r>
          </a:p>
          <a:p>
            <a:pPr>
              <a:spcAft>
                <a:spcPts val="1000"/>
              </a:spcAft>
            </a:pPr>
            <a:r>
              <a:rPr sz="1800" b="0">
                <a:solidFill>
                  <a:srgbClr val="161B26"/>
                </a:solidFill>
                <a:latin typeface="Arial"/>
              </a:rPr>
              <a:t>•  Establish sustainability goals – Set long-term goals for each workload, model return on  investment (ROI)</a:t>
            </a:r>
          </a:p>
          <a:p>
            <a:pPr>
              <a:spcAft>
                <a:spcPts val="1000"/>
              </a:spcAft>
            </a:pPr>
            <a:r>
              <a:rPr sz="1800" b="0">
                <a:solidFill>
                  <a:srgbClr val="161B26"/>
                </a:solidFill>
                <a:latin typeface="Arial"/>
              </a:rPr>
              <a:t>•  Maximize utilization – Right size each workload to maximize the energy efficiency of the underlying hardware and minimize idle resources.</a:t>
            </a:r>
          </a:p>
          <a:p>
            <a:pPr>
              <a:spcAft>
                <a:spcPts val="1000"/>
              </a:spcAft>
            </a:pPr>
            <a:r>
              <a:rPr sz="1800" b="0">
                <a:solidFill>
                  <a:srgbClr val="161B26"/>
                </a:solidFill>
                <a:latin typeface="Arial"/>
              </a:rPr>
              <a:t>•  Anticipate and adopt new, more efficient hardware and software offerings – and design for flexibility to adopt new technologies over time.</a:t>
            </a:r>
          </a:p>
          <a:p>
            <a:pPr>
              <a:spcAft>
                <a:spcPts val="1000"/>
              </a:spcAft>
            </a:pPr>
            <a:r>
              <a:rPr sz="1800" b="0">
                <a:solidFill>
                  <a:srgbClr val="161B26"/>
                </a:solidFill>
                <a:latin typeface="Arial"/>
              </a:rPr>
              <a:t>•  Use managed services – Shared services reduce the amount of infrastructure; Managed services help automate sustainability best practices as moving infrequent accessed data to cold storage and adjusting compute capacity.</a:t>
            </a:r>
          </a:p>
          <a:p>
            <a:pPr>
              <a:spcAft>
                <a:spcPts val="1000"/>
              </a:spcAft>
            </a:pPr>
            <a:r>
              <a:rPr sz="1800" b="0">
                <a:solidFill>
                  <a:srgbClr val="161B26"/>
                </a:solidFill>
                <a:latin typeface="Arial"/>
              </a:rPr>
              <a:t>•  Reduce the downstream impact of your cloud workloads – Reduce the amount of energy or resources required to use your services and reduce the need for your customers to upgrade their devices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504</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Sustainability AWS Services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987615" y="1801368"/>
            <a:ext cx="418628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6_0.png"/>
          <p:cNvPicPr>
            <a:picLocks noChangeAspect="1"/>
          </p:cNvPicPr>
          <p:nvPr/>
        </p:nvPicPr>
        <p:blipFill>
          <a:blip r:embed="rId2"/>
          <a:stretch>
            <a:fillRect/>
          </a:stretch>
        </p:blipFill>
        <p:spPr>
          <a:xfrm>
            <a:off x="4015047" y="1828800"/>
            <a:ext cx="413142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505</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Well-Architected Tool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467557" y="1801368"/>
            <a:ext cx="9226406"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7_0.png"/>
          <p:cNvPicPr>
            <a:picLocks noChangeAspect="1"/>
          </p:cNvPicPr>
          <p:nvPr/>
        </p:nvPicPr>
        <p:blipFill>
          <a:blip r:embed="rId2"/>
          <a:stretch>
            <a:fillRect/>
          </a:stretch>
        </p:blipFill>
        <p:spPr>
          <a:xfrm>
            <a:off x="1494989" y="1828800"/>
            <a:ext cx="9171542"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Free tool to review your architectures against the 6 pillars Well-Architected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506</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Cloud Adoption Framework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18191" y="1801368"/>
            <a:ext cx="3125137"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08_0.png"/>
          <p:cNvPicPr>
            <a:picLocks noChangeAspect="1"/>
          </p:cNvPicPr>
          <p:nvPr/>
        </p:nvPicPr>
        <p:blipFill>
          <a:blip r:embed="rId2"/>
          <a:stretch>
            <a:fillRect/>
          </a:stretch>
        </p:blipFill>
        <p:spPr>
          <a:xfrm>
            <a:off x="4545623" y="1828800"/>
            <a:ext cx="3070273"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Helps you build and then execute a comprehensive plan for your digital transformation through innovative use of AWS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507</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Business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Business Perspective helps ensure that your cloud investments</a:t>
            </a:r>
          </a:p>
          <a:p>
            <a:pPr>
              <a:spcAft>
                <a:spcPts val="1000"/>
              </a:spcAft>
            </a:pPr>
            <a:r>
              <a:rPr sz="1800" b="0">
                <a:solidFill>
                  <a:srgbClr val="161B26"/>
                </a:solidFill>
                <a:latin typeface="Arial"/>
              </a:rPr>
              <a:t>•  accelerate your digital transformation ambitions and business outcomes.</a:t>
            </a:r>
          </a:p>
          <a:p>
            <a:pPr>
              <a:spcAft>
                <a:spcPts val="1000"/>
              </a:spcAft>
            </a:pPr>
            <a:r>
              <a:rPr sz="1800" b="0">
                <a:solidFill>
                  <a:srgbClr val="161B26"/>
                </a:solidFill>
                <a:latin typeface="Arial"/>
              </a:rPr>
              <a:t>•  People Perspective serves as a bridge between technology and</a:t>
            </a:r>
          </a:p>
          <a:p>
            <a:pPr>
              <a:spcAft>
                <a:spcPts val="1000"/>
              </a:spcAft>
            </a:pPr>
            <a:r>
              <a:rPr sz="1800" b="0">
                <a:solidFill>
                  <a:srgbClr val="161B26"/>
                </a:solidFill>
                <a:latin typeface="Arial"/>
              </a:rPr>
              <a:t>•  business, accelerating the cloud journey to help organizations more</a:t>
            </a:r>
          </a:p>
          <a:p>
            <a:pPr>
              <a:spcAft>
                <a:spcPts val="1000"/>
              </a:spcAft>
            </a:pPr>
            <a:r>
              <a:rPr sz="1800" b="0">
                <a:solidFill>
                  <a:srgbClr val="161B26"/>
                </a:solidFill>
                <a:latin typeface="Arial"/>
              </a:rPr>
              <a:t>•  rapidly evolve to a culture of continuous growth, learning, and where change becomes business-as-normal, with focus on culture,</a:t>
            </a:r>
          </a:p>
          <a:p>
            <a:pPr>
              <a:spcAft>
                <a:spcPts val="1000"/>
              </a:spcAft>
            </a:pPr>
            <a:r>
              <a:rPr sz="1800" b="0">
                <a:solidFill>
                  <a:srgbClr val="161B26"/>
                </a:solidFill>
                <a:latin typeface="Arial"/>
              </a:rPr>
              <a:t>•  organizational structure, leadership, and workforce.</a:t>
            </a:r>
          </a:p>
          <a:p>
            <a:pPr>
              <a:spcAft>
                <a:spcPts val="1000"/>
              </a:spcAft>
            </a:pPr>
            <a:r>
              <a:rPr sz="1800" b="0">
                <a:solidFill>
                  <a:srgbClr val="161B26"/>
                </a:solidFill>
                <a:latin typeface="Arial"/>
              </a:rPr>
              <a:t>•  Governance Perspective helps you orchestrate your cloud initiatives</a:t>
            </a:r>
          </a:p>
          <a:p>
            <a:pPr>
              <a:spcAft>
                <a:spcPts val="1000"/>
              </a:spcAft>
            </a:pPr>
            <a:r>
              <a:rPr sz="1800" b="0">
                <a:solidFill>
                  <a:srgbClr val="161B26"/>
                </a:solidFill>
                <a:latin typeface="Arial"/>
              </a:rPr>
              <a:t>•  while maximizing organizational benefits and minimizing transformation related risks.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508</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Business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9905" y="1801368"/>
            <a:ext cx="8721709"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0_0.png"/>
          <p:cNvPicPr>
            <a:picLocks noChangeAspect="1"/>
          </p:cNvPicPr>
          <p:nvPr/>
        </p:nvPicPr>
        <p:blipFill>
          <a:blip r:embed="rId2"/>
          <a:stretch>
            <a:fillRect/>
          </a:stretch>
        </p:blipFill>
        <p:spPr>
          <a:xfrm>
            <a:off x="1747337" y="1828800"/>
            <a:ext cx="8666845"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509</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CAF Perspectives and Foundational Capabilities Technical Capabilities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Platform Perspective helps you build an enterprise-grade, scalable, hybrid cloud platform; modernize existing workloads; and implement new cloud-native solutions.</a:t>
            </a:r>
          </a:p>
          <a:p>
            <a:pPr>
              <a:spcAft>
                <a:spcPts val="1000"/>
              </a:spcAft>
            </a:pPr>
            <a:r>
              <a:rPr sz="2000" b="0">
                <a:solidFill>
                  <a:srgbClr val="161B26"/>
                </a:solidFill>
                <a:latin typeface="Arial"/>
              </a:rPr>
              <a:t>•  Security Perspective helps you achieve the confidentiality, integrity, and availability of your data and cloud workloads.</a:t>
            </a:r>
          </a:p>
          <a:p>
            <a:pPr>
              <a:spcAft>
                <a:spcPts val="1000"/>
              </a:spcAft>
            </a:pPr>
            <a:r>
              <a:rPr sz="2000" b="0">
                <a:solidFill>
                  <a:srgbClr val="161B26"/>
                </a:solidFill>
                <a:latin typeface="Arial"/>
              </a:rPr>
              <a:t>•  Operations Perspective helps ensure that your cloud services are delivered at a level that meets the needs of your business.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CAF Perspectives and Foundational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6683" y="1801368"/>
            <a:ext cx="5748153"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2_0.png"/>
          <p:cNvPicPr>
            <a:picLocks noChangeAspect="1"/>
          </p:cNvPicPr>
          <p:nvPr/>
        </p:nvPicPr>
        <p:blipFill>
          <a:blip r:embed="rId2"/>
          <a:stretch>
            <a:fillRect/>
          </a:stretch>
        </p:blipFill>
        <p:spPr>
          <a:xfrm>
            <a:off x="3234115" y="1828800"/>
            <a:ext cx="5693289"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Technical Capabilities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511</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Cloud transformation value chain</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92127" y="1801368"/>
            <a:ext cx="8377265"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3_0.png"/>
          <p:cNvPicPr>
            <a:picLocks noChangeAspect="1"/>
          </p:cNvPicPr>
          <p:nvPr/>
        </p:nvPicPr>
        <p:blipFill>
          <a:blip r:embed="rId2"/>
          <a:stretch>
            <a:fillRect/>
          </a:stretch>
        </p:blipFill>
        <p:spPr>
          <a:xfrm>
            <a:off x="1919559" y="1828800"/>
            <a:ext cx="8322401"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512</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CAF – Transformation Domains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Technology - using the cloud to migrate and modernize legacy infrastructure, applications, data and analytics platforms…</a:t>
            </a:r>
          </a:p>
          <a:p>
            <a:pPr>
              <a:spcAft>
                <a:spcPts val="1000"/>
              </a:spcAft>
            </a:pPr>
            <a:r>
              <a:rPr sz="2000" b="0">
                <a:solidFill>
                  <a:srgbClr val="161B26"/>
                </a:solidFill>
                <a:latin typeface="Arial"/>
              </a:rPr>
              <a:t>•  Process - digitizing, automating, and optimizing your business operations leveraging new data and analytics platforms to create actionable insights using machine learning (ML) to improve your customer service experience…</a:t>
            </a:r>
          </a:p>
          <a:p>
            <a:pPr>
              <a:spcAft>
                <a:spcPts val="1000"/>
              </a:spcAft>
            </a:pPr>
            <a:r>
              <a:rPr sz="2000" b="0">
                <a:solidFill>
                  <a:srgbClr val="161B26"/>
                </a:solidFill>
                <a:latin typeface="Arial"/>
              </a:rPr>
              <a:t>•  Organization - Reimagining your operating model</a:t>
            </a:r>
          </a:p>
          <a:p>
            <a:pPr>
              <a:spcAft>
                <a:spcPts val="1000"/>
              </a:spcAft>
            </a:pPr>
            <a:r>
              <a:rPr sz="2000" b="0">
                <a:solidFill>
                  <a:srgbClr val="161B26"/>
                </a:solidFill>
                <a:latin typeface="Arial"/>
              </a:rPr>
              <a:t>•  Organizing your teams around products and value streams</a:t>
            </a:r>
          </a:p>
          <a:p>
            <a:pPr>
              <a:spcAft>
                <a:spcPts val="1000"/>
              </a:spcAft>
            </a:pPr>
            <a:r>
              <a:rPr sz="2000" b="0">
                <a:solidFill>
                  <a:srgbClr val="161B26"/>
                </a:solidFill>
                <a:latin typeface="Arial"/>
              </a:rPr>
              <a:t>•  Leveraging agile methods to rapidly iterate and evolve</a:t>
            </a:r>
          </a:p>
          <a:p>
            <a:pPr>
              <a:spcAft>
                <a:spcPts val="1000"/>
              </a:spcAft>
            </a:pPr>
            <a:r>
              <a:rPr sz="2000" b="0">
                <a:solidFill>
                  <a:srgbClr val="161B26"/>
                </a:solidFill>
                <a:latin typeface="Arial"/>
              </a:rPr>
              <a:t>•  Product – reimagining your business model by creating new value propositions (products &amp; services) and revenue models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513</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CAF – Transformation Phases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Envision – demonstrate how the Cloud will accelerate business outcomes by identifying transformation opportunities and create a</a:t>
            </a:r>
          </a:p>
          <a:p>
            <a:pPr>
              <a:spcAft>
                <a:spcPts val="1000"/>
              </a:spcAft>
            </a:pPr>
            <a:r>
              <a:rPr sz="2000" b="0">
                <a:solidFill>
                  <a:srgbClr val="161B26"/>
                </a:solidFill>
                <a:latin typeface="Arial"/>
              </a:rPr>
              <a:t>•  foundation for your digital transformation</a:t>
            </a:r>
          </a:p>
          <a:p>
            <a:pPr>
              <a:spcAft>
                <a:spcPts val="1000"/>
              </a:spcAft>
            </a:pPr>
            <a:r>
              <a:rPr sz="2000" b="0">
                <a:solidFill>
                  <a:srgbClr val="161B26"/>
                </a:solidFill>
                <a:latin typeface="Arial"/>
              </a:rPr>
              <a:t>•  Align – identify capability gaps across the 6 AWS CAF Perspectives which results in an Action Plan</a:t>
            </a:r>
          </a:p>
          <a:p>
            <a:pPr>
              <a:spcAft>
                <a:spcPts val="1000"/>
              </a:spcAft>
            </a:pPr>
            <a:r>
              <a:rPr sz="2000" b="0">
                <a:solidFill>
                  <a:srgbClr val="161B26"/>
                </a:solidFill>
                <a:latin typeface="Arial"/>
              </a:rPr>
              <a:t>•  Launch – build and deliver pilot initiatives in production and  demonstrate incremental business value</a:t>
            </a:r>
          </a:p>
          <a:p>
            <a:pPr>
              <a:spcAft>
                <a:spcPts val="1000"/>
              </a:spcAft>
            </a:pPr>
            <a:r>
              <a:rPr sz="2000" b="0">
                <a:solidFill>
                  <a:srgbClr val="161B26"/>
                </a:solidFill>
                <a:latin typeface="Arial"/>
              </a:rPr>
              <a:t>•  Scale – expand pilot initiatives to the desired scale while realizing th desired business benefits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514</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Right Sizings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EC2 has many instance types, but choosing the most powerful instance type isn’t the best choice, because the cloud is elastic</a:t>
            </a:r>
          </a:p>
          <a:p>
            <a:pPr>
              <a:spcAft>
                <a:spcPts val="1000"/>
              </a:spcAft>
            </a:pPr>
            <a:r>
              <a:rPr sz="1800" b="0">
                <a:solidFill>
                  <a:srgbClr val="161B26"/>
                </a:solidFill>
                <a:latin typeface="Arial"/>
              </a:rPr>
              <a:t>•  Right sizing is the process of matching instance types and sizes to your workload performance and capacity requirements at the lowest possible cost</a:t>
            </a:r>
          </a:p>
          <a:p>
            <a:pPr>
              <a:spcAft>
                <a:spcPts val="1000"/>
              </a:spcAft>
            </a:pPr>
            <a:r>
              <a:rPr sz="1800" b="0">
                <a:solidFill>
                  <a:srgbClr val="161B26"/>
                </a:solidFill>
                <a:latin typeface="Arial"/>
              </a:rPr>
              <a:t>•  Scaling up is easy so always start small</a:t>
            </a:r>
          </a:p>
          <a:p>
            <a:pPr>
              <a:spcAft>
                <a:spcPts val="1000"/>
              </a:spcAft>
            </a:pPr>
            <a:r>
              <a:rPr sz="1800" b="0">
                <a:solidFill>
                  <a:srgbClr val="161B26"/>
                </a:solidFill>
                <a:latin typeface="Arial"/>
              </a:rPr>
              <a:t>•  It’s also the process of looking at deployed instances and identifying opportunities to eliminate or downsize without compromising capacity or other requirements, which results in lower costs</a:t>
            </a:r>
          </a:p>
          <a:p>
            <a:pPr>
              <a:spcAft>
                <a:spcPts val="1000"/>
              </a:spcAft>
            </a:pPr>
            <a:r>
              <a:rPr sz="1800" b="0">
                <a:solidFill>
                  <a:srgbClr val="161B26"/>
                </a:solidFill>
                <a:latin typeface="Arial"/>
              </a:rPr>
              <a:t>•  It’s important to Right Size…</a:t>
            </a:r>
          </a:p>
          <a:p>
            <a:pPr>
              <a:spcAft>
                <a:spcPts val="1000"/>
              </a:spcAft>
            </a:pPr>
            <a:r>
              <a:rPr sz="1800" b="0">
                <a:solidFill>
                  <a:srgbClr val="161B26"/>
                </a:solidFill>
                <a:latin typeface="Arial"/>
              </a:rPr>
              <a:t>•  before a Cloud Migration</a:t>
            </a:r>
          </a:p>
          <a:p>
            <a:pPr>
              <a:spcAft>
                <a:spcPts val="1000"/>
              </a:spcAft>
            </a:pPr>
            <a:r>
              <a:rPr sz="1800" b="0">
                <a:solidFill>
                  <a:srgbClr val="161B26"/>
                </a:solidFill>
                <a:latin typeface="Arial"/>
              </a:rPr>
              <a:t>•  continuously after the cloud onboarding process (requirements change over time)</a:t>
            </a:r>
          </a:p>
          <a:p>
            <a:pPr>
              <a:spcAft>
                <a:spcPts val="1000"/>
              </a:spcAft>
            </a:pPr>
            <a:r>
              <a:rPr sz="1800" b="0">
                <a:solidFill>
                  <a:srgbClr val="161B26"/>
                </a:solidFill>
                <a:latin typeface="Arial"/>
              </a:rPr>
              <a:t>•  CloudWatch, Cost Explorer, Trusted Advisor, 3rd party tools can help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515</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Ecosystem – Free resources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AWS Blogs: https://aws.amazon.com/blogs/aws/</a:t>
            </a:r>
          </a:p>
          <a:p>
            <a:pPr>
              <a:spcAft>
                <a:spcPts val="1000"/>
              </a:spcAft>
            </a:pPr>
            <a:r>
              <a:rPr sz="1800" b="0">
                <a:solidFill>
                  <a:srgbClr val="161B26"/>
                </a:solidFill>
                <a:latin typeface="Arial"/>
              </a:rPr>
              <a:t>•  AWS Forums (community): https://forums.aws.amazon.com/index.jspa</a:t>
            </a:r>
          </a:p>
          <a:p>
            <a:pPr>
              <a:spcAft>
                <a:spcPts val="1000"/>
              </a:spcAft>
            </a:pPr>
            <a:r>
              <a:rPr sz="1800" b="0">
                <a:solidFill>
                  <a:srgbClr val="161B26"/>
                </a:solidFill>
                <a:latin typeface="Arial"/>
              </a:rPr>
              <a:t>•  AWS Whitepapers &amp; Guides: https://aws.amazon.com/whitepapers</a:t>
            </a:r>
          </a:p>
          <a:p>
            <a:pPr>
              <a:spcAft>
                <a:spcPts val="1000"/>
              </a:spcAft>
            </a:pPr>
            <a:r>
              <a:rPr sz="1800" b="0">
                <a:solidFill>
                  <a:srgbClr val="161B26"/>
                </a:solidFill>
                <a:latin typeface="Arial"/>
              </a:rPr>
              <a:t>•  AWS Partner Solutions (formerly Quick Starts):</a:t>
            </a:r>
          </a:p>
          <a:p>
            <a:pPr>
              <a:spcAft>
                <a:spcPts val="1000"/>
              </a:spcAft>
            </a:pPr>
            <a:r>
              <a:rPr sz="1800" b="0">
                <a:solidFill>
                  <a:srgbClr val="161B26"/>
                </a:solidFill>
                <a:latin typeface="Arial"/>
              </a:rPr>
              <a:t>•  https://aws.amazon.com/quickstart/</a:t>
            </a:r>
          </a:p>
          <a:p>
            <a:pPr>
              <a:spcAft>
                <a:spcPts val="1000"/>
              </a:spcAft>
            </a:pPr>
            <a:r>
              <a:rPr sz="1800" b="0">
                <a:solidFill>
                  <a:srgbClr val="161B26"/>
                </a:solidFill>
                <a:latin typeface="Arial"/>
              </a:rPr>
              <a:t>•  Automated, gold-standard deployments in the AWS Cloud</a:t>
            </a:r>
          </a:p>
          <a:p>
            <a:pPr>
              <a:spcAft>
                <a:spcPts val="1000"/>
              </a:spcAft>
            </a:pPr>
            <a:r>
              <a:rPr sz="1800" b="0">
                <a:solidFill>
                  <a:srgbClr val="161B26"/>
                </a:solidFill>
                <a:latin typeface="Arial"/>
              </a:rPr>
              <a:t>•  Build your production environment quickly with templates</a:t>
            </a:r>
          </a:p>
          <a:p>
            <a:pPr>
              <a:spcAft>
                <a:spcPts val="1000"/>
              </a:spcAft>
            </a:pPr>
            <a:r>
              <a:rPr sz="1800" b="0">
                <a:solidFill>
                  <a:srgbClr val="161B26"/>
                </a:solidFill>
                <a:latin typeface="Arial"/>
              </a:rPr>
              <a:t>•  Example: WordPress on AWS https://fwd.aws/P3yyv?did=qs_card&amp;trk=qs_card</a:t>
            </a:r>
          </a:p>
          <a:p>
            <a:pPr>
              <a:spcAft>
                <a:spcPts val="1000"/>
              </a:spcAft>
            </a:pPr>
            <a:r>
              <a:rPr sz="1800" b="0">
                <a:solidFill>
                  <a:srgbClr val="161B26"/>
                </a:solidFill>
                <a:latin typeface="Arial"/>
              </a:rPr>
              <a:t>•  Leverages CloudFormation</a:t>
            </a:r>
          </a:p>
          <a:p>
            <a:pPr>
              <a:spcAft>
                <a:spcPts val="1000"/>
              </a:spcAft>
            </a:pPr>
            <a:r>
              <a:rPr sz="1800" b="0">
                <a:solidFill>
                  <a:srgbClr val="161B26"/>
                </a:solidFill>
                <a:latin typeface="Arial"/>
              </a:rPr>
              <a:t>•  AWS Solutions: https://aws.amazon.com/solutions/</a:t>
            </a:r>
          </a:p>
          <a:p>
            <a:pPr>
              <a:spcAft>
                <a:spcPts val="1000"/>
              </a:spcAft>
            </a:pPr>
            <a:r>
              <a:rPr sz="1800" b="0">
                <a:solidFill>
                  <a:srgbClr val="161B26"/>
                </a:solidFill>
                <a:latin typeface="Arial"/>
              </a:rPr>
              <a:t>•  Vetted Technology Solutions for the AWS Cloud</a:t>
            </a:r>
          </a:p>
          <a:p>
            <a:pPr>
              <a:spcAft>
                <a:spcPts val="1000"/>
              </a:spcAft>
            </a:pPr>
            <a:r>
              <a:rPr sz="1800" b="0">
                <a:solidFill>
                  <a:srgbClr val="161B26"/>
                </a:solidFill>
                <a:latin typeface="Arial"/>
              </a:rPr>
              <a:t>•  Example - AWS Landing Zone: secure, multi-account AWS environment https://aws.amazon.com/solutions/implementations/aws-landing-zone/</a:t>
            </a:r>
          </a:p>
          <a:p>
            <a:pPr>
              <a:spcAft>
                <a:spcPts val="1000"/>
              </a:spcAft>
            </a:pPr>
            <a:r>
              <a:rPr sz="1800" b="0">
                <a:solidFill>
                  <a:srgbClr val="161B26"/>
                </a:solidFill>
                <a:latin typeface="Arial"/>
              </a:rPr>
              <a:t>•  “Replaced” by AWS Control Tower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516</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Ecosystem - AWS Support</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34420"/>
            <a:ext cx="10479024" cy="426931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18_0.png"/>
          <p:cNvPicPr>
            <a:picLocks noChangeAspect="1"/>
          </p:cNvPicPr>
          <p:nvPr/>
        </p:nvPicPr>
        <p:blipFill>
          <a:blip r:embed="rId2"/>
          <a:stretch>
            <a:fillRect/>
          </a:stretch>
        </p:blipFill>
        <p:spPr>
          <a:xfrm>
            <a:off x="868680" y="1961852"/>
            <a:ext cx="10424160" cy="421445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517</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Marketplace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Digital catalog with thousands of software listings from independent software vendors (3rd party)</a:t>
            </a:r>
          </a:p>
          <a:p>
            <a:pPr>
              <a:spcAft>
                <a:spcPts val="1000"/>
              </a:spcAft>
            </a:pPr>
            <a:r>
              <a:rPr sz="1800" b="0">
                <a:solidFill>
                  <a:srgbClr val="161B26"/>
                </a:solidFill>
                <a:latin typeface="Arial"/>
              </a:rPr>
              <a:t>•  Example:</a:t>
            </a:r>
          </a:p>
          <a:p>
            <a:pPr>
              <a:spcAft>
                <a:spcPts val="1000"/>
              </a:spcAft>
            </a:pPr>
            <a:r>
              <a:rPr sz="1800" b="0">
                <a:solidFill>
                  <a:srgbClr val="161B26"/>
                </a:solidFill>
                <a:latin typeface="Arial"/>
              </a:rPr>
              <a:t>•  Custom AMI (custom OS, firewalls, technical solutions…)</a:t>
            </a:r>
          </a:p>
          <a:p>
            <a:pPr>
              <a:spcAft>
                <a:spcPts val="1000"/>
              </a:spcAft>
            </a:pPr>
            <a:r>
              <a:rPr sz="1800" b="0">
                <a:solidFill>
                  <a:srgbClr val="161B26"/>
                </a:solidFill>
                <a:latin typeface="Arial"/>
              </a:rPr>
              <a:t>•  CloudFormation templates</a:t>
            </a:r>
          </a:p>
          <a:p>
            <a:pPr>
              <a:spcAft>
                <a:spcPts val="1000"/>
              </a:spcAft>
            </a:pPr>
            <a:r>
              <a:rPr sz="1800" b="0">
                <a:solidFill>
                  <a:srgbClr val="161B26"/>
                </a:solidFill>
                <a:latin typeface="Arial"/>
              </a:rPr>
              <a:t>•  Software as a Service</a:t>
            </a:r>
          </a:p>
          <a:p>
            <a:pPr>
              <a:spcAft>
                <a:spcPts val="1000"/>
              </a:spcAft>
            </a:pPr>
            <a:r>
              <a:rPr sz="1800" b="0">
                <a:solidFill>
                  <a:srgbClr val="161B26"/>
                </a:solidFill>
                <a:latin typeface="Arial"/>
              </a:rPr>
              <a:t>•  Containers</a:t>
            </a:r>
          </a:p>
          <a:p>
            <a:pPr>
              <a:spcAft>
                <a:spcPts val="1000"/>
              </a:spcAft>
            </a:pPr>
            <a:r>
              <a:rPr sz="1800" b="0">
                <a:solidFill>
                  <a:srgbClr val="161B26"/>
                </a:solidFill>
                <a:latin typeface="Arial"/>
              </a:rPr>
              <a:t>•  If you buy through the AWS Marketplace, it goes into your AWS bill</a:t>
            </a:r>
          </a:p>
          <a:p>
            <a:pPr>
              <a:spcAft>
                <a:spcPts val="1000"/>
              </a:spcAft>
            </a:pPr>
            <a:r>
              <a:rPr sz="1800" b="0">
                <a:solidFill>
                  <a:srgbClr val="161B26"/>
                </a:solidFill>
                <a:latin typeface="Arial"/>
              </a:rPr>
              <a:t>•  You can sell your own solutions on the AWS Marketplace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518</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Professional Services &amp; Partner Network</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800" b="0">
                <a:solidFill>
                  <a:srgbClr val="161B26"/>
                </a:solidFill>
                <a:latin typeface="Arial"/>
              </a:rPr>
              <a:t>•  The AWS Professional Services organization is a global team of experts</a:t>
            </a:r>
          </a:p>
          <a:p>
            <a:pPr>
              <a:spcAft>
                <a:spcPts val="1000"/>
              </a:spcAft>
            </a:pPr>
            <a:r>
              <a:rPr sz="1800" b="0">
                <a:solidFill>
                  <a:srgbClr val="161B26"/>
                </a:solidFill>
                <a:latin typeface="Arial"/>
              </a:rPr>
              <a:t>•  They work alongside your team and a chosen member of the APN</a:t>
            </a:r>
          </a:p>
          <a:p>
            <a:pPr>
              <a:spcAft>
                <a:spcPts val="1000"/>
              </a:spcAft>
            </a:pPr>
            <a:r>
              <a:rPr sz="1800" b="0">
                <a:solidFill>
                  <a:srgbClr val="161B26"/>
                </a:solidFill>
                <a:latin typeface="Arial"/>
              </a:rPr>
              <a:t>•  APN = AWS Partner Network</a:t>
            </a:r>
          </a:p>
          <a:p>
            <a:pPr>
              <a:spcAft>
                <a:spcPts val="1000"/>
              </a:spcAft>
            </a:pPr>
            <a:r>
              <a:rPr sz="1800" b="0">
                <a:solidFill>
                  <a:srgbClr val="161B26"/>
                </a:solidFill>
                <a:latin typeface="Arial"/>
              </a:rPr>
              <a:t>•  APN Technology Partners: providing hardware, connectivity, and software</a:t>
            </a:r>
          </a:p>
          <a:p>
            <a:pPr>
              <a:spcAft>
                <a:spcPts val="1000"/>
              </a:spcAft>
            </a:pPr>
            <a:r>
              <a:rPr sz="1800" b="0">
                <a:solidFill>
                  <a:srgbClr val="161B26"/>
                </a:solidFill>
                <a:latin typeface="Arial"/>
              </a:rPr>
              <a:t>•  APN Consulting Partners: professional services firm to help build on AWS</a:t>
            </a:r>
          </a:p>
          <a:p>
            <a:pPr>
              <a:spcAft>
                <a:spcPts val="1000"/>
              </a:spcAft>
            </a:pPr>
            <a:r>
              <a:rPr sz="1800" b="0">
                <a:solidFill>
                  <a:srgbClr val="161B26"/>
                </a:solidFill>
                <a:latin typeface="Arial"/>
              </a:rPr>
              <a:t>•  APN Training Partners: find who can help you learn AWS</a:t>
            </a:r>
          </a:p>
          <a:p>
            <a:pPr>
              <a:spcAft>
                <a:spcPts val="1000"/>
              </a:spcAft>
            </a:pPr>
            <a:r>
              <a:rPr sz="1800" b="0">
                <a:solidFill>
                  <a:srgbClr val="161B26"/>
                </a:solidFill>
                <a:latin typeface="Arial"/>
              </a:rPr>
              <a:t>•  AWS Competency Program: AWS Competencies are granted to APN</a:t>
            </a:r>
          </a:p>
          <a:p>
            <a:pPr>
              <a:spcAft>
                <a:spcPts val="1000"/>
              </a:spcAft>
            </a:pPr>
            <a:r>
              <a:rPr sz="1800" b="0">
                <a:solidFill>
                  <a:srgbClr val="161B26"/>
                </a:solidFill>
                <a:latin typeface="Arial"/>
              </a:rPr>
              <a:t>•  Partners who have demonstrated technical proficiency and proven</a:t>
            </a:r>
          </a:p>
          <a:p>
            <a:pPr>
              <a:spcAft>
                <a:spcPts val="1000"/>
              </a:spcAft>
            </a:pPr>
            <a:r>
              <a:rPr sz="1800" b="0">
                <a:solidFill>
                  <a:srgbClr val="161B26"/>
                </a:solidFill>
                <a:latin typeface="Arial"/>
              </a:rPr>
              <a:t>•  customer success in specialized solution areas.</a:t>
            </a:r>
          </a:p>
          <a:p>
            <a:pPr>
              <a:spcAft>
                <a:spcPts val="1000"/>
              </a:spcAft>
            </a:pPr>
            <a:r>
              <a:rPr sz="1800" b="0">
                <a:solidFill>
                  <a:srgbClr val="161B26"/>
                </a:solidFill>
                <a:latin typeface="Arial"/>
              </a:rPr>
              <a:t>•  AWS Navigate Program: help Partners become better Partners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519</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Knowledge Center</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22959" y="1801368"/>
            <a:ext cx="10115602"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1_0.png"/>
          <p:cNvPicPr>
            <a:picLocks noChangeAspect="1"/>
          </p:cNvPicPr>
          <p:nvPr/>
        </p:nvPicPr>
        <p:blipFill>
          <a:blip r:embed="rId2"/>
          <a:stretch>
            <a:fillRect/>
          </a:stretch>
        </p:blipFill>
        <p:spPr>
          <a:xfrm>
            <a:off x="1050391" y="1828800"/>
            <a:ext cx="10060738"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https://repost.aws/knowledge-center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Marketplace categories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584" y="1801368"/>
            <a:ext cx="10268352"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2_0.png"/>
          <p:cNvPicPr>
            <a:picLocks noChangeAspect="1"/>
          </p:cNvPicPr>
          <p:nvPr/>
        </p:nvPicPr>
        <p:blipFill>
          <a:blip r:embed="rId2"/>
          <a:stretch>
            <a:fillRect/>
          </a:stretch>
        </p:blipFill>
        <p:spPr>
          <a:xfrm>
            <a:off x="974016" y="1828800"/>
            <a:ext cx="10213488"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521</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Journey</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18080" y="1801368"/>
            <a:ext cx="6725360"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3_0.png"/>
          <p:cNvPicPr>
            <a:picLocks noChangeAspect="1"/>
          </p:cNvPicPr>
          <p:nvPr/>
        </p:nvPicPr>
        <p:blipFill>
          <a:blip r:embed="rId2"/>
          <a:stretch>
            <a:fillRect/>
          </a:stretch>
        </p:blipFill>
        <p:spPr>
          <a:xfrm>
            <a:off x="2745512" y="1828800"/>
            <a:ext cx="6670496"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522</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Architecture</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29330"/>
            <a:ext cx="10479024" cy="4279499"/>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4_0.png"/>
          <p:cNvPicPr>
            <a:picLocks noChangeAspect="1"/>
          </p:cNvPicPr>
          <p:nvPr/>
        </p:nvPicPr>
        <p:blipFill>
          <a:blip r:embed="rId2"/>
          <a:stretch>
            <a:fillRect/>
          </a:stretch>
        </p:blipFill>
        <p:spPr>
          <a:xfrm>
            <a:off x="868680" y="1956762"/>
            <a:ext cx="10424160" cy="4224635"/>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523</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Operations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959870"/>
            <a:ext cx="10479024" cy="42184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5_0.png"/>
          <p:cNvPicPr>
            <a:picLocks noChangeAspect="1"/>
          </p:cNvPicPr>
          <p:nvPr/>
        </p:nvPicPr>
        <p:blipFill>
          <a:blip r:embed="rId2"/>
          <a:stretch>
            <a:fillRect/>
          </a:stretch>
        </p:blipFill>
        <p:spPr>
          <a:xfrm>
            <a:off x="868680" y="1987302"/>
            <a:ext cx="10424160" cy="4163556"/>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524</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DevOps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577139" y="1801368"/>
            <a:ext cx="9007241" cy="453542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6_0.png"/>
          <p:cNvPicPr>
            <a:picLocks noChangeAspect="1"/>
          </p:cNvPicPr>
          <p:nvPr/>
        </p:nvPicPr>
        <p:blipFill>
          <a:blip r:embed="rId2"/>
          <a:stretch>
            <a:fillRect/>
          </a:stretch>
        </p:blipFill>
        <p:spPr>
          <a:xfrm>
            <a:off x="1604571" y="1828800"/>
            <a:ext cx="8952377" cy="448056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525</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AWS Certification Paths – Data Analytics &amp;</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1804985"/>
            <a:ext cx="10479024" cy="416243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7_0.png"/>
          <p:cNvPicPr>
            <a:picLocks noChangeAspect="1"/>
          </p:cNvPicPr>
          <p:nvPr/>
        </p:nvPicPr>
        <p:blipFill>
          <a:blip r:embed="rId2"/>
          <a:stretch>
            <a:fillRect/>
          </a:stretch>
        </p:blipFill>
        <p:spPr>
          <a:xfrm>
            <a:off x="868680" y="1832417"/>
            <a:ext cx="10424160" cy="4107566"/>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Development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526</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400" b="1">
                <a:solidFill>
                  <a:srgbClr val="161B26"/>
                </a:solidFill>
                <a:latin typeface="Arial"/>
              </a:rPr>
              <a:t>AWS Certification Paths – Networking &amp; AI/ML</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1248" y="2107478"/>
            <a:ext cx="10479024" cy="392320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8_0.png"/>
          <p:cNvPicPr>
            <a:picLocks noChangeAspect="1"/>
          </p:cNvPicPr>
          <p:nvPr/>
        </p:nvPicPr>
        <p:blipFill>
          <a:blip r:embed="rId2"/>
          <a:stretch>
            <a:fillRect/>
          </a:stretch>
        </p:blipFill>
        <p:spPr>
          <a:xfrm>
            <a:off x="868680" y="2134910"/>
            <a:ext cx="10424160" cy="3868340"/>
          </a:xfrm>
          <a:prstGeom prst="rect">
            <a:avLst/>
          </a:prstGeom>
        </p:spPr>
      </p:pic>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527</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7</a:t>
            </a:r>
          </a:p>
        </p:txBody>
      </p:sp>
      <p:sp>
        <p:nvSpPr>
          <p:cNvPr id="5" name="TextBox 4"/>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Practice Exams</a:t>
            </a:r>
          </a:p>
        </p:txBody>
      </p:sp>
      <p:sp>
        <p:nvSpPr>
          <p:cNvPr id="6" name="Rectangle 5"/>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02786" y="1801368"/>
            <a:ext cx="4155948" cy="416966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WSQMasterTrainerSlid_s529_0.png"/>
          <p:cNvPicPr>
            <a:picLocks noChangeAspect="1"/>
          </p:cNvPicPr>
          <p:nvPr/>
        </p:nvPicPr>
        <p:blipFill>
          <a:blip r:embed="rId2"/>
          <a:stretch>
            <a:fillRect/>
          </a:stretch>
        </p:blipFill>
        <p:spPr>
          <a:xfrm>
            <a:off x="4030218" y="1828800"/>
            <a:ext cx="4101084" cy="4114800"/>
          </a:xfrm>
          <a:prstGeom prst="rect">
            <a:avLst/>
          </a:prstGeom>
        </p:spPr>
      </p:pic>
      <p:sp>
        <p:nvSpPr>
          <p:cNvPr id="9" name="TextBox 8"/>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Access the Practice Exams from the Google Classroom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528</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SUMMARY</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Q&amp;A</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529</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Cert &amp; TRAQOM Survey (Mandatory)</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1248" y="1957781"/>
            <a:ext cx="10479024" cy="3856837"/>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SQMasterTrainerSlid_s531_0.png"/>
          <p:cNvPicPr>
            <a:picLocks noChangeAspect="1"/>
          </p:cNvPicPr>
          <p:nvPr/>
        </p:nvPicPr>
        <p:blipFill>
          <a:blip r:embed="rId2"/>
          <a:stretch>
            <a:fillRect/>
          </a:stretch>
        </p:blipFill>
        <p:spPr>
          <a:xfrm>
            <a:off x="868680" y="1985213"/>
            <a:ext cx="10424160" cy="3801973"/>
          </a:xfrm>
          <a:prstGeom prst="rect">
            <a:avLst/>
          </a:prstGeom>
        </p:spPr>
      </p:pic>
      <p:sp>
        <p:nvSpPr>
          <p:cNvPr id="8" name="TextBox 7"/>
          <p:cNvSpPr txBox="1"/>
          <p:nvPr/>
        </p:nvSpPr>
        <p:spPr>
          <a:xfrm>
            <a:off x="868680" y="5989320"/>
            <a:ext cx="10424160" cy="365760"/>
          </a:xfrm>
          <a:prstGeom prst="rect">
            <a:avLst/>
          </a:prstGeom>
          <a:noFill/>
        </p:spPr>
        <p:txBody>
          <a:bodyPr wrap="square" anchor="t">
            <a:spAutoFit/>
          </a:bodyPr>
          <a:lstStyle/>
          <a:p>
            <a:pPr algn="ctr">
              <a:spcAft>
                <a:spcPts val="400"/>
              </a:spcAft>
            </a:pPr>
            <a:r>
              <a:rPr sz="1200" b="0">
                <a:solidFill>
                  <a:srgbClr val="5B6372"/>
                </a:solidFill>
                <a:latin typeface="Arial"/>
              </a:rPr>
              <a:t>https://lms-tms.tertiaryinfotech.com/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000" b="1">
                <a:solidFill>
                  <a:srgbClr val="161B26"/>
                </a:solidFill>
                <a:latin typeface="Arial"/>
              </a:rPr>
              <a:t>It is mandatory for you to take both AM, PM and Assessment digital attendance for WSQ funded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The trainer or administrator will show you the digital attendance QR code generated from SSG portal.</a:t>
            </a:r>
          </a:p>
          <a:p>
            <a:pPr>
              <a:spcAft>
                <a:spcPts val="1000"/>
              </a:spcAft>
            </a:pPr>
            <a:r>
              <a:rPr sz="2000" b="0">
                <a:solidFill>
                  <a:srgbClr val="161B26"/>
                </a:solidFill>
                <a:latin typeface="Arial"/>
              </a:rPr>
              <a:t>•  Please scan the QR code from your mobile phone camera and submit your attendance.</a:t>
            </a:r>
          </a:p>
          <a:p>
            <a:pPr>
              <a:spcAft>
                <a:spcPts val="1000"/>
              </a:spcAft>
            </a:pPr>
            <a:r>
              <a:rPr sz="2000" b="0">
                <a:solidFill>
                  <a:srgbClr val="161B26"/>
                </a:solidFill>
                <a:latin typeface="Arial"/>
              </a:rPr>
              <a:t>•  Digital Attendance (Mandatory)</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531</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FINAL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Assessment</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532</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Recommended Courses</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WSQ - AWS Certified DevOps Engineer Training (Synchronous e-Learning)</a:t>
            </a:r>
          </a:p>
          <a:p>
            <a:pPr>
              <a:spcAft>
                <a:spcPts val="1000"/>
              </a:spcAft>
            </a:pPr>
            <a:r>
              <a:rPr sz="2000" b="0">
                <a:solidFill>
                  <a:srgbClr val="161B26"/>
                </a:solidFill>
                <a:latin typeface="Arial"/>
              </a:rPr>
              <a:t>•  WSQ - Microsoft Azure AI Fundamentals (AI-900)</a:t>
            </a:r>
          </a:p>
          <a:p>
            <a:pPr>
              <a:spcAft>
                <a:spcPts val="1000"/>
              </a:spcAft>
            </a:pPr>
            <a:r>
              <a:rPr sz="2000" b="0">
                <a:solidFill>
                  <a:srgbClr val="161B26"/>
                </a:solidFill>
                <a:latin typeface="Arial"/>
              </a:rPr>
              <a:t>•  WSQ - Microsoft Azure Fundamentals (AZ-900)</a:t>
            </a:r>
          </a:p>
          <a:p>
            <a:pPr>
              <a:spcAft>
                <a:spcPts val="1000"/>
              </a:spcAft>
            </a:pPr>
            <a:r>
              <a:rPr sz="2000" b="0">
                <a:solidFill>
                  <a:srgbClr val="161B26"/>
                </a:solidFill>
                <a:latin typeface="Arial"/>
              </a:rPr>
              <a:t>•  WSQ - Microsoft Azure Data Scientist Associate (DP-100)</a:t>
            </a:r>
          </a:p>
          <a:p>
            <a:pPr>
              <a:spcAft>
                <a:spcPts val="1000"/>
              </a:spcAft>
            </a:pPr>
            <a:r>
              <a:rPr sz="2000" b="0">
                <a:solidFill>
                  <a:srgbClr val="161B26"/>
                </a:solidFill>
                <a:latin typeface="Arial"/>
              </a:rPr>
              <a:t>•  WSQ - Microsoft Certified Azure AI Engineer Associate (AI-102) Training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533</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758952"/>
            <a:ext cx="10881360" cy="749808"/>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5" name="Rectangle 4"/>
          <p:cNvSpPr/>
          <p:nvPr/>
        </p:nvSpPr>
        <p:spPr>
          <a:xfrm>
            <a:off x="777240" y="1572768"/>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and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61000613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534</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THANK YOU!</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AWS Certified Cloud Practitioner (CLF-C02)  ·  TGS-2023039183</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